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453" r:id="rId4"/>
    <p:sldId id="259" r:id="rId5"/>
    <p:sldId id="260" r:id="rId6"/>
    <p:sldId id="261" r:id="rId7"/>
    <p:sldId id="262" r:id="rId8"/>
    <p:sldId id="427" r:id="rId9"/>
    <p:sldId id="310" r:id="rId10"/>
    <p:sldId id="430" r:id="rId11"/>
    <p:sldId id="313" r:id="rId12"/>
    <p:sldId id="446" r:id="rId13"/>
    <p:sldId id="458" r:id="rId14"/>
    <p:sldId id="449" r:id="rId15"/>
    <p:sldId id="450" r:id="rId16"/>
    <p:sldId id="457" r:id="rId17"/>
    <p:sldId id="447" r:id="rId18"/>
    <p:sldId id="419" r:id="rId19"/>
    <p:sldId id="418" r:id="rId20"/>
    <p:sldId id="456" r:id="rId21"/>
    <p:sldId id="455" r:id="rId22"/>
    <p:sldId id="445" r:id="rId23"/>
    <p:sldId id="389" r:id="rId24"/>
    <p:sldId id="390" r:id="rId25"/>
    <p:sldId id="460" r:id="rId26"/>
    <p:sldId id="312" r:id="rId27"/>
    <p:sldId id="412" r:id="rId28"/>
    <p:sldId id="461" r:id="rId29"/>
    <p:sldId id="366" r:id="rId30"/>
    <p:sldId id="322" r:id="rId31"/>
    <p:sldId id="33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28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964A8-FE91-E4F5-2BED-B4B88DC19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EA12FE-8249-11C6-EE99-43A384877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ADD61-C5AE-8B9A-26BD-D5A376A04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A8F0-7A93-4C2D-ABC6-463F30B75F07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781BA-99F6-FB10-E791-CBA362B0A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5ECF3-0F67-A2D9-72A4-EA67A48CB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3ED-42E2-4497-94A8-3B935748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3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E7C77-7326-A845-61C5-FDFE10BFD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EB72F-6CA4-C69A-E98F-72E6511E5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6CD0E-990E-E5EE-9A75-65C2A632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A8F0-7A93-4C2D-ABC6-463F30B75F07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0ED71-A7AD-8EF4-69AC-0166FD72C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17557-1AD8-81D0-E9F8-96CD90BF8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3ED-42E2-4497-94A8-3B935748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89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063EA-7489-62A1-7943-072D720CC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27DF4-7E32-6BF1-4F03-6DA287B4B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A4BF5-E4FF-6893-44E3-85F9063D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A8F0-7A93-4C2D-ABC6-463F30B75F07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715EF-AB05-E164-8BF8-D8AE5F3D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C743D-E719-0184-0D42-79A852ED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3ED-42E2-4497-94A8-3B935748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92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DE2A0-6DB0-A9A1-11F4-A75DE22B3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4B68C-63A8-BF14-B33B-42F132348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7B81E-7B1C-DBBC-CF31-D71556E86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59ED9-23DA-3DB7-9128-CE1C36EA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A8F0-7A93-4C2D-ABC6-463F30B75F07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E08DD-83AA-D1F3-C7C7-1FB98E8FE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9E63D-0980-993E-F1B5-1E0415AFA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3ED-42E2-4497-94A8-3B935748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1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D1A3-FA39-871E-A0BA-A87AA4998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7F5C9-6349-4B0F-5201-532E29E02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80B0D-F114-9B5B-41F2-923713831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B912A-D8F1-E7BF-FFF1-669DFA53C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EDD0A-72F9-43ED-2B48-163604C845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1D028C-856D-FE6B-E062-D81783E0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A8F0-7A93-4C2D-ABC6-463F30B75F07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873364-ABB0-2AB1-A577-8E277689D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270E8-190B-A01C-B2FB-19E394F35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3ED-42E2-4497-94A8-3B935748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16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DA96-009A-86E6-A563-E757552D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2ECF7B-9F0A-EDF3-5072-FF1F2DC4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A8F0-7A93-4C2D-ABC6-463F30B75F07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935C49-9DF6-C656-821A-8AD3BBB8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253FA-B1C2-5D55-1A99-9ED2C5A4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3ED-42E2-4497-94A8-3B935748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1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6DD5EA-3C0E-8C6B-9CBF-8FBC1CB1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A8F0-7A93-4C2D-ABC6-463F30B75F07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67328-7C30-1F0B-7950-6C8EEA32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05545-6DCF-D0B0-9D7B-376EC6C11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3ED-42E2-4497-94A8-3B935748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9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270A0-44AD-E2E2-5369-3C91C1AAB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7EAE5-6662-3A70-2BA6-33639A27F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C4A7E-3288-3E61-E2AE-1A4F47936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0B17C-1072-641D-C7A0-4E3BEE46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A8F0-7A93-4C2D-ABC6-463F30B75F07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6DFE9-70D4-CDBB-E534-C10E5AE7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46240-292B-4796-589F-88EC5DF03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3ED-42E2-4497-94A8-3B935748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93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009DC-0058-8B6F-408A-393AF58B3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06E6B7-45DC-8EF5-4E55-0C10072497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6C9B4-C93F-4C8C-AD82-5BB129F51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01578-6366-800D-F1DC-434B8703D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A8F0-7A93-4C2D-ABC6-463F30B75F07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DBE9D-64B7-DC7C-AAC9-FA48076B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D79B7-57CC-5C0A-E904-ED22C39D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3ED-42E2-4497-94A8-3B935748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35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1147-812F-0BD0-063F-80CD8901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3F4074-D11D-BF14-2FDA-EEB63A88F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C955C-B872-369F-CB58-F7682841A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A8F0-7A93-4C2D-ABC6-463F30B75F07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3186-165C-4B2F-F8FE-731B97603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D8133-B0EC-F81E-CA4F-14008AF3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3ED-42E2-4497-94A8-3B935748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82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DB30D1-17E4-EECD-19C8-EB8651359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CFFF9-6BC9-732B-4C12-3651E13D2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2CD9E-BCC2-7B5B-0FB2-C9A8F3C3C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A8F0-7A93-4C2D-ABC6-463F30B75F07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E61DD-B04E-966B-0A8C-A071573AB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DC48B-11FF-F2BF-0847-E0242DE8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E3ED-42E2-4497-94A8-3B935748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43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774AA4-3D3B-A5DD-B825-0E5A79E49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5056D-1416-5855-AB4A-A6FD5A3C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B4184-E1FF-1D45-9811-AA7D1E3470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EA8F0-7A93-4C2D-ABC6-463F30B75F07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E70AB-5949-CFC1-ABC3-0978A92981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0FFDB-5F18-09AC-DEED-25ACA57AD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5E3ED-42E2-4497-94A8-3B9357484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39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tmp"/><Relationship Id="rId4" Type="http://schemas.openxmlformats.org/officeDocument/2006/relationships/image" Target="../media/image5.tm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8E3C-B745-BE0F-FA5A-5B477B8A83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Chương 5: Truy xuất Database với JDBC</a:t>
            </a:r>
          </a:p>
        </p:txBody>
      </p:sp>
    </p:spTree>
    <p:extLst>
      <p:ext uri="{BB962C8B-B14F-4D97-AF65-F5344CB8AC3E}">
        <p14:creationId xmlns:p14="http://schemas.microsoft.com/office/powerpoint/2010/main" val="2594720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6F2F-F545-161A-6B40-1D2D57A86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Tổng quan JDBC</a:t>
            </a:r>
          </a:p>
        </p:txBody>
      </p:sp>
      <p:pic>
        <p:nvPicPr>
          <p:cNvPr id="5" name="Picture 4" descr="A white rectangular object with black text&#10;&#10;Description automatically generated">
            <a:extLst>
              <a:ext uri="{FF2B5EF4-FFF2-40B4-BE49-F238E27FC236}">
                <a16:creationId xmlns:a16="http://schemas.microsoft.com/office/drawing/2014/main" id="{50C89F1D-602F-E3E0-8F2D-93ED98246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38" y="4104704"/>
            <a:ext cx="6409524" cy="174285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FBC886-CDEF-9157-38DD-EB2C7EC43E53}"/>
              </a:ext>
            </a:extLst>
          </p:cNvPr>
          <p:cNvSpPr txBox="1">
            <a:spLocks noChangeArrowheads="1"/>
          </p:cNvSpPr>
          <p:nvPr/>
        </p:nvSpPr>
        <p:spPr>
          <a:xfrm>
            <a:off x="1379137" y="1447229"/>
            <a:ext cx="7921625" cy="2657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JDBC là chuẩn kết nối CSDL, cung cấp các </a:t>
            </a:r>
            <a:r>
              <a:rPr lang="en-US" altLang="en-US" b="1">
                <a:solidFill>
                  <a:srgbClr val="FF0000"/>
                </a:solidFill>
              </a:rPr>
              <a:t>API</a:t>
            </a:r>
            <a:r>
              <a:rPr lang="en-US" altLang="en-US"/>
              <a:t> cho phép các </a:t>
            </a:r>
            <a:r>
              <a:rPr lang="en-US" altLang="en-US">
                <a:solidFill>
                  <a:srgbClr val="FF0000"/>
                </a:solidFill>
              </a:rPr>
              <a:t>ứng dụng Java </a:t>
            </a:r>
            <a:r>
              <a:rPr lang="en-US" altLang="en-US"/>
              <a:t>tương tác với các hệ quản trị </a:t>
            </a:r>
            <a:r>
              <a:rPr lang="en-US" altLang="en-US">
                <a:solidFill>
                  <a:srgbClr val="FF0000"/>
                </a:solidFill>
              </a:rPr>
              <a:t>CSDL</a:t>
            </a:r>
          </a:p>
          <a:p>
            <a:r>
              <a:rPr lang="en-US" altLang="en-US"/>
              <a:t>JDBC version</a:t>
            </a:r>
          </a:p>
          <a:p>
            <a:pPr lvl="1"/>
            <a:r>
              <a:rPr lang="en-US" altLang="en-US"/>
              <a:t>JDBC 4.1-&gt;J2SE 7.0</a:t>
            </a:r>
          </a:p>
          <a:p>
            <a:pPr lvl="1"/>
            <a:r>
              <a:rPr lang="en-US" altLang="en-US"/>
              <a:t>JDBC 4.2-&gt;J2SE 8.0</a:t>
            </a:r>
          </a:p>
          <a:p>
            <a:pPr lvl="1"/>
            <a:endParaRPr lang="en-US" altLang="en-US"/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7095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B2923B65-A576-BC9A-B090-7CCFD2C36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2. Kiến trúc JDBC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6F447FE-CB26-8976-7041-E4D09C1B2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347" y="1233055"/>
            <a:ext cx="6948956" cy="390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4F0522DC-41A7-02FC-BC18-2C4F9F78BC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5531" y="1510957"/>
            <a:ext cx="5403574" cy="5176837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b="1">
                <a:solidFill>
                  <a:srgbClr val="FF0000"/>
                </a:solidFill>
              </a:rPr>
              <a:t>DriverManager</a:t>
            </a:r>
          </a:p>
          <a:p>
            <a:pPr lvl="1" algn="just"/>
            <a:r>
              <a:rPr lang="en-US" altLang="en-US"/>
              <a:t>Là một java class trong package java.sql</a:t>
            </a:r>
          </a:p>
          <a:p>
            <a:pPr lvl="1" algn="just"/>
            <a:r>
              <a:rPr lang="en-US" altLang="en-US"/>
              <a:t>Quản lý các database driver</a:t>
            </a:r>
          </a:p>
          <a:p>
            <a:pPr lvl="1" algn="just"/>
            <a:r>
              <a:rPr lang="en-US" altLang="en-US"/>
              <a:t>Sử dụng đăng ký các database driver</a:t>
            </a:r>
          </a:p>
          <a:p>
            <a:pPr lvl="1" algn="just"/>
            <a:r>
              <a:rPr lang="en-US" altLang="en-US"/>
              <a:t>Connection con=</a:t>
            </a:r>
            <a:r>
              <a:rPr lang="en-US" altLang="en-US" b="1">
                <a:solidFill>
                  <a:srgbClr val="FF0000"/>
                </a:solidFill>
              </a:rPr>
              <a:t>DriverManager</a:t>
            </a:r>
            <a:r>
              <a:rPr lang="en-US" altLang="en-US"/>
              <a:t>.getConnection(jdbcurl,user,pass)</a:t>
            </a:r>
          </a:p>
          <a:p>
            <a:pPr algn="just"/>
            <a:r>
              <a:rPr lang="en-US" altLang="en-US" sz="2400" b="1">
                <a:solidFill>
                  <a:srgbClr val="FF0000"/>
                </a:solidFill>
              </a:rPr>
              <a:t>Database Driver</a:t>
            </a:r>
          </a:p>
          <a:p>
            <a:pPr lvl="1" algn="just"/>
            <a:r>
              <a:rPr lang="en-US" altLang="en-US"/>
              <a:t>Hoạt động nh</a:t>
            </a:r>
            <a:r>
              <a:rPr lang="vi-VN" altLang="en-US"/>
              <a:t>ư</a:t>
            </a:r>
            <a:r>
              <a:rPr lang="en-US" altLang="en-US"/>
              <a:t> một cầu nối giữa java app và database</a:t>
            </a:r>
          </a:p>
          <a:p>
            <a:pPr algn="just"/>
            <a:endParaRPr lang="en-US" altLang="en-US" sz="2400"/>
          </a:p>
          <a:p>
            <a:pPr algn="just"/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8124-A24B-BA3B-43A4-7112272AA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3. JDBC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B9A28-C7D2-AAB5-811D-C4AD19240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076"/>
            <a:ext cx="10515600" cy="1463329"/>
          </a:xfrm>
        </p:spPr>
        <p:txBody>
          <a:bodyPr>
            <a:normAutofit/>
          </a:bodyPr>
          <a:lstStyle/>
          <a:p>
            <a:r>
              <a:rPr lang="en-US" sz="2000" err="1"/>
              <a:t>Gồm</a:t>
            </a:r>
            <a:r>
              <a:rPr lang="en-US" sz="2000"/>
              <a:t> 2 </a:t>
            </a:r>
            <a:r>
              <a:rPr lang="en-US" sz="2000" err="1"/>
              <a:t>gói</a:t>
            </a:r>
            <a:r>
              <a:rPr lang="en-US" sz="2000"/>
              <a:t> </a:t>
            </a:r>
            <a:r>
              <a:rPr lang="en-US" sz="2000" err="1"/>
              <a:t>thư</a:t>
            </a:r>
            <a:r>
              <a:rPr lang="en-US" sz="2000"/>
              <a:t> </a:t>
            </a:r>
            <a:r>
              <a:rPr lang="en-US" sz="2000" err="1"/>
              <a:t>viện</a:t>
            </a:r>
            <a:r>
              <a:rPr lang="en-US" sz="2000"/>
              <a:t>:</a:t>
            </a:r>
          </a:p>
          <a:p>
            <a:pPr lvl="1"/>
            <a:r>
              <a:rPr lang="en-US" sz="2000" err="1"/>
              <a:t>java.sql</a:t>
            </a:r>
            <a:r>
              <a:rPr lang="en-US" sz="2000"/>
              <a:t>.*: </a:t>
            </a:r>
            <a:r>
              <a:rPr lang="vi-VN" sz="2000" b="0" i="0">
                <a:solidFill>
                  <a:srgbClr val="24292E"/>
                </a:solidFill>
                <a:effectLst/>
                <a:latin typeface="-apple-system"/>
              </a:rPr>
              <a:t>truy cập và xử lý dữ liệu được lưu trữ trong</a:t>
            </a:r>
            <a:r>
              <a:rPr lang="en-US" sz="2000" b="0" i="0">
                <a:solidFill>
                  <a:srgbClr val="24292E"/>
                </a:solidFill>
                <a:effectLst/>
                <a:latin typeface="-apple-system"/>
              </a:rPr>
              <a:t> CSDL </a:t>
            </a:r>
            <a:r>
              <a:rPr lang="en-US" sz="2000" b="0" i="0" err="1">
                <a:solidFill>
                  <a:srgbClr val="24292E"/>
                </a:solidFill>
                <a:effectLst/>
                <a:latin typeface="-apple-system"/>
              </a:rPr>
              <a:t>bằng</a:t>
            </a:r>
            <a:r>
              <a:rPr lang="en-US" sz="2000" b="0" i="0">
                <a:solidFill>
                  <a:srgbClr val="24292E"/>
                </a:solidFill>
                <a:effectLst/>
                <a:latin typeface="-apple-system"/>
              </a:rPr>
              <a:t> java.</a:t>
            </a:r>
            <a:endParaRPr lang="en-US" sz="2000"/>
          </a:p>
          <a:p>
            <a:pPr lvl="1"/>
            <a:r>
              <a:rPr lang="en-US" sz="2000" err="1"/>
              <a:t>javax.sql</a:t>
            </a:r>
            <a:r>
              <a:rPr lang="en-US" sz="2000"/>
              <a:t>.*: </a:t>
            </a:r>
            <a:r>
              <a:rPr lang="en-US" sz="2000" err="1"/>
              <a:t>là</a:t>
            </a:r>
            <a:r>
              <a:rPr lang="en-US" sz="2000"/>
              <a:t> </a:t>
            </a:r>
            <a:r>
              <a:rPr lang="en-US" sz="2000" err="1"/>
              <a:t>trình</a:t>
            </a:r>
            <a:r>
              <a:rPr lang="en-US" sz="2000"/>
              <a:t> </a:t>
            </a:r>
            <a:r>
              <a:rPr lang="en-US" sz="2000" err="1"/>
              <a:t>điểu</a:t>
            </a:r>
            <a:r>
              <a:rPr lang="en-US" sz="2000"/>
              <a:t> </a:t>
            </a:r>
            <a:r>
              <a:rPr lang="en-US" sz="2000" err="1"/>
              <a:t>khiển</a:t>
            </a:r>
            <a:r>
              <a:rPr lang="en-US" sz="2000"/>
              <a:t> JDBC (</a:t>
            </a:r>
            <a:r>
              <a:rPr lang="en-US" sz="2000" b="1" u="sng" err="1"/>
              <a:t>có</a:t>
            </a:r>
            <a:r>
              <a:rPr lang="en-US" sz="2000" b="1" u="sng"/>
              <a:t> 4 </a:t>
            </a:r>
            <a:r>
              <a:rPr lang="en-US" sz="2000" b="1" u="sng" err="1"/>
              <a:t>kiểu</a:t>
            </a:r>
            <a:r>
              <a:rPr lang="en-US" sz="2000" b="1" u="sng"/>
              <a:t> </a:t>
            </a:r>
            <a:r>
              <a:rPr lang="en-US" sz="2000" b="1" u="sng" err="1"/>
              <a:t>jdbc</a:t>
            </a:r>
            <a:r>
              <a:rPr lang="en-US" sz="2000" b="1" u="sng"/>
              <a:t> driver</a:t>
            </a:r>
            <a:r>
              <a:rPr lang="en-US" sz="2000"/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err="1"/>
              <a:t>Các</a:t>
            </a:r>
            <a:r>
              <a:rPr lang="en-US" sz="2000"/>
              <a:t>  </a:t>
            </a:r>
            <a:r>
              <a:rPr lang="en-US" sz="2000" err="1"/>
              <a:t>lớp</a:t>
            </a:r>
            <a:r>
              <a:rPr lang="en-US" sz="2000"/>
              <a:t> </a:t>
            </a:r>
            <a:r>
              <a:rPr lang="en-US" sz="2000" err="1"/>
              <a:t>và</a:t>
            </a:r>
            <a:r>
              <a:rPr lang="en-US" sz="2000"/>
              <a:t> </a:t>
            </a:r>
            <a:r>
              <a:rPr lang="en-US" sz="2000" err="1"/>
              <a:t>giao</a:t>
            </a:r>
            <a:r>
              <a:rPr lang="en-US" sz="2000"/>
              <a:t> </a:t>
            </a:r>
            <a:r>
              <a:rPr lang="en-US" sz="2000" err="1"/>
              <a:t>diện</a:t>
            </a:r>
            <a:r>
              <a:rPr lang="en-US" sz="2000"/>
              <a:t> </a:t>
            </a:r>
            <a:r>
              <a:rPr lang="en-US" sz="2000" err="1"/>
              <a:t>chính</a:t>
            </a:r>
            <a:r>
              <a:rPr lang="en-US" sz="2000"/>
              <a:t>:</a:t>
            </a:r>
          </a:p>
          <a:p>
            <a:pPr marL="0" indent="0">
              <a:buNone/>
            </a:pPr>
            <a:endParaRPr lang="en-US" sz="180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8D108C9-1F1D-DD9B-7477-5265F218AC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9792767"/>
              </p:ext>
            </p:extLst>
          </p:nvPr>
        </p:nvGraphicFramePr>
        <p:xfrm>
          <a:off x="1220787" y="2946574"/>
          <a:ext cx="5445056" cy="3546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623">
                <a:tc>
                  <a:txBody>
                    <a:bodyPr/>
                    <a:lstStyle/>
                    <a:p>
                      <a:r>
                        <a:rPr lang="en-US" sz="2400"/>
                        <a:t>Interface</a:t>
                      </a:r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Classes</a:t>
                      </a:r>
                    </a:p>
                  </a:txBody>
                  <a:tcPr marT="45690" marB="456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9161">
                <a:tc>
                  <a:txBody>
                    <a:bodyPr/>
                    <a:lstStyle/>
                    <a:p>
                      <a:r>
                        <a:rPr lang="en-US" sz="2400"/>
                        <a:t>Driver</a:t>
                      </a:r>
                    </a:p>
                    <a:p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Connection</a:t>
                      </a:r>
                    </a:p>
                    <a:p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Statement</a:t>
                      </a:r>
                    </a:p>
                    <a:p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PreparedStatement</a:t>
                      </a:r>
                    </a:p>
                    <a:p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CallableStatement</a:t>
                      </a:r>
                    </a:p>
                    <a:p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ResultSet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ResultSetMetaData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DataBaseMetaData</a:t>
                      </a:r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DriverManager</a:t>
                      </a:r>
                    </a:p>
                    <a:p>
                      <a:r>
                        <a:rPr lang="en-US" sz="2400"/>
                        <a:t>Date</a:t>
                      </a:r>
                    </a:p>
                    <a:p>
                      <a:r>
                        <a:rPr lang="en-US" sz="2400"/>
                        <a:t>Time</a:t>
                      </a:r>
                    </a:p>
                    <a:p>
                      <a:r>
                        <a:rPr lang="en-US" sz="2400"/>
                        <a:t>TimeStamp</a:t>
                      </a:r>
                    </a:p>
                    <a:p>
                      <a:r>
                        <a:rPr lang="en-US" sz="2400"/>
                        <a:t>Types</a:t>
                      </a:r>
                    </a:p>
                  </a:txBody>
                  <a:tcPr marT="45690" marB="456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8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3BFE1-7DB2-0A4E-F251-C23393209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4.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kiểu</a:t>
            </a:r>
            <a:r>
              <a:rPr lang="en-US"/>
              <a:t> JDBC Driver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6D0B9B-15AB-83D6-C3FB-C81455A404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8960" y="1068773"/>
            <a:ext cx="7822148" cy="4351338"/>
          </a:xfrm>
        </p:spPr>
        <p:txBody>
          <a:bodyPr>
            <a:noAutofit/>
          </a:bodyPr>
          <a:lstStyle/>
          <a:p>
            <a:pPr lvl="1"/>
            <a:r>
              <a:rPr lang="en-US" altLang="en-US"/>
              <a:t>Type 1: JDBC/ODBC: </a:t>
            </a:r>
          </a:p>
          <a:p>
            <a:pPr lvl="2"/>
            <a:r>
              <a:rPr lang="en-US" altLang="en-US" sz="2400" err="1"/>
              <a:t>Truy</a:t>
            </a:r>
            <a:r>
              <a:rPr lang="en-US" altLang="en-US" sz="2400"/>
              <a:t> </a:t>
            </a:r>
            <a:r>
              <a:rPr lang="en-US" altLang="en-US" sz="2400" err="1"/>
              <a:t>xuất</a:t>
            </a:r>
            <a:r>
              <a:rPr lang="en-US" altLang="en-US" sz="2400"/>
              <a:t> </a:t>
            </a:r>
            <a:r>
              <a:rPr lang="en-US" altLang="en-US" sz="2400" err="1"/>
              <a:t>bất</a:t>
            </a:r>
            <a:r>
              <a:rPr lang="en-US" altLang="en-US" sz="2400"/>
              <a:t> </a:t>
            </a:r>
            <a:r>
              <a:rPr lang="en-US" altLang="en-US" sz="2400" err="1"/>
              <a:t>kỳ</a:t>
            </a:r>
            <a:r>
              <a:rPr lang="en-US" altLang="en-US" sz="2400"/>
              <a:t> DBMS </a:t>
            </a:r>
            <a:r>
              <a:rPr lang="en-US" altLang="en-US" sz="2400" err="1"/>
              <a:t>có</a:t>
            </a:r>
            <a:r>
              <a:rPr lang="en-US" altLang="en-US" sz="2400"/>
              <a:t> </a:t>
            </a:r>
            <a:r>
              <a:rPr lang="en-US" altLang="en-US" sz="2400" err="1"/>
              <a:t>hỗ</a:t>
            </a:r>
            <a:r>
              <a:rPr lang="en-US" altLang="en-US" sz="2400"/>
              <a:t> </a:t>
            </a:r>
            <a:r>
              <a:rPr lang="en-US" altLang="en-US" sz="2400" err="1"/>
              <a:t>trợ</a:t>
            </a:r>
            <a:r>
              <a:rPr lang="en-US" altLang="en-US" sz="2400"/>
              <a:t> ODBC</a:t>
            </a:r>
          </a:p>
          <a:p>
            <a:pPr lvl="2"/>
            <a:r>
              <a:rPr lang="en-US" altLang="en-US" sz="2400" err="1"/>
              <a:t>Khả</a:t>
            </a:r>
            <a:r>
              <a:rPr lang="en-US" altLang="en-US" sz="2400"/>
              <a:t> </a:t>
            </a:r>
            <a:r>
              <a:rPr lang="en-US" altLang="en-US" sz="2400" err="1"/>
              <a:t>chuyển</a:t>
            </a:r>
            <a:r>
              <a:rPr lang="en-US" altLang="en-US" sz="2400"/>
              <a:t> </a:t>
            </a:r>
            <a:r>
              <a:rPr lang="en-US" altLang="en-US" sz="2400" err="1"/>
              <a:t>cao</a:t>
            </a:r>
            <a:r>
              <a:rPr lang="en-US" altLang="en-US" sz="2400"/>
              <a:t>, </a:t>
            </a:r>
            <a:r>
              <a:rPr lang="en-US" altLang="en-US" sz="2400" err="1"/>
              <a:t>chậm</a:t>
            </a:r>
            <a:r>
              <a:rPr lang="en-US" altLang="en-US" sz="2400"/>
              <a:t>.</a:t>
            </a:r>
          </a:p>
          <a:p>
            <a:pPr lvl="2"/>
            <a:r>
              <a:rPr lang="en-US" altLang="en-US" sz="2400" err="1"/>
              <a:t>Chỉ</a:t>
            </a:r>
            <a:r>
              <a:rPr lang="en-US" altLang="en-US" sz="2400"/>
              <a:t> </a:t>
            </a:r>
            <a:r>
              <a:rPr lang="en-US" altLang="en-US" sz="2400" err="1"/>
              <a:t>hỗ</a:t>
            </a:r>
            <a:r>
              <a:rPr lang="en-US" altLang="en-US" sz="2400"/>
              <a:t> </a:t>
            </a:r>
            <a:r>
              <a:rPr lang="en-US" altLang="en-US" sz="2400" err="1"/>
              <a:t>trợ</a:t>
            </a:r>
            <a:r>
              <a:rPr lang="en-US" altLang="en-US" sz="2400"/>
              <a:t> d</a:t>
            </a:r>
            <a:r>
              <a:rPr lang="vi-VN" altLang="en-US" sz="2400"/>
              <a:t>ư</a:t>
            </a:r>
            <a:r>
              <a:rPr lang="en-US" altLang="en-US" sz="2400" err="1"/>
              <a:t>ới</a:t>
            </a:r>
            <a:r>
              <a:rPr lang="en-US" altLang="en-US" sz="2400"/>
              <a:t> </a:t>
            </a:r>
            <a:r>
              <a:rPr lang="en-US" altLang="en-US" sz="2400" err="1"/>
              <a:t>jdk</a:t>
            </a:r>
            <a:r>
              <a:rPr lang="en-US" altLang="en-US" sz="2400"/>
              <a:t> 17 </a:t>
            </a:r>
          </a:p>
          <a:p>
            <a:pPr lvl="1"/>
            <a:r>
              <a:rPr lang="en-US" altLang="en-US"/>
              <a:t>Type 2:Native API</a:t>
            </a:r>
          </a:p>
          <a:p>
            <a:pPr lvl="2"/>
            <a:r>
              <a:rPr lang="en-US" altLang="en-US" sz="2400"/>
              <a:t>JDBC </a:t>
            </a:r>
            <a:r>
              <a:rPr lang="en-US" altLang="en-US" sz="2400" err="1"/>
              <a:t>tương</a:t>
            </a:r>
            <a:r>
              <a:rPr lang="en-US" altLang="en-US" sz="2400"/>
              <a:t> </a:t>
            </a:r>
            <a:r>
              <a:rPr lang="en-US" altLang="en-US" sz="2400" err="1"/>
              <a:t>tác</a:t>
            </a:r>
            <a:r>
              <a:rPr lang="en-US" altLang="en-US" sz="2400"/>
              <a:t> </a:t>
            </a:r>
            <a:r>
              <a:rPr lang="en-US" altLang="en-US" sz="2400" err="1"/>
              <a:t>trực</a:t>
            </a:r>
            <a:r>
              <a:rPr lang="en-US" altLang="en-US" sz="2400"/>
              <a:t> </a:t>
            </a:r>
            <a:r>
              <a:rPr lang="en-US" altLang="en-US" sz="2400" err="1"/>
              <a:t>tiếp</a:t>
            </a:r>
            <a:r>
              <a:rPr lang="en-US" altLang="en-US" sz="2400"/>
              <a:t> </a:t>
            </a:r>
            <a:r>
              <a:rPr lang="en-US" altLang="en-US" sz="2400" err="1"/>
              <a:t>với</a:t>
            </a:r>
            <a:r>
              <a:rPr lang="en-US" altLang="en-US" sz="2400"/>
              <a:t> Database</a:t>
            </a:r>
          </a:p>
          <a:p>
            <a:pPr lvl="2"/>
            <a:r>
              <a:rPr lang="en-US" altLang="en-US" sz="2400"/>
              <a:t>1 </a:t>
            </a:r>
            <a:r>
              <a:rPr lang="en-US" altLang="en-US" sz="2400" err="1"/>
              <a:t>phần</a:t>
            </a:r>
            <a:r>
              <a:rPr lang="en-US" altLang="en-US" sz="2400"/>
              <a:t> </a:t>
            </a:r>
            <a:r>
              <a:rPr lang="en-US" altLang="en-US" sz="2400" err="1"/>
              <a:t>mã</a:t>
            </a:r>
            <a:r>
              <a:rPr lang="en-US" altLang="en-US" sz="2400"/>
              <a:t> Java</a:t>
            </a:r>
          </a:p>
          <a:p>
            <a:pPr lvl="2"/>
            <a:r>
              <a:rPr lang="en-US" altLang="en-US" sz="2400"/>
              <a:t>VD Oracle Client, not MySQL</a:t>
            </a:r>
          </a:p>
          <a:p>
            <a:pPr lvl="1"/>
            <a:r>
              <a:rPr lang="en-US" altLang="en-US"/>
              <a:t>Type 3: Open Protocol Net</a:t>
            </a:r>
          </a:p>
          <a:p>
            <a:pPr lvl="2"/>
            <a:r>
              <a:rPr lang="en-US" altLang="en-US" sz="2400"/>
              <a:t>100% Java code</a:t>
            </a:r>
          </a:p>
          <a:p>
            <a:pPr lvl="2"/>
            <a:r>
              <a:rPr lang="en-US" altLang="en-US" sz="2400" err="1"/>
              <a:t>Cài</a:t>
            </a:r>
            <a:r>
              <a:rPr lang="en-US" altLang="en-US" sz="2400"/>
              <a:t> </a:t>
            </a:r>
            <a:r>
              <a:rPr lang="en-US" altLang="en-US" sz="2400" err="1"/>
              <a:t>đặt</a:t>
            </a:r>
            <a:r>
              <a:rPr lang="en-US" altLang="en-US" sz="2400"/>
              <a:t> driver </a:t>
            </a:r>
            <a:r>
              <a:rPr lang="en-US" altLang="en-US" sz="2400" err="1"/>
              <a:t>cà</a:t>
            </a:r>
            <a:r>
              <a:rPr lang="en-US" altLang="en-US" sz="2400"/>
              <a:t> 2 </a:t>
            </a:r>
            <a:r>
              <a:rPr lang="en-US" altLang="en-US" sz="2400" err="1"/>
              <a:t>phía</a:t>
            </a:r>
            <a:r>
              <a:rPr lang="en-US" altLang="en-US" sz="2400"/>
              <a:t> client </a:t>
            </a:r>
            <a:r>
              <a:rPr lang="en-US" altLang="en-US" sz="2400" err="1"/>
              <a:t>và</a:t>
            </a:r>
            <a:r>
              <a:rPr lang="en-US" altLang="en-US" sz="2400"/>
              <a:t> server</a:t>
            </a:r>
          </a:p>
          <a:p>
            <a:pPr lvl="1"/>
            <a:r>
              <a:rPr lang="en-US" altLang="en-US" b="1">
                <a:solidFill>
                  <a:srgbClr val="FF0000"/>
                </a:solidFill>
              </a:rPr>
              <a:t>Type 4: </a:t>
            </a:r>
            <a:r>
              <a:rPr lang="en-US" altLang="en-US" b="1" err="1">
                <a:solidFill>
                  <a:srgbClr val="FF0000"/>
                </a:solidFill>
              </a:rPr>
              <a:t>Propriatary</a:t>
            </a:r>
            <a:r>
              <a:rPr lang="en-US" altLang="en-US" b="1">
                <a:solidFill>
                  <a:srgbClr val="FF0000"/>
                </a:solidFill>
              </a:rPr>
              <a:t> protocol net</a:t>
            </a:r>
          </a:p>
          <a:p>
            <a:pPr lvl="2"/>
            <a:r>
              <a:rPr lang="en-US" altLang="en-US" sz="2400"/>
              <a:t>100% java code</a:t>
            </a:r>
          </a:p>
          <a:p>
            <a:pPr lvl="2"/>
            <a:r>
              <a:rPr lang="en-US" altLang="en-US" sz="2400" err="1"/>
              <a:t>Truy</a:t>
            </a:r>
            <a:r>
              <a:rPr lang="en-US" altLang="en-US" sz="2400"/>
              <a:t> </a:t>
            </a:r>
            <a:r>
              <a:rPr lang="en-US" altLang="en-US" sz="2400" err="1"/>
              <a:t>xuất</a:t>
            </a:r>
            <a:r>
              <a:rPr lang="en-US" altLang="en-US" sz="2400"/>
              <a:t> </a:t>
            </a:r>
            <a:r>
              <a:rPr lang="en-US" altLang="en-US" sz="2400" err="1"/>
              <a:t>trực</a:t>
            </a:r>
            <a:r>
              <a:rPr lang="en-US" altLang="en-US" sz="2400"/>
              <a:t> </a:t>
            </a:r>
            <a:r>
              <a:rPr lang="en-US" altLang="en-US" sz="2400" err="1"/>
              <a:t>tiếp</a:t>
            </a:r>
            <a:r>
              <a:rPr lang="en-US" altLang="en-US" sz="2400"/>
              <a:t>, </a:t>
            </a:r>
            <a:r>
              <a:rPr lang="en-US" altLang="en-US" sz="2400" err="1"/>
              <a:t>hiệu</a:t>
            </a:r>
            <a:r>
              <a:rPr lang="en-US" altLang="en-US" sz="2400"/>
              <a:t> </a:t>
            </a:r>
            <a:r>
              <a:rPr lang="en-US" altLang="en-US" sz="2400" err="1"/>
              <a:t>quả</a:t>
            </a:r>
            <a:endParaRPr lang="en-US" altLang="en-US" sz="2400"/>
          </a:p>
          <a:p>
            <a:pPr lvl="1"/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C2E3F-71A7-D4D8-141E-42D99E2C6E7F}"/>
              </a:ext>
            </a:extLst>
          </p:cNvPr>
          <p:cNvSpPr txBox="1"/>
          <p:nvPr/>
        </p:nvSpPr>
        <p:spPr>
          <a:xfrm>
            <a:off x="7476453" y="724887"/>
            <a:ext cx="3590925" cy="26479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en-US" sz="2200"/>
              <a:t>Nên sử dụng dạng nào???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/>
              <a:t>Nếu sử dụng 1 dạng database -&gt; type 4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/>
              <a:t>Nếu sử dụng nhiều dạng database-&gt; type 3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/>
              <a:t>Nếu type 3, 4 không hỗ trợ</a:t>
            </a:r>
            <a:r>
              <a:rPr lang="en-US" altLang="en-US">
                <a:sym typeface="Wingdings" panose="05000000000000000000" pitchFamily="2" charset="2"/>
              </a:rPr>
              <a:t> type 2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>
                <a:sym typeface="Wingdings" panose="05000000000000000000" pitchFamily="2" charset="2"/>
              </a:rPr>
              <a:t>Cuối cùng chọn type 1</a:t>
            </a:r>
            <a:endParaRPr lang="en-US" altLang="en-US"/>
          </a:p>
          <a:p>
            <a:pPr>
              <a:defRPr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166984-0F85-F63D-F935-F1D421AA7E36}"/>
              </a:ext>
            </a:extLst>
          </p:cNvPr>
          <p:cNvSpPr txBox="1"/>
          <p:nvPr/>
        </p:nvSpPr>
        <p:spPr>
          <a:xfrm>
            <a:off x="7476452" y="3604229"/>
            <a:ext cx="3590925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en-US" sz="2200" err="1"/>
              <a:t>Cài</a:t>
            </a:r>
            <a:r>
              <a:rPr lang="en-US" altLang="en-US" sz="2200"/>
              <a:t> </a:t>
            </a:r>
            <a:r>
              <a:rPr lang="en-US" altLang="en-US" sz="2200" err="1"/>
              <a:t>đặt</a:t>
            </a:r>
            <a:r>
              <a:rPr lang="en-US" altLang="en-US" sz="2200"/>
              <a:t> </a:t>
            </a:r>
            <a:r>
              <a:rPr lang="en-US" altLang="en-US" sz="2200" err="1"/>
              <a:t>như</a:t>
            </a:r>
            <a:r>
              <a:rPr lang="en-US" altLang="en-US" sz="2200"/>
              <a:t> </a:t>
            </a:r>
            <a:r>
              <a:rPr lang="en-US" altLang="en-US" sz="2200" err="1"/>
              <a:t>thế</a:t>
            </a:r>
            <a:r>
              <a:rPr lang="en-US" altLang="en-US" sz="2200"/>
              <a:t> </a:t>
            </a:r>
            <a:r>
              <a:rPr lang="en-US" altLang="en-US" sz="2200" err="1"/>
              <a:t>nào</a:t>
            </a:r>
            <a:r>
              <a:rPr lang="en-US" altLang="en-US" sz="2200"/>
              <a:t>???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err="1"/>
              <a:t>Tải</a:t>
            </a:r>
            <a:r>
              <a:rPr lang="en-US" altLang="en-US"/>
              <a:t> </a:t>
            </a:r>
            <a:r>
              <a:rPr lang="en-US" altLang="en-US" err="1"/>
              <a:t>jdbc</a:t>
            </a:r>
            <a:r>
              <a:rPr lang="en-US" altLang="en-US"/>
              <a:t> driver </a:t>
            </a:r>
            <a:r>
              <a:rPr lang="en-US" altLang="en-US" err="1"/>
              <a:t>tương</a:t>
            </a:r>
            <a:r>
              <a:rPr lang="en-US" altLang="en-US"/>
              <a:t> </a:t>
            </a:r>
            <a:r>
              <a:rPr lang="en-US" altLang="en-US" err="1"/>
              <a:t>ứng</a:t>
            </a:r>
            <a:r>
              <a:rPr lang="en-US" altLang="en-US"/>
              <a:t> CSDL.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err="1"/>
              <a:t>Thêm</a:t>
            </a:r>
            <a:r>
              <a:rPr lang="en-US" altLang="en-US"/>
              <a:t> </a:t>
            </a:r>
            <a:r>
              <a:rPr lang="en-US" altLang="en-US" err="1"/>
              <a:t>vào</a:t>
            </a:r>
            <a:r>
              <a:rPr lang="en-US" altLang="en-US"/>
              <a:t> </a:t>
            </a:r>
            <a:r>
              <a:rPr lang="en-US" altLang="en-US" err="1"/>
              <a:t>classpath</a:t>
            </a:r>
            <a:r>
              <a:rPr lang="en-US" altLang="en-US"/>
              <a:t> </a:t>
            </a:r>
            <a:r>
              <a:rPr lang="en-US" altLang="en-US" err="1"/>
              <a:t>của</a:t>
            </a:r>
            <a:r>
              <a:rPr lang="en-US" altLang="en-US"/>
              <a:t> </a:t>
            </a:r>
            <a:r>
              <a:rPr lang="en-US" altLang="en-US" err="1"/>
              <a:t>ứng</a:t>
            </a:r>
            <a:r>
              <a:rPr lang="en-US" altLang="en-US"/>
              <a:t> </a:t>
            </a:r>
            <a:r>
              <a:rPr lang="en-US" altLang="en-US" err="1"/>
              <a:t>dụng</a:t>
            </a:r>
            <a:r>
              <a:rPr lang="en-US" altLang="en-US"/>
              <a:t>.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2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2682-98D9-8409-AC36-98375960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65" y="78151"/>
            <a:ext cx="10515600" cy="803889"/>
          </a:xfrm>
        </p:spPr>
        <p:txBody>
          <a:bodyPr>
            <a:normAutofit/>
          </a:bodyPr>
          <a:lstStyle/>
          <a:p>
            <a:r>
              <a:rPr lang="en-US" sz="2800" b="1"/>
              <a:t>5. </a:t>
            </a:r>
            <a:r>
              <a:rPr lang="en-US" sz="2800" b="1" err="1"/>
              <a:t>Các</a:t>
            </a:r>
            <a:r>
              <a:rPr lang="en-US" sz="2800" b="1"/>
              <a:t> </a:t>
            </a:r>
            <a:r>
              <a:rPr lang="en-US" sz="2800" b="1" err="1"/>
              <a:t>bước</a:t>
            </a:r>
            <a:r>
              <a:rPr lang="en-US" sz="2800" b="1"/>
              <a:t> </a:t>
            </a:r>
            <a:r>
              <a:rPr lang="en-US" sz="2800" b="1" err="1"/>
              <a:t>cơ</a:t>
            </a:r>
            <a:r>
              <a:rPr lang="en-US" sz="2800" b="1"/>
              <a:t> </a:t>
            </a:r>
            <a:r>
              <a:rPr lang="en-US" sz="2800" b="1" err="1"/>
              <a:t>bản</a:t>
            </a:r>
            <a:r>
              <a:rPr lang="en-US" sz="2800" b="1"/>
              <a:t> </a:t>
            </a:r>
            <a:r>
              <a:rPr lang="en-US" sz="2800" b="1" err="1"/>
              <a:t>trong</a:t>
            </a:r>
            <a:r>
              <a:rPr lang="en-US" sz="2800" b="1"/>
              <a:t> JDBC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46D02-C945-5C93-5C22-F45ED5C1D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65" y="882040"/>
            <a:ext cx="12192000" cy="5975960"/>
          </a:xfrm>
        </p:spPr>
        <p:txBody>
          <a:bodyPr>
            <a:noAutofit/>
          </a:bodyPr>
          <a:lstStyle/>
          <a:p>
            <a:pPr algn="l">
              <a:buFont typeface="+mj-lt"/>
              <a:buAutoNum type="arabicPeriod"/>
            </a:pPr>
            <a:r>
              <a:rPr lang="en-US" sz="2400" b="0" i="0">
                <a:solidFill>
                  <a:srgbClr val="24292E"/>
                </a:solidFill>
                <a:effectLst/>
                <a:latin typeface="-apple-system"/>
              </a:rPr>
              <a:t> Import</a:t>
            </a:r>
            <a:r>
              <a:rPr lang="vi-VN" sz="2400" b="0" i="0">
                <a:solidFill>
                  <a:srgbClr val="24292E"/>
                </a:solidFill>
                <a:effectLst/>
                <a:latin typeface="-apple-system"/>
              </a:rPr>
              <a:t> gói JDBC</a:t>
            </a:r>
            <a:endParaRPr lang="en-US" sz="2400" b="0" i="0">
              <a:solidFill>
                <a:srgbClr val="24292E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endParaRPr lang="en-US" sz="2400" b="0" i="0">
              <a:solidFill>
                <a:srgbClr val="24292E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en-US" sz="2400" b="0" i="0">
                <a:solidFill>
                  <a:srgbClr val="24292E"/>
                </a:solidFill>
                <a:effectLst/>
                <a:latin typeface="-apple-system"/>
              </a:rPr>
              <a:t>	</a:t>
            </a:r>
            <a:endParaRPr lang="en-US" sz="2400">
              <a:solidFill>
                <a:srgbClr val="000000"/>
              </a:solidFill>
              <a:latin typeface="-apple-system"/>
            </a:endParaRPr>
          </a:p>
          <a:p>
            <a:pPr marL="0" indent="0" algn="l">
              <a:buNone/>
            </a:pPr>
            <a:r>
              <a:rPr lang="en-US" sz="2400" b="0" i="0">
                <a:solidFill>
                  <a:srgbClr val="000000"/>
                </a:solidFill>
                <a:effectLst/>
                <a:latin typeface="-apple-system"/>
              </a:rPr>
              <a:t>2. </a:t>
            </a:r>
            <a:r>
              <a:rPr lang="en-US" sz="2400" b="0" i="0">
                <a:solidFill>
                  <a:srgbClr val="24292E"/>
                </a:solidFill>
                <a:effectLst/>
                <a:latin typeface="-apple-system"/>
              </a:rPr>
              <a:t> </a:t>
            </a:r>
            <a:r>
              <a:rPr lang="vi-VN" sz="2400" b="0" i="0">
                <a:solidFill>
                  <a:srgbClr val="24292E"/>
                </a:solidFill>
                <a:effectLst/>
                <a:latin typeface="-apple-system"/>
              </a:rPr>
              <a:t>Mở kết nối với cơ sở dữ liệu.</a:t>
            </a:r>
            <a:endParaRPr lang="en-US" sz="2400" b="0" i="0">
              <a:solidFill>
                <a:srgbClr val="24292E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endParaRPr lang="vi-VN" sz="1800" b="0" i="0">
              <a:solidFill>
                <a:srgbClr val="000000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endParaRPr lang="en-US" sz="2400" b="0" i="0">
              <a:solidFill>
                <a:srgbClr val="24292E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en-US" sz="2400" b="0" i="0">
                <a:solidFill>
                  <a:srgbClr val="24292E"/>
                </a:solidFill>
                <a:effectLst/>
                <a:latin typeface="-apple-system"/>
              </a:rPr>
              <a:t>3. </a:t>
            </a:r>
            <a:r>
              <a:rPr lang="vi-VN" sz="2400" b="0" i="0">
                <a:solidFill>
                  <a:srgbClr val="24292E"/>
                </a:solidFill>
                <a:effectLst/>
                <a:latin typeface="-apple-system"/>
              </a:rPr>
              <a:t>Tạo một đối tượng câu lệnh để thực hiện truy vấn.</a:t>
            </a:r>
            <a:endParaRPr lang="en-US" sz="2400" b="0" i="0">
              <a:solidFill>
                <a:srgbClr val="24292E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endParaRPr lang="en-US" sz="2400" b="0" i="0">
              <a:solidFill>
                <a:srgbClr val="000000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endParaRPr lang="vi-VN" sz="2400" b="0" i="0">
              <a:solidFill>
                <a:srgbClr val="000000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en-US" sz="2400" b="0" i="0">
                <a:solidFill>
                  <a:srgbClr val="24292E"/>
                </a:solidFill>
                <a:effectLst/>
                <a:latin typeface="-apple-system"/>
              </a:rPr>
              <a:t>4. </a:t>
            </a:r>
            <a:r>
              <a:rPr lang="vi-VN" sz="2400" b="0" i="0">
                <a:solidFill>
                  <a:srgbClr val="24292E"/>
                </a:solidFill>
                <a:effectLst/>
                <a:latin typeface="-apple-system"/>
              </a:rPr>
              <a:t>Thực thi đối tượng câu lệnh và trả về một tập kết quả truy vấn.</a:t>
            </a:r>
            <a:endParaRPr lang="vi-VN" sz="2400" b="0" i="0">
              <a:solidFill>
                <a:srgbClr val="000000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endParaRPr lang="en-US" sz="2400">
              <a:solidFill>
                <a:srgbClr val="24292E"/>
              </a:solidFill>
              <a:latin typeface="-apple-system"/>
            </a:endParaRPr>
          </a:p>
          <a:p>
            <a:pPr marL="0" indent="0" algn="l">
              <a:buNone/>
            </a:pPr>
            <a:endParaRPr lang="en-US" sz="2400">
              <a:solidFill>
                <a:srgbClr val="24292E"/>
              </a:solidFill>
              <a:latin typeface="-apple-syste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4CA338-46DD-6FD9-1BE0-7BB93CC56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17" y="1362034"/>
            <a:ext cx="8316486" cy="647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5F2E65-5390-EDA7-65A0-73E113ED4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17" y="2689857"/>
            <a:ext cx="8345065" cy="876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29763-624C-95F0-AAE9-C21A96B258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65" y="3959110"/>
            <a:ext cx="8335538" cy="847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33DD4E-CDC0-E5B5-9354-6C572870EC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17" y="5408555"/>
            <a:ext cx="8326012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5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2682-98D9-8409-AC36-98375960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65" y="78151"/>
            <a:ext cx="10515600" cy="803889"/>
          </a:xfrm>
        </p:spPr>
        <p:txBody>
          <a:bodyPr>
            <a:normAutofit/>
          </a:bodyPr>
          <a:lstStyle/>
          <a:p>
            <a:r>
              <a:rPr lang="en-US" sz="2800" b="1"/>
              <a:t>5. </a:t>
            </a:r>
            <a:r>
              <a:rPr lang="en-US" sz="2800" b="1" err="1"/>
              <a:t>Các</a:t>
            </a:r>
            <a:r>
              <a:rPr lang="en-US" sz="2800" b="1"/>
              <a:t> </a:t>
            </a:r>
            <a:r>
              <a:rPr lang="en-US" sz="2800" b="1" err="1"/>
              <a:t>bước</a:t>
            </a:r>
            <a:r>
              <a:rPr lang="en-US" sz="2800" b="1"/>
              <a:t> </a:t>
            </a:r>
            <a:r>
              <a:rPr lang="en-US" sz="2800" b="1" err="1"/>
              <a:t>cơ</a:t>
            </a:r>
            <a:r>
              <a:rPr lang="en-US" sz="2800" b="1"/>
              <a:t> </a:t>
            </a:r>
            <a:r>
              <a:rPr lang="en-US" sz="2800" b="1" err="1"/>
              <a:t>bản</a:t>
            </a:r>
            <a:r>
              <a:rPr lang="en-US" sz="2800" b="1"/>
              <a:t> </a:t>
            </a:r>
            <a:r>
              <a:rPr lang="en-US" sz="2800" b="1" err="1"/>
              <a:t>trong</a:t>
            </a:r>
            <a:r>
              <a:rPr lang="en-US" sz="2800" b="1"/>
              <a:t> JDBC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46D02-C945-5C93-5C22-F45ED5C1D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65" y="882040"/>
            <a:ext cx="12192000" cy="53732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400">
                <a:solidFill>
                  <a:srgbClr val="24292E"/>
                </a:solidFill>
                <a:latin typeface="-apple-system"/>
              </a:rPr>
              <a:t>5. </a:t>
            </a:r>
            <a:r>
              <a:rPr lang="vi-VN" sz="2400" b="0" i="0">
                <a:solidFill>
                  <a:srgbClr val="24292E"/>
                </a:solidFill>
                <a:effectLst/>
                <a:latin typeface="-apple-system"/>
              </a:rPr>
              <a:t>Xử lý bộ kết quả.</a:t>
            </a:r>
            <a:endParaRPr lang="vi-VN" sz="2400" b="0" i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D0759-0D03-A805-788E-F1F657E8F5BE}"/>
              </a:ext>
            </a:extLst>
          </p:cNvPr>
          <p:cNvSpPr txBox="1"/>
          <p:nvPr/>
        </p:nvSpPr>
        <p:spPr>
          <a:xfrm>
            <a:off x="424067" y="4683525"/>
            <a:ext cx="10440073" cy="12926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200" b="1" u="sng" err="1"/>
              <a:t>Lưu</a:t>
            </a:r>
            <a:r>
              <a:rPr lang="en-US" altLang="en-US" sz="2200" b="1" u="sng"/>
              <a:t> ý: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err="1"/>
              <a:t>Từ</a:t>
            </a:r>
            <a:r>
              <a:rPr lang="en-US" altLang="en-US"/>
              <a:t> JDBC 4.0+, </a:t>
            </a:r>
            <a:r>
              <a:rPr lang="en-US" altLang="en-US" err="1"/>
              <a:t>không</a:t>
            </a:r>
            <a:r>
              <a:rPr lang="en-US" altLang="en-US"/>
              <a:t> </a:t>
            </a:r>
            <a:r>
              <a:rPr lang="en-US" altLang="en-US" err="1"/>
              <a:t>cần</a:t>
            </a:r>
            <a:r>
              <a:rPr lang="en-US" altLang="en-US"/>
              <a:t> “</a:t>
            </a:r>
            <a:r>
              <a:rPr lang="en-US" altLang="en-US" err="1"/>
              <a:t>Class.forName</a:t>
            </a:r>
            <a:r>
              <a:rPr lang="en-US" altLang="en-US"/>
              <a:t>()”, driver </a:t>
            </a:r>
            <a:r>
              <a:rPr lang="en-US" altLang="en-US" err="1"/>
              <a:t>được</a:t>
            </a:r>
            <a:r>
              <a:rPr lang="en-US" altLang="en-US"/>
              <a:t> </a:t>
            </a:r>
            <a:r>
              <a:rPr lang="en-US" altLang="en-US" err="1"/>
              <a:t>tìm</a:t>
            </a:r>
            <a:r>
              <a:rPr lang="en-US" altLang="en-US"/>
              <a:t> </a:t>
            </a:r>
            <a:r>
              <a:rPr lang="en-US" altLang="en-US" err="1"/>
              <a:t>thấy</a:t>
            </a:r>
            <a:r>
              <a:rPr lang="en-US" altLang="en-US"/>
              <a:t> </a:t>
            </a:r>
            <a:r>
              <a:rPr lang="en-US" altLang="en-US" err="1"/>
              <a:t>trong</a:t>
            </a:r>
            <a:r>
              <a:rPr lang="en-US" altLang="en-US"/>
              <a:t> </a:t>
            </a:r>
            <a:r>
              <a:rPr lang="en-US" altLang="en-US" err="1"/>
              <a:t>classpath</a:t>
            </a:r>
            <a:r>
              <a:rPr lang="en-US" altLang="en-US"/>
              <a:t> </a:t>
            </a:r>
            <a:r>
              <a:rPr lang="en-US" altLang="en-US" err="1"/>
              <a:t>được</a:t>
            </a:r>
            <a:r>
              <a:rPr lang="en-US" altLang="en-US"/>
              <a:t> </a:t>
            </a:r>
            <a:r>
              <a:rPr lang="en-US" altLang="en-US" err="1"/>
              <a:t>tự</a:t>
            </a:r>
            <a:r>
              <a:rPr lang="en-US" altLang="en-US"/>
              <a:t> </a:t>
            </a:r>
            <a:r>
              <a:rPr lang="en-US" altLang="en-US" err="1"/>
              <a:t>động</a:t>
            </a:r>
            <a:r>
              <a:rPr lang="en-US" altLang="en-US"/>
              <a:t> </a:t>
            </a:r>
            <a:r>
              <a:rPr lang="en-US" altLang="en-US" err="1"/>
              <a:t>nạp</a:t>
            </a:r>
            <a:r>
              <a:rPr lang="en-US" alt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en-US" err="1"/>
              <a:t>Sử</a:t>
            </a:r>
            <a:r>
              <a:rPr lang="en-US" altLang="en-US"/>
              <a:t> </a:t>
            </a:r>
            <a:r>
              <a:rPr lang="en-US" altLang="en-US" err="1"/>
              <a:t>dụng</a:t>
            </a:r>
            <a:r>
              <a:rPr lang="en-US" altLang="en-US"/>
              <a:t> </a:t>
            </a:r>
            <a:r>
              <a:rPr lang="vi-VN" b="1">
                <a:solidFill>
                  <a:srgbClr val="000000"/>
                </a:solidFill>
                <a:latin typeface="-apple-system"/>
              </a:rPr>
              <a:t>try-with-resource</a:t>
            </a:r>
            <a:r>
              <a:rPr lang="en-US" b="1">
                <a:solidFill>
                  <a:srgbClr val="000000"/>
                </a:solidFill>
                <a:latin typeface="-apple-system"/>
              </a:rPr>
              <a:t> </a:t>
            </a:r>
            <a:r>
              <a:rPr lang="en-US" err="1">
                <a:solidFill>
                  <a:srgbClr val="000000"/>
                </a:solidFill>
                <a:latin typeface="-apple-system"/>
              </a:rPr>
              <a:t>tự</a:t>
            </a:r>
            <a:r>
              <a:rPr lang="en-US">
                <a:solidFill>
                  <a:srgbClr val="000000"/>
                </a:solidFill>
                <a:latin typeface="-apple-system"/>
              </a:rPr>
              <a:t> </a:t>
            </a:r>
            <a:r>
              <a:rPr lang="en-US" err="1">
                <a:solidFill>
                  <a:srgbClr val="000000"/>
                </a:solidFill>
                <a:latin typeface="-apple-system"/>
              </a:rPr>
              <a:t>đóng</a:t>
            </a:r>
            <a:r>
              <a:rPr lang="en-US">
                <a:solidFill>
                  <a:srgbClr val="000000"/>
                </a:solidFill>
                <a:latin typeface="-apple-system"/>
              </a:rPr>
              <a:t> </a:t>
            </a:r>
            <a:r>
              <a:rPr lang="en-US" err="1">
                <a:solidFill>
                  <a:srgbClr val="000000"/>
                </a:solidFill>
                <a:latin typeface="-apple-system"/>
              </a:rPr>
              <a:t>tài</a:t>
            </a:r>
            <a:r>
              <a:rPr lang="en-US">
                <a:solidFill>
                  <a:srgbClr val="000000"/>
                </a:solidFill>
                <a:latin typeface="-apple-system"/>
              </a:rPr>
              <a:t> </a:t>
            </a:r>
            <a:r>
              <a:rPr lang="en-US" err="1">
                <a:solidFill>
                  <a:srgbClr val="000000"/>
                </a:solidFill>
                <a:latin typeface="-apple-system"/>
              </a:rPr>
              <a:t>nguyên</a:t>
            </a:r>
            <a:r>
              <a:rPr lang="en-US">
                <a:solidFill>
                  <a:srgbClr val="000000"/>
                </a:solidFill>
                <a:latin typeface="-apple-system"/>
              </a:rPr>
              <a:t> JDBC.</a:t>
            </a:r>
            <a:endParaRPr lang="en-US" altLang="en-US"/>
          </a:p>
          <a:p>
            <a:pPr>
              <a:defRPr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EEC6FA-325E-BE41-A925-DB32E3E1E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67" y="1419366"/>
            <a:ext cx="9571323" cy="292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D8D2985-CC95-828A-EF54-A3B717298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6. JDBC Code</a:t>
            </a:r>
            <a:endParaRPr lang="th-TH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815C2-6B97-35E1-4E73-1DA8D9871927}"/>
              </a:ext>
            </a:extLst>
          </p:cNvPr>
          <p:cNvSpPr txBox="1"/>
          <p:nvPr/>
        </p:nvSpPr>
        <p:spPr>
          <a:xfrm>
            <a:off x="838200" y="149238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rgbClr val="3F7F5F"/>
                </a:solidFill>
                <a:latin typeface="Consolas" panose="020B0609020204030204" pitchFamily="49" charset="0"/>
              </a:rPr>
              <a:t>//1</a:t>
            </a:r>
          </a:p>
          <a:p>
            <a:pPr algn="l"/>
            <a:r>
              <a:rPr 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java.sql.*;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76894C-4CF0-38CE-DAAB-F93FA8E93CA0}"/>
              </a:ext>
            </a:extLst>
          </p:cNvPr>
          <p:cNvSpPr txBox="1"/>
          <p:nvPr/>
        </p:nvSpPr>
        <p:spPr>
          <a:xfrm>
            <a:off x="838200" y="2368322"/>
            <a:ext cx="109959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rgbClr val="3F7F5F"/>
                </a:solidFill>
                <a:latin typeface="Consolas" panose="020B0609020204030204" pitchFamily="49" charset="0"/>
              </a:rPr>
              <a:t>//2</a:t>
            </a:r>
          </a:p>
          <a:p>
            <a:pPr algn="l"/>
            <a:r>
              <a:rPr 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(Connection </a:t>
            </a:r>
            <a:r>
              <a:rPr lang="en-US" sz="1800" b="1">
                <a:solidFill>
                  <a:srgbClr val="6A3E3E"/>
                </a:solidFill>
                <a:latin typeface="Consolas" panose="020B0609020204030204" pitchFamily="49" charset="0"/>
              </a:rPr>
              <a:t>con</a:t>
            </a:r>
            <a:r>
              <a:rPr 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</a:p>
          <a:p>
            <a:pPr algn="l"/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DriverManager.</a:t>
            </a:r>
            <a:r>
              <a:rPr lang="en-US" sz="1800" i="1">
                <a:solidFill>
                  <a:srgbClr val="000000"/>
                </a:solidFill>
                <a:latin typeface="Consolas" panose="020B0609020204030204" pitchFamily="49" charset="0"/>
              </a:rPr>
              <a:t>getConnection(</a:t>
            </a:r>
            <a:r>
              <a:rPr lang="en-US" sz="1800" i="1">
                <a:solidFill>
                  <a:srgbClr val="2A00FF"/>
                </a:solidFill>
                <a:latin typeface="Consolas" panose="020B0609020204030204" pitchFamily="49" charset="0"/>
              </a:rPr>
              <a:t>"jdbc:mysql://localhost/jdbc_lab"</a:t>
            </a:r>
            <a:r>
              <a:rPr lang="en-US" sz="1800" i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800" i="1">
                <a:solidFill>
                  <a:srgbClr val="2A00FF"/>
                </a:solidFill>
                <a:latin typeface="Consolas" panose="020B0609020204030204" pitchFamily="49" charset="0"/>
              </a:rPr>
              <a:t>"root"</a:t>
            </a:r>
            <a:r>
              <a:rPr lang="en-US" sz="1800" i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1">
                <a:solidFill>
                  <a:srgbClr val="2A00FF"/>
                </a:solidFill>
                <a:latin typeface="Consolas" panose="020B0609020204030204" pitchFamily="49" charset="0"/>
              </a:rPr>
              <a:t>""</a:t>
            </a:r>
            <a:r>
              <a:rPr lang="en-US" sz="1800" i="1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6614DB-DF68-5EA0-1C03-A7331AB83E71}"/>
              </a:ext>
            </a:extLst>
          </p:cNvPr>
          <p:cNvSpPr txBox="1"/>
          <p:nvPr/>
        </p:nvSpPr>
        <p:spPr>
          <a:xfrm>
            <a:off x="838200" y="35212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rgbClr val="3F7F5F"/>
                </a:solidFill>
                <a:latin typeface="Consolas" panose="020B0609020204030204" pitchFamily="49" charset="0"/>
              </a:rPr>
              <a:t>//3</a:t>
            </a:r>
          </a:p>
          <a:p>
            <a:pPr algn="l"/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Statement </a:t>
            </a:r>
            <a:r>
              <a:rPr lang="en-US" sz="1800">
                <a:solidFill>
                  <a:srgbClr val="6A3E3E"/>
                </a:solidFill>
                <a:latin typeface="Consolas" panose="020B0609020204030204" pitchFamily="49" charset="0"/>
              </a:rPr>
              <a:t>stmt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>
                <a:solidFill>
                  <a:srgbClr val="6A3E3E"/>
                </a:solidFill>
                <a:latin typeface="Consolas" panose="020B0609020204030204" pitchFamily="49" charset="0"/>
              </a:rPr>
              <a:t>con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.createStatement();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25038D-0CF8-DC6D-F719-2CC6C81DF35A}"/>
              </a:ext>
            </a:extLst>
          </p:cNvPr>
          <p:cNvSpPr txBox="1"/>
          <p:nvPr/>
        </p:nvSpPr>
        <p:spPr>
          <a:xfrm>
            <a:off x="838199" y="4358740"/>
            <a:ext cx="93129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rgbClr val="3F7F5F"/>
                </a:solidFill>
                <a:latin typeface="Consolas" panose="020B0609020204030204" pitchFamily="49" charset="0"/>
              </a:rPr>
              <a:t>//4</a:t>
            </a:r>
          </a:p>
          <a:p>
            <a:pPr algn="l"/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ResultSet </a:t>
            </a:r>
            <a:r>
              <a:rPr lang="en-US" sz="1800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>
                <a:solidFill>
                  <a:srgbClr val="6A3E3E"/>
                </a:solidFill>
                <a:latin typeface="Consolas" panose="020B0609020204030204" pitchFamily="49" charset="0"/>
              </a:rPr>
              <a:t>stmt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.executeQuery(</a:t>
            </a:r>
            <a:r>
              <a:rPr lang="en-US" sz="1800">
                <a:solidFill>
                  <a:srgbClr val="2A00FF"/>
                </a:solidFill>
                <a:latin typeface="Consolas" panose="020B0609020204030204" pitchFamily="49" charset="0"/>
              </a:rPr>
              <a:t>"select * from lop"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749EA0-25BC-89DB-4BB3-2023B6E1A73D}"/>
              </a:ext>
            </a:extLst>
          </p:cNvPr>
          <p:cNvSpPr txBox="1"/>
          <p:nvPr/>
        </p:nvSpPr>
        <p:spPr>
          <a:xfrm>
            <a:off x="838199" y="5234680"/>
            <a:ext cx="84018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rgbClr val="3F7F5F"/>
                </a:solidFill>
                <a:latin typeface="Consolas" panose="020B0609020204030204" pitchFamily="49" charset="0"/>
              </a:rPr>
              <a:t>//5</a:t>
            </a:r>
          </a:p>
          <a:p>
            <a:pPr algn="l"/>
            <a:r>
              <a:rPr lang="en-US" sz="1800" b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b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b="1">
                <a:solidFill>
                  <a:srgbClr val="000000"/>
                </a:solidFill>
                <a:latin typeface="Consolas" panose="020B0609020204030204" pitchFamily="49" charset="0"/>
              </a:rPr>
              <a:t>.next()) {</a:t>
            </a:r>
          </a:p>
          <a:p>
            <a:pPr algn="l"/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	System.</a:t>
            </a:r>
            <a:r>
              <a:rPr lang="en-US" sz="1800" b="1" i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sz="1800" b="1" i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.getInt(1) + </a:t>
            </a:r>
            <a:r>
              <a:rPr lang="en-US" sz="1800" b="1" i="1">
                <a:solidFill>
                  <a:srgbClr val="2A00FF"/>
                </a:solidFill>
                <a:latin typeface="Consolas" panose="020B0609020204030204" pitchFamily="49" charset="0"/>
              </a:rPr>
              <a:t>"\t"</a:t>
            </a:r>
            <a:r>
              <a:rPr 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800" b="1" i="1">
                <a:solidFill>
                  <a:srgbClr val="6A3E3E"/>
                </a:solidFill>
                <a:latin typeface="Consolas" panose="020B0609020204030204" pitchFamily="49" charset="0"/>
              </a:rPr>
              <a:t>rs</a:t>
            </a:r>
            <a:r>
              <a:rPr lang="en-US" sz="1800" b="1" i="1">
                <a:solidFill>
                  <a:srgbClr val="000000"/>
                </a:solidFill>
                <a:latin typeface="Consolas" panose="020B0609020204030204" pitchFamily="49" charset="0"/>
              </a:rPr>
              <a:t>.getString(2));</a:t>
            </a:r>
          </a:p>
          <a:p>
            <a:pPr algn="l"/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53EA35B-2D0B-8F4F-616E-1CC5D645EC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(1) kết nối Database</a:t>
            </a:r>
            <a:endParaRPr lang="th-TH" alt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0760E5E-5375-9A8A-5B3C-9AB032337F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Thư viện: java.sql.Connection</a:t>
            </a:r>
            <a:endParaRPr lang="en-US" altLang="en-US"/>
          </a:p>
          <a:p>
            <a:pPr eaLnBrk="1" hangingPunct="1">
              <a:spcBef>
                <a:spcPct val="40000"/>
              </a:spcBef>
            </a:pPr>
            <a:r>
              <a:rPr lang="en-US" altLang="en-US" b="1">
                <a:solidFill>
                  <a:schemeClr val="hlink"/>
                </a:solidFill>
              </a:rPr>
              <a:t>Thư viện jdbc driver</a:t>
            </a:r>
            <a:r>
              <a:rPr lang="en-US" altLang="en-US"/>
              <a:t>.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en-US"/>
              <a:t>MySQL driver </a:t>
            </a:r>
            <a:br>
              <a:rPr lang="en-US" altLang="en-US"/>
            </a:b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mysql-connector-java-5.1.7-bin.jar</a:t>
            </a:r>
            <a:endParaRPr lang="en-US" altLang="en-US"/>
          </a:p>
          <a:p>
            <a:pPr lvl="1" eaLnBrk="1" hangingPunct="1">
              <a:spcBef>
                <a:spcPct val="40000"/>
              </a:spcBef>
            </a:pPr>
            <a:r>
              <a:rPr lang="en-US" altLang="en-US"/>
              <a:t>Derby driver: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derby.jar</a:t>
            </a:r>
            <a:r>
              <a:rPr lang="en-US" altLang="en-US"/>
              <a:t> hoặc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derbyclient.jar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en-US"/>
              <a:t>HSQLDB driver: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hsqldb.jar</a:t>
            </a:r>
            <a:r>
              <a:rPr lang="en-US" altLang="en-US"/>
              <a:t>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DriverManager : </a:t>
            </a:r>
            <a:r>
              <a:rPr lang="en-US" altLang="en-US"/>
              <a:t>chọn driver dựa trên URL.</a:t>
            </a:r>
          </a:p>
          <a:p>
            <a:pPr eaLnBrk="1" hangingPunct="1"/>
            <a:endParaRPr lang="th-TH" alt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561AF1B-4EBC-2A4C-A285-43225798FF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Database Driver?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0CAF1FD-0AEA-AC5B-885A-BBD0DA3D1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288925" indent="-288925">
              <a:buNone/>
            </a:pPr>
            <a:r>
              <a:rPr lang="en-US" altLang="en-US" b="1">
                <a:solidFill>
                  <a:srgbClr val="FF0000"/>
                </a:solidFill>
              </a:rPr>
              <a:t>Tích hợp Driver vào ứng dụng:</a:t>
            </a:r>
          </a:p>
          <a:p>
            <a:pPr marL="288925" indent="-288925">
              <a:buNone/>
            </a:pPr>
            <a:r>
              <a:rPr lang="en-US" altLang="en-US"/>
              <a:t>Driver được đóng dưới dạng </a:t>
            </a:r>
            <a:r>
              <a:rPr lang="en-US" altLang="en-US">
                <a:solidFill>
                  <a:srgbClr val="A50021"/>
                </a:solidFill>
              </a:rPr>
              <a:t>JAR file</a:t>
            </a:r>
            <a:r>
              <a:rPr lang="en-US" altLang="en-US"/>
              <a:t>.</a:t>
            </a:r>
          </a:p>
          <a:p>
            <a:pPr marL="288925" indent="-288925">
              <a:spcBef>
                <a:spcPct val="50000"/>
              </a:spcBef>
              <a:buNone/>
            </a:pPr>
            <a:r>
              <a:rPr lang="en-US" altLang="en-US"/>
              <a:t>Chép JAR file theo 4 cách:  </a:t>
            </a:r>
          </a:p>
          <a:p>
            <a:pPr marL="958850" lvl="1" indent="-381000"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AutoNum type="arabicPeriod"/>
            </a:pPr>
            <a:r>
              <a:rPr lang="en-US" altLang="en-US">
                <a:solidFill>
                  <a:srgbClr val="FF0000"/>
                </a:solidFill>
              </a:rPr>
              <a:t>Thêm vào </a:t>
            </a:r>
            <a:r>
              <a:rPr lang="en-US" altLang="en-US">
                <a:solidFill>
                  <a:schemeClr val="tx2"/>
                </a:solidFill>
              </a:rPr>
              <a:t>IDE project:</a:t>
            </a:r>
            <a:r>
              <a:rPr lang="en-US" altLang="en-US"/>
              <a:t>  </a:t>
            </a:r>
            <a:r>
              <a:rPr lang="en-US" altLang="en-US" i="1">
                <a:solidFill>
                  <a:schemeClr val="tx2"/>
                </a:solidFill>
              </a:rPr>
              <a:t>external jar file</a:t>
            </a:r>
            <a:endParaRPr lang="en-US" altLang="en-US">
              <a:solidFill>
                <a:schemeClr val="tx2"/>
              </a:solidFill>
            </a:endParaRPr>
          </a:p>
          <a:p>
            <a:pPr marL="958850" lvl="1" indent="-381000"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AutoNum type="arabicPeriod"/>
            </a:pPr>
            <a:r>
              <a:rPr lang="en-US" altLang="en-US"/>
              <a:t>Thêm tới CLASSPATH</a:t>
            </a:r>
            <a:br>
              <a:rPr lang="en-US" altLang="en-US"/>
            </a:br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CLASSPATH = /my/path/mysql-connector.jar;.</a:t>
            </a:r>
          </a:p>
          <a:p>
            <a:pPr marL="958850" lvl="1" indent="-381000"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AutoNum type="arabicPeriod"/>
            </a:pPr>
            <a:r>
              <a:rPr lang="en-US" altLang="en-US"/>
              <a:t>Thêm JAR sử dụng command line:</a:t>
            </a:r>
            <a:b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 -cp /my/path/mysql-connector.jar ...</a:t>
            </a:r>
          </a:p>
          <a:p>
            <a:pPr marL="958850" lvl="1" indent="-381000">
              <a:spcBef>
                <a:spcPct val="50000"/>
              </a:spcBef>
              <a:buClr>
                <a:schemeClr val="tx2"/>
              </a:buClr>
              <a:buFont typeface="Wingdings" panose="05000000000000000000" pitchFamily="2" charset="2"/>
              <a:buAutoNum type="arabicPeriod"/>
            </a:pPr>
            <a:r>
              <a:rPr lang="en-US" altLang="en-US"/>
              <a:t>Chép JAR file vào thư mục :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JRE/lib/ext </a:t>
            </a:r>
            <a:r>
              <a:rPr lang="en-US" altLang="en-US"/>
              <a:t>:</a:t>
            </a:r>
            <a:b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C:/java/jre1.6.0/lib/ext/</a:t>
            </a:r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mysql-connector.jar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2ECCB7A-B072-AE0F-6AAE-4EF01B5C3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Database URL</a:t>
            </a:r>
            <a:endParaRPr lang="th-TH" altLang="en-US"/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3763B550-F400-8B4E-467B-65C89FF86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0" y="1671639"/>
            <a:ext cx="8097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5000"/>
              <a:buFont typeface="Wingdings" panose="05000000000000000000" pitchFamily="2" charset="2"/>
              <a:buChar char="§"/>
              <a:tabLst>
                <a:tab pos="450850" algn="l"/>
                <a:tab pos="917575" algn="l"/>
                <a:tab pos="13684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String URL = "</a:t>
            </a:r>
            <a:r>
              <a:rPr lang="en-US" altLang="en-US" sz="2000" b="1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jdbc:mysql://dbserver:3306/world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DA44BF44-9FC7-259D-0D79-EA06BA5AF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5163" y="1179513"/>
            <a:ext cx="800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5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Cấu trúc URL : Tùy thuộc DBMS sử dụng</a:t>
            </a:r>
            <a:endParaRPr lang="th-TH" altLang="en-US"/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6D31B3E7-9EEE-43A5-04DD-0FCD83C3A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8975" y="2506664"/>
            <a:ext cx="6711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5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Protocol   Sub-protocol  Hostname   Port   DatabaseName</a:t>
            </a:r>
            <a:endParaRPr lang="th-TH" altLang="en-US" sz="2000"/>
          </a:p>
        </p:txBody>
      </p:sp>
      <p:sp>
        <p:nvSpPr>
          <p:cNvPr id="13318" name="Line 6">
            <a:extLst>
              <a:ext uri="{FF2B5EF4-FFF2-40B4-BE49-F238E27FC236}">
                <a16:creationId xmlns:a16="http://schemas.microsoft.com/office/drawing/2014/main" id="{99B2EC50-635F-39F6-643D-BC1C2DA555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45539" y="1982789"/>
            <a:ext cx="352425" cy="5476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9" name="Line 7">
            <a:extLst>
              <a:ext uri="{FF2B5EF4-FFF2-40B4-BE49-F238E27FC236}">
                <a16:creationId xmlns:a16="http://schemas.microsoft.com/office/drawing/2014/main" id="{0E226AC9-F39D-1634-D3AC-2A4C1E4D3C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16851" y="1982789"/>
            <a:ext cx="352425" cy="5476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0" name="Line 8">
            <a:extLst>
              <a:ext uri="{FF2B5EF4-FFF2-40B4-BE49-F238E27FC236}">
                <a16:creationId xmlns:a16="http://schemas.microsoft.com/office/drawing/2014/main" id="{B59D969E-37E6-9013-3201-D651697BFF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35751" y="2009775"/>
            <a:ext cx="365125" cy="522288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1" name="Line 9">
            <a:extLst>
              <a:ext uri="{FF2B5EF4-FFF2-40B4-BE49-F238E27FC236}">
                <a16:creationId xmlns:a16="http://schemas.microsoft.com/office/drawing/2014/main" id="{9DA00012-C7A3-3409-5494-193C807863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02263" y="2025651"/>
            <a:ext cx="290512" cy="531813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Line 10">
            <a:extLst>
              <a:ext uri="{FF2B5EF4-FFF2-40B4-BE49-F238E27FC236}">
                <a16:creationId xmlns:a16="http://schemas.microsoft.com/office/drawing/2014/main" id="{5AB465B6-1F47-4D9A-4D97-C40FDD34CA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1963" y="2011364"/>
            <a:ext cx="379412" cy="5603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3" name="Text Box 12">
            <a:extLst>
              <a:ext uri="{FF2B5EF4-FFF2-40B4-BE49-F238E27FC236}">
                <a16:creationId xmlns:a16="http://schemas.microsoft.com/office/drawing/2014/main" id="{2061845F-7400-B219-DE06-D43B1B463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4863" y="3454400"/>
            <a:ext cx="8291512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spcBef>
                <a:spcPct val="20000"/>
              </a:spcBef>
              <a:buClr>
                <a:schemeClr val="folHlink"/>
              </a:buClr>
              <a:buSzPct val="95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333399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Tiếng việt: </a:t>
            </a:r>
            <a:r>
              <a:rPr lang="en-US" altLang="en-US"/>
              <a:t>?useUnicode=true&amp;characterEncoding=UTF-8</a:t>
            </a:r>
            <a:endParaRPr lang="en-US" alt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324" name="TextBox 1">
            <a:extLst>
              <a:ext uri="{FF2B5EF4-FFF2-40B4-BE49-F238E27FC236}">
                <a16:creationId xmlns:a16="http://schemas.microsoft.com/office/drawing/2014/main" id="{435A7D02-36DA-5E9C-964D-E0C4E9BB3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4864" y="4446588"/>
            <a:ext cx="80422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9pPr>
          </a:lstStyle>
          <a:p>
            <a:r>
              <a:rPr lang="en-US" altLang="en-US" sz="2400" b="1"/>
              <a:t>Oracle thin driver:</a:t>
            </a:r>
            <a:endParaRPr lang="en-US" altLang="en-US" b="1"/>
          </a:p>
          <a:p>
            <a:r>
              <a:rPr lang="en-US" altLang="en-US" sz="2400" b="1"/>
              <a:t>String URL=“jdbc:oracle:thin:@localhost:1521:XE”</a:t>
            </a:r>
          </a:p>
        </p:txBody>
      </p:sp>
      <p:sp>
        <p:nvSpPr>
          <p:cNvPr id="13325" name="TextBox 12">
            <a:extLst>
              <a:ext uri="{FF2B5EF4-FFF2-40B4-BE49-F238E27FC236}">
                <a16:creationId xmlns:a16="http://schemas.microsoft.com/office/drawing/2014/main" id="{B45C8295-D3BA-F8E3-D3BF-78612C339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4864" y="5465763"/>
            <a:ext cx="8042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defRPr>
            </a:lvl9pPr>
          </a:lstStyle>
          <a:p>
            <a:r>
              <a:rPr lang="en-US" altLang="en-US" sz="2000" b="1"/>
              <a:t>Method getConnection(String url,Strin user,String password)</a:t>
            </a:r>
            <a:endParaRPr lang="en-US" altLang="en-US" sz="24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142200B-6CF0-B954-1997-27A0593741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Câu lệnh Statement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E6A64B45-5A90-5E25-2660-683C32BB28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03814"/>
            <a:ext cx="10744200" cy="4464050"/>
          </a:xfrm>
        </p:spPr>
        <p:txBody>
          <a:bodyPr>
            <a:noAutofit/>
          </a:bodyPr>
          <a:lstStyle/>
          <a:p>
            <a:pPr algn="just"/>
            <a:r>
              <a:rPr lang="en-US" altLang="en-US"/>
              <a:t>3 loại Statement</a:t>
            </a:r>
          </a:p>
          <a:p>
            <a:pPr lvl="1" algn="just"/>
            <a:r>
              <a:rPr lang="en-US" altLang="en-US" sz="2800"/>
              <a:t>Statement: thi hành câu lệnh tùy ý tại thời điểm chạy</a:t>
            </a:r>
          </a:p>
          <a:p>
            <a:pPr lvl="1" algn="just"/>
            <a:r>
              <a:rPr lang="en-US" altLang="en-US" sz="2800"/>
              <a:t>PreparedStatement:  câu lệnh SQL được biên dịch trước</a:t>
            </a:r>
          </a:p>
          <a:p>
            <a:pPr lvl="1" algn="just"/>
            <a:r>
              <a:rPr lang="en-US" altLang="en-US" sz="2800"/>
              <a:t>CallableStatement: gọi thủ tục trên DBMS</a:t>
            </a:r>
          </a:p>
          <a:p>
            <a:pPr algn="just"/>
            <a:r>
              <a:rPr lang="en-US" altLang="en-US"/>
              <a:t>Sử dụng kết nối tạo câu lệnh</a:t>
            </a:r>
          </a:p>
          <a:p>
            <a:pPr lvl="1" algn="just"/>
            <a:r>
              <a:rPr lang="en-US" altLang="en-US" sz="2800"/>
              <a:t>Statement  s=con.createStatement()</a:t>
            </a:r>
          </a:p>
          <a:p>
            <a:pPr lvl="1" algn="just"/>
            <a:r>
              <a:rPr lang="en-US" altLang="en-US" sz="2800"/>
              <a:t>PreparedStatement  s=con. prepareStatement(String)</a:t>
            </a:r>
          </a:p>
          <a:p>
            <a:pPr lvl="1" algn="just"/>
            <a:r>
              <a:rPr lang="en-US" altLang="en-US" sz="2800"/>
              <a:t>CallableStatement   s=con. prepareCall(String)</a:t>
            </a:r>
          </a:p>
          <a:p>
            <a:pPr algn="just"/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F159F928-ED41-37B3-40A6-89207AB63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Statement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9F39B1B2-8F1D-8CBF-B9B7-D768E58305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75271"/>
            <a:ext cx="10515600" cy="4726746"/>
          </a:xfrm>
        </p:spPr>
        <p:txBody>
          <a:bodyPr>
            <a:noAutofit/>
          </a:bodyPr>
          <a:lstStyle/>
          <a:p>
            <a:r>
              <a:rPr lang="en-US" altLang="en-US"/>
              <a:t>Các ph</a:t>
            </a:r>
            <a:r>
              <a:rPr lang="vi-VN" altLang="en-US"/>
              <a:t>ư</a:t>
            </a:r>
            <a:r>
              <a:rPr lang="en-US" altLang="en-US"/>
              <a:t>ơng thức chính</a:t>
            </a:r>
          </a:p>
          <a:p>
            <a:pPr lvl="1"/>
            <a:r>
              <a:rPr lang="en-US" altLang="en-US" sz="2800"/>
              <a:t>public </a:t>
            </a:r>
            <a:r>
              <a:rPr lang="en-US" altLang="en-US" sz="2800" b="1">
                <a:solidFill>
                  <a:srgbClr val="3333CC"/>
                </a:solidFill>
              </a:rPr>
              <a:t>ResultSet</a:t>
            </a:r>
            <a:r>
              <a:rPr lang="en-US" altLang="en-US" sz="2800"/>
              <a:t>  </a:t>
            </a:r>
            <a:r>
              <a:rPr lang="en-US" altLang="en-US" sz="2800" b="1">
                <a:solidFill>
                  <a:srgbClr val="FF0000"/>
                </a:solidFill>
              </a:rPr>
              <a:t>executeQuery</a:t>
            </a:r>
            <a:r>
              <a:rPr lang="en-US" altLang="en-US" sz="2800"/>
              <a:t>(String sql)</a:t>
            </a:r>
          </a:p>
          <a:p>
            <a:pPr lvl="2"/>
            <a:r>
              <a:rPr lang="en-US" altLang="en-US" sz="2800"/>
              <a:t>Sử dụng cho các câu lệnh select..</a:t>
            </a:r>
          </a:p>
          <a:p>
            <a:pPr lvl="1"/>
            <a:r>
              <a:rPr lang="en-US" altLang="en-US" sz="2800"/>
              <a:t>public </a:t>
            </a:r>
            <a:r>
              <a:rPr lang="en-US" altLang="en-US" sz="2800">
                <a:solidFill>
                  <a:srgbClr val="3333CC"/>
                </a:solidFill>
              </a:rPr>
              <a:t>int</a:t>
            </a:r>
            <a:r>
              <a:rPr lang="en-US" altLang="en-US" sz="2800"/>
              <a:t> </a:t>
            </a:r>
            <a:r>
              <a:rPr lang="en-US" altLang="en-US" sz="2800">
                <a:solidFill>
                  <a:srgbClr val="C00000"/>
                </a:solidFill>
              </a:rPr>
              <a:t>executeUpdate</a:t>
            </a:r>
            <a:r>
              <a:rPr lang="en-US" altLang="en-US" sz="2800"/>
              <a:t>(String sql)</a:t>
            </a:r>
          </a:p>
          <a:p>
            <a:pPr lvl="2"/>
            <a:r>
              <a:rPr lang="en-US" altLang="en-US" sz="2800"/>
              <a:t>Sử dụng cho các câu lệnh insert , delete, update…</a:t>
            </a:r>
          </a:p>
          <a:p>
            <a:pPr lvl="1"/>
            <a:r>
              <a:rPr lang="en-US" altLang="en-US" sz="2800"/>
              <a:t>public Boolean execute(String sql)</a:t>
            </a:r>
          </a:p>
          <a:p>
            <a:pPr lvl="2"/>
            <a:r>
              <a:rPr lang="en-US" altLang="en-US" sz="2800"/>
              <a:t>Sử dụng cho các câu lệnh tùy ý</a:t>
            </a:r>
          </a:p>
          <a:p>
            <a:pPr lvl="1"/>
            <a:r>
              <a:rPr lang="en-US" altLang="en-US" sz="2800"/>
              <a:t>public int[] executeBatch()</a:t>
            </a:r>
          </a:p>
          <a:p>
            <a:pPr lvl="2"/>
            <a:r>
              <a:rPr lang="en-US" altLang="en-US" sz="2800"/>
              <a:t>Sử dụng cho bó lệnh</a:t>
            </a:r>
          </a:p>
          <a:p>
            <a:pPr lvl="2"/>
            <a:r>
              <a:rPr lang="en-US" altLang="en-US" sz="2800"/>
              <a:t>Thêm lệnh: stm.addBatch(String sql)</a:t>
            </a:r>
          </a:p>
          <a:p>
            <a:pPr lvl="2"/>
            <a:endParaRPr lang="en-US" altLang="en-US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95B1153D-1E25-837B-54C3-A2453D0450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PreparedStatement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CB6CBA5A-3839-D109-A123-DBA96EB3C4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2493" y="1543845"/>
            <a:ext cx="10639907" cy="1663181"/>
          </a:xfrm>
        </p:spPr>
        <p:txBody>
          <a:bodyPr/>
          <a:lstStyle/>
          <a:p>
            <a:r>
              <a:rPr lang="en-US" altLang="en-US"/>
              <a:t>Tăng hiệu quả thi hành câu lệnh SQL.</a:t>
            </a:r>
          </a:p>
          <a:p>
            <a:r>
              <a:rPr lang="en-US" altLang="en-US"/>
              <a:t>Biên dịch một lần và gọi thi hành nhiều lần.</a:t>
            </a:r>
          </a:p>
          <a:p>
            <a:r>
              <a:rPr lang="en-US" altLang="en-US"/>
              <a:t>Thay đổi đối số mỗi lần thi hành-&gt; </a:t>
            </a:r>
            <a:r>
              <a:rPr lang="en-US" altLang="en-US">
                <a:solidFill>
                  <a:srgbClr val="C00000"/>
                </a:solidFill>
              </a:rPr>
              <a:t>thích hợp với các câu lệnh có đối số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16388" name="Picture 2">
            <a:extLst>
              <a:ext uri="{FF2B5EF4-FFF2-40B4-BE49-F238E27FC236}">
                <a16:creationId xmlns:a16="http://schemas.microsoft.com/office/drawing/2014/main" id="{38F6908B-83CE-89A3-BC95-2505C82DA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885" y="3877159"/>
            <a:ext cx="10093326" cy="1834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CE74129-3C33-3CF1-603A-49A4C19E0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9446" y="29681"/>
            <a:ext cx="10515600" cy="1325563"/>
          </a:xfrm>
        </p:spPr>
        <p:txBody>
          <a:bodyPr/>
          <a:lstStyle/>
          <a:p>
            <a:r>
              <a:rPr lang="en-US" altLang="en-US"/>
              <a:t>CallableStatement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F247BE24-1103-CE8F-15A8-1033792CD7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9446" y="1078706"/>
            <a:ext cx="10358092" cy="4700587"/>
          </a:xfrm>
        </p:spPr>
        <p:txBody>
          <a:bodyPr>
            <a:noAutofit/>
          </a:bodyPr>
          <a:lstStyle/>
          <a:p>
            <a:r>
              <a:rPr lang="en-US" altLang="en-US" sz="2600"/>
              <a:t>Thi hành các thủ tục đã cài đặt sẵn trên DBMS</a:t>
            </a:r>
          </a:p>
          <a:p>
            <a:pPr lvl="1"/>
            <a:r>
              <a:rPr lang="en-US" altLang="en-US" sz="2600"/>
              <a:t>Oracle</a:t>
            </a:r>
            <a:r>
              <a:rPr lang="en-US" altLang="en-US" sz="2600">
                <a:sym typeface="Wingdings" panose="05000000000000000000" pitchFamily="2" charset="2"/>
              </a:rPr>
              <a:t>PL/SQL</a:t>
            </a:r>
          </a:p>
          <a:p>
            <a:pPr lvl="1"/>
            <a:r>
              <a:rPr lang="en-US" altLang="en-US" sz="2600">
                <a:sym typeface="Wingdings" panose="05000000000000000000" pitchFamily="2" charset="2"/>
              </a:rPr>
              <a:t>MYSQLStored procedure Language</a:t>
            </a:r>
          </a:p>
          <a:p>
            <a:pPr lvl="1"/>
            <a:r>
              <a:rPr lang="en-US" altLang="en-US" sz="2600">
                <a:sym typeface="Wingdings" panose="05000000000000000000" pitchFamily="2" charset="2"/>
              </a:rPr>
              <a:t>SQL serverTransact SQL(TSQL)</a:t>
            </a:r>
            <a:endParaRPr lang="en-US" altLang="en-US" sz="2600"/>
          </a:p>
          <a:p>
            <a:r>
              <a:rPr lang="en-US" altLang="en-US" sz="2600"/>
              <a:t>Cú pháp:</a:t>
            </a:r>
          </a:p>
          <a:p>
            <a:pPr lvl="1"/>
            <a:r>
              <a:rPr lang="en-US" altLang="en-US" sz="2600"/>
              <a:t>{Call procedureName(a1,a2,…)};</a:t>
            </a:r>
          </a:p>
          <a:p>
            <a:r>
              <a:rPr lang="en-US" altLang="en-US" sz="2600"/>
              <a:t>Các đối số có thể là IN, OUT hoặc cả 2 INOUT</a:t>
            </a:r>
          </a:p>
          <a:p>
            <a:r>
              <a:rPr lang="en-US" altLang="en-US" sz="2600"/>
              <a:t>CallableStatement  cst=con.prepareCall(“{call  pro(?,?)}”);</a:t>
            </a:r>
          </a:p>
          <a:p>
            <a:r>
              <a:rPr lang="en-US" altLang="en-US" sz="2600"/>
              <a:t>Truyền đối số IN bằng hàm setxxx();</a:t>
            </a:r>
          </a:p>
          <a:p>
            <a:r>
              <a:rPr lang="en-US" altLang="en-US" sz="2600"/>
              <a:t>Đăng kí đối số OUT trước khi thi hành thủ tục</a:t>
            </a:r>
          </a:p>
          <a:p>
            <a:pPr lvl="1"/>
            <a:r>
              <a:rPr lang="en-US" altLang="en-US" sz="2600"/>
              <a:t>registerOutParameter(1,Types,VARCHAR)</a:t>
            </a:r>
          </a:p>
          <a:p>
            <a:r>
              <a:rPr lang="en-US" altLang="en-US" sz="2600"/>
              <a:t>Đối số INOUT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77B6A50F-ADCF-F1E9-8D56-4771817AA7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7669" y="0"/>
            <a:ext cx="10515600" cy="1325563"/>
          </a:xfrm>
        </p:spPr>
        <p:txBody>
          <a:bodyPr/>
          <a:lstStyle/>
          <a:p>
            <a:r>
              <a:rPr lang="en-US" altLang="en-US"/>
              <a:t>Ví dụ: CallableStatement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DE430-0163-E91A-FE2A-D0E347E9A289}"/>
              </a:ext>
            </a:extLst>
          </p:cNvPr>
          <p:cNvSpPr txBox="1"/>
          <p:nvPr/>
        </p:nvSpPr>
        <p:spPr>
          <a:xfrm>
            <a:off x="543409" y="1122640"/>
            <a:ext cx="7732712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400"/>
              <a:t>Create procedure </a:t>
            </a:r>
            <a:r>
              <a:rPr lang="en-US" sz="2400">
                <a:solidFill>
                  <a:srgbClr val="FF0000"/>
                </a:solidFill>
              </a:rPr>
              <a:t>addProc</a:t>
            </a:r>
            <a:r>
              <a:rPr lang="en-US" sz="2400"/>
              <a:t>(num1 IN number,num2 IN number, num3 OUT number)</a:t>
            </a:r>
          </a:p>
          <a:p>
            <a:pPr>
              <a:defRPr/>
            </a:pPr>
            <a:r>
              <a:rPr lang="en-US" sz="2400"/>
              <a:t>BEGIN</a:t>
            </a:r>
          </a:p>
          <a:p>
            <a:pPr>
              <a:defRPr/>
            </a:pPr>
            <a:r>
              <a:rPr lang="en-US" sz="2400"/>
              <a:t>	num3:=num1+num2;</a:t>
            </a:r>
          </a:p>
          <a:p>
            <a:pPr>
              <a:defRPr/>
            </a:pPr>
            <a:r>
              <a:rPr lang="en-US" sz="2400"/>
              <a:t>END;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942BD-46E2-0680-B410-B351CD865178}"/>
              </a:ext>
            </a:extLst>
          </p:cNvPr>
          <p:cNvSpPr txBox="1"/>
          <p:nvPr/>
        </p:nvSpPr>
        <p:spPr>
          <a:xfrm>
            <a:off x="543409" y="3232221"/>
            <a:ext cx="7732712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400"/>
              <a:t>Connection  con=DriverManager.getConnecton(……..);</a:t>
            </a:r>
          </a:p>
          <a:p>
            <a:pPr>
              <a:defRPr/>
            </a:pPr>
            <a:r>
              <a:rPr lang="en-US" sz="2400"/>
              <a:t>CallableStatement cst=con.</a:t>
            </a:r>
            <a:r>
              <a:rPr lang="en-US" sz="2400">
                <a:solidFill>
                  <a:srgbClr val="FF0000"/>
                </a:solidFill>
              </a:rPr>
              <a:t>prepareCall(“call </a:t>
            </a:r>
            <a:r>
              <a:rPr lang="en-US" sz="2400" b="1">
                <a:solidFill>
                  <a:srgbClr val="3333CC"/>
                </a:solidFill>
              </a:rPr>
              <a:t>addProc</a:t>
            </a:r>
            <a:r>
              <a:rPr lang="en-US" sz="2400">
                <a:solidFill>
                  <a:srgbClr val="FF0000"/>
                </a:solidFill>
              </a:rPr>
              <a:t>(?,?,?)”)</a:t>
            </a:r>
            <a:r>
              <a:rPr lang="en-US" sz="2400"/>
              <a:t>;</a:t>
            </a:r>
          </a:p>
          <a:p>
            <a:pPr>
              <a:defRPr/>
            </a:pPr>
            <a:r>
              <a:rPr lang="en-US" sz="2400"/>
              <a:t>cst.setInt(1,100);</a:t>
            </a:r>
          </a:p>
          <a:p>
            <a:pPr>
              <a:defRPr/>
            </a:pPr>
            <a:r>
              <a:rPr lang="en-US" sz="2400"/>
              <a:t>cst.setInt(2,200);</a:t>
            </a:r>
          </a:p>
          <a:p>
            <a:pPr>
              <a:defRPr/>
            </a:pPr>
            <a:r>
              <a:rPr lang="en-US" sz="2400"/>
              <a:t>cst.registerOutParameter(2,Types.INTEGER);</a:t>
            </a:r>
          </a:p>
          <a:p>
            <a:pPr>
              <a:defRPr/>
            </a:pPr>
            <a:r>
              <a:rPr lang="en-US" sz="2400"/>
              <a:t>cst.execute();</a:t>
            </a:r>
          </a:p>
          <a:p>
            <a:pPr>
              <a:defRPr/>
            </a:pPr>
            <a:r>
              <a:rPr lang="en-US" sz="2400"/>
              <a:t>System.out.println(cst.getInt(3);</a:t>
            </a:r>
          </a:p>
          <a:p>
            <a:pPr>
              <a:defRPr/>
            </a:pPr>
            <a:r>
              <a:rPr lang="en-US" sz="2400"/>
              <a:t>con.close();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6F48872A-2259-F136-0575-64F437C010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2420" y="21431"/>
            <a:ext cx="9493180" cy="866466"/>
          </a:xfrm>
        </p:spPr>
        <p:txBody>
          <a:bodyPr>
            <a:normAutofit/>
          </a:bodyPr>
          <a:lstStyle/>
          <a:p>
            <a:r>
              <a:rPr lang="en-US" altLang="en-US" sz="2800" b="1"/>
              <a:t>Thực thi Statement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417A0261-608C-68FA-3D20-9C256BBE4E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2420" y="904875"/>
            <a:ext cx="7921625" cy="5048250"/>
          </a:xfrm>
        </p:spPr>
        <p:txBody>
          <a:bodyPr>
            <a:noAutofit/>
          </a:bodyPr>
          <a:lstStyle/>
          <a:p>
            <a:r>
              <a:rPr lang="en-US" altLang="en-US" sz="2400"/>
              <a:t>Có 3 cách</a:t>
            </a:r>
          </a:p>
          <a:p>
            <a:pPr lvl="1"/>
            <a:r>
              <a:rPr lang="en-US" altLang="en-US"/>
              <a:t>ResultSet executeQuery(): </a:t>
            </a:r>
          </a:p>
          <a:p>
            <a:pPr lvl="2"/>
            <a:r>
              <a:rPr lang="en-US" altLang="en-US" sz="2400"/>
              <a:t>Thi hành các câu lệnh truy vấn</a:t>
            </a:r>
          </a:p>
          <a:p>
            <a:pPr lvl="2"/>
            <a:r>
              <a:rPr lang="en-US" altLang="en-US" sz="2400"/>
              <a:t>Trả về kết quả qua đối tượng ResultSet</a:t>
            </a:r>
          </a:p>
          <a:p>
            <a:pPr lvl="2"/>
            <a:r>
              <a:rPr lang="en-US" altLang="en-US" sz="2400"/>
              <a:t>ResultSet  rs=s.executeStatement(“select from …..”);</a:t>
            </a:r>
          </a:p>
          <a:p>
            <a:pPr lvl="1"/>
            <a:r>
              <a:rPr lang="en-US" altLang="en-US"/>
              <a:t>int executeUpdate()</a:t>
            </a:r>
          </a:p>
          <a:p>
            <a:pPr lvl="2"/>
            <a:r>
              <a:rPr lang="en-US" altLang="en-US" sz="2400"/>
              <a:t>Dùng cho câu lệnh cập nhật dữ liệu</a:t>
            </a:r>
          </a:p>
          <a:p>
            <a:pPr lvl="2"/>
            <a:r>
              <a:rPr lang="en-US" altLang="en-US" sz="2400"/>
              <a:t>Trả về số record bị ảnh hưởng</a:t>
            </a:r>
          </a:p>
          <a:p>
            <a:pPr lvl="1"/>
            <a:r>
              <a:rPr lang="en-US" altLang="en-US"/>
              <a:t>boolen execute()</a:t>
            </a:r>
          </a:p>
          <a:p>
            <a:pPr lvl="2"/>
            <a:r>
              <a:rPr lang="en-US" altLang="en-US" sz="2400"/>
              <a:t>Khi không biết rõ câu lệnh là truy vấn hay cập nhật</a:t>
            </a:r>
          </a:p>
          <a:p>
            <a:pPr lvl="2"/>
            <a:r>
              <a:rPr lang="en-US" altLang="en-US" sz="2400"/>
              <a:t>Trả về true nếu câu lệnh là truy vấn</a:t>
            </a:r>
          </a:p>
          <a:p>
            <a:pPr lvl="3"/>
            <a:r>
              <a:rPr lang="en-US" altLang="en-US" sz="2400"/>
              <a:t>Gọi getResultSet() nhận kết quả truy vấn truy vấn</a:t>
            </a:r>
          </a:p>
          <a:p>
            <a:pPr lvl="2"/>
            <a:r>
              <a:rPr lang="en-US" altLang="en-US" sz="2400"/>
              <a:t>Trả về false nếu câu lệnh là cập nhật</a:t>
            </a:r>
          </a:p>
          <a:p>
            <a:pPr lvl="3"/>
            <a:r>
              <a:rPr lang="en-US" altLang="en-US" sz="2400"/>
              <a:t>Gọi getUpdateCount() số record được cập nhật</a:t>
            </a:r>
          </a:p>
          <a:p>
            <a:pPr lvl="3"/>
            <a:endParaRPr lang="en-US" altLang="en-US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66983B6-F99A-8BA7-95A3-C54681DFB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03964"/>
          </a:xfrm>
        </p:spPr>
        <p:txBody>
          <a:bodyPr/>
          <a:lstStyle/>
          <a:p>
            <a:pPr eaLnBrk="1" hangingPunct="1"/>
            <a:r>
              <a:rPr lang="en-US" altLang="en-US"/>
              <a:t>ResultSet</a:t>
            </a:r>
            <a:endParaRPr lang="th-TH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F7DCF2A-DDEA-0202-2C9E-F62A0A840E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9683" y="1126228"/>
            <a:ext cx="9008717" cy="181541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Được chia làm 2 dạng:</a:t>
            </a:r>
          </a:p>
          <a:p>
            <a:pPr lvl="1"/>
            <a:r>
              <a:rPr lang="en-US" altLang="en-US"/>
              <a:t>Read only ResultSet (Mặc định)</a:t>
            </a:r>
          </a:p>
          <a:p>
            <a:pPr lvl="1"/>
            <a:r>
              <a:rPr lang="en-US" altLang="en-US"/>
              <a:t>Updatable ResultSet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Một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chứa một “row” cho mỗi kết quả trả về (bắt đầu từ 1).</a:t>
            </a:r>
          </a:p>
        </p:txBody>
      </p:sp>
      <p:sp>
        <p:nvSpPr>
          <p:cNvPr id="21508" name="Text Box 5">
            <a:extLst>
              <a:ext uri="{FF2B5EF4-FFF2-40B4-BE49-F238E27FC236}">
                <a16:creationId xmlns:a16="http://schemas.microsoft.com/office/drawing/2014/main" id="{F1DC89CD-EC83-93BA-C803-DAC172E08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204" y="2941638"/>
            <a:ext cx="3600450" cy="3327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5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ResultSet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next() : boolean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previous() : boolean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first() : boolean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last() : boolean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absolute( k )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getInt( name: String )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getInt( index: int )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509" name="Line 6">
            <a:extLst>
              <a:ext uri="{FF2B5EF4-FFF2-40B4-BE49-F238E27FC236}">
                <a16:creationId xmlns:a16="http://schemas.microsoft.com/office/drawing/2014/main" id="{12C7C5F7-7A10-9316-CB69-738BA55AA8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2204" y="3323673"/>
            <a:ext cx="3587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0" name="Rectangle 4">
            <a:extLst>
              <a:ext uri="{FF2B5EF4-FFF2-40B4-BE49-F238E27FC236}">
                <a16:creationId xmlns:a16="http://schemas.microsoft.com/office/drawing/2014/main" id="{667FB942-2B1A-37C8-1A84-E26F45022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729" y="2933908"/>
            <a:ext cx="3805237" cy="333513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5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getInt( ), getLong( )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getFloat( ),getDouble()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getString( )  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getDate( )   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getBoolean( )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getBytes( )  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getBigDecimal( )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getBlob( )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getObject( ) 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endParaRPr lang="en-US" altLang="en-US" sz="20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4FCD071-7B98-7477-7A0D-29153E839C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ResultSet Methods</a:t>
            </a:r>
            <a:endParaRPr lang="th-TH" altLang="en-US"/>
          </a:p>
        </p:txBody>
      </p:sp>
      <p:grpSp>
        <p:nvGrpSpPr>
          <p:cNvPr id="22531" name="Group 4">
            <a:extLst>
              <a:ext uri="{FF2B5EF4-FFF2-40B4-BE49-F238E27FC236}">
                <a16:creationId xmlns:a16="http://schemas.microsoft.com/office/drawing/2014/main" id="{3A8D1B37-14F1-E1C2-25A2-449AF6C10F27}"/>
              </a:ext>
            </a:extLst>
          </p:cNvPr>
          <p:cNvGrpSpPr>
            <a:grpSpLocks/>
          </p:cNvGrpSpPr>
          <p:nvPr/>
        </p:nvGrpSpPr>
        <p:grpSpPr bwMode="auto">
          <a:xfrm>
            <a:off x="2079626" y="1733550"/>
            <a:ext cx="8164513" cy="2032000"/>
            <a:chOff x="451" y="1013"/>
            <a:chExt cx="5143" cy="1280"/>
          </a:xfrm>
        </p:grpSpPr>
        <p:sp>
          <p:nvSpPr>
            <p:cNvPr id="22533" name="Rectangle 5">
              <a:extLst>
                <a:ext uri="{FF2B5EF4-FFF2-40B4-BE49-F238E27FC236}">
                  <a16:creationId xmlns:a16="http://schemas.microsoft.com/office/drawing/2014/main" id="{F6CB8456-7F96-7144-23EC-7895105D0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" y="1013"/>
              <a:ext cx="5061" cy="1280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5000"/>
                <a:buFont typeface="Wingdings" panose="05000000000000000000" pitchFamily="2" charset="2"/>
                <a:buChar char="§"/>
                <a:tabLst>
                  <a:tab pos="45085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tabLst>
                  <a:tab pos="45085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tabLst>
                  <a:tab pos="4508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tabLst>
                  <a:tab pos="4508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4508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4508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4508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4508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4508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String </a:t>
              </a:r>
              <a:r>
                <a:rPr lang="en-US" altLang="en-US" sz="1800" b="1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query</a:t>
              </a:r>
              <a:r>
                <a:rPr lang="en-US" altLang="en-US" sz="18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en-US" altLang="en-US" sz="1800" b="1">
                  <a:solidFill>
                    <a:srgbClr val="A5002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"SELECT * FROM Lop WHERE ..."</a:t>
              </a:r>
              <a:r>
                <a:rPr lang="en-US" altLang="en-US" sz="1800" b="1"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ResultSet rs = </a:t>
              </a:r>
              <a:r>
                <a:rPr lang="en-US" altLang="en-US" sz="1800" b="1">
                  <a:solidFill>
                    <a:srgbClr val="000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statement</a:t>
              </a:r>
              <a:r>
                <a:rPr lang="en-US" altLang="en-US" sz="18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  <a:r>
                <a:rPr lang="en-US" altLang="en-US" sz="1800" b="1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executeQuery</a:t>
              </a:r>
              <a:r>
                <a:rPr lang="en-US" altLang="en-US" sz="18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 </a:t>
              </a:r>
              <a:r>
                <a:rPr lang="en-US" altLang="en-US" sz="1800" b="1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query</a:t>
              </a:r>
              <a:r>
                <a:rPr lang="en-US" altLang="en-US" sz="18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);</a:t>
              </a:r>
              <a:endParaRPr lang="en-US" altLang="en-US" sz="1800" b="1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rs.first( )</a:t>
              </a:r>
              <a:r>
                <a:rPr lang="en-US" altLang="en-US" sz="1800" b="1">
                  <a:solidFill>
                    <a:srgbClr val="7F005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// Hiển thị kết quả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Courier New" panose="02070309020205020404" pitchFamily="49" charset="0"/>
                  <a:cs typeface="Courier New" panose="02070309020205020404" pitchFamily="49" charset="0"/>
                </a:rPr>
                <a:t>System.out.println( </a:t>
              </a:r>
              <a:r>
                <a:rPr lang="en-US" altLang="en-US" sz="1800" b="1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rs.getString</a:t>
              </a:r>
              <a:r>
                <a:rPr lang="en-US" altLang="en-US" sz="1800" b="1">
                  <a:latin typeface="Courier New" panose="02070309020205020404" pitchFamily="49" charset="0"/>
                  <a:cs typeface="Courier New" panose="02070309020205020404" pitchFamily="49" charset="0"/>
                </a:rPr>
                <a:t>( 1 ) );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Courier New" panose="02070309020205020404" pitchFamily="49" charset="0"/>
                  <a:cs typeface="Courier New" panose="02070309020205020404" pitchFamily="49" charset="0"/>
                </a:rPr>
                <a:t>System.out.println( </a:t>
              </a:r>
              <a:r>
                <a:rPr lang="en-US" altLang="en-US" sz="1800" b="1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rs.getString</a:t>
              </a:r>
              <a:r>
                <a:rPr lang="en-US" altLang="en-US" sz="1800" b="1">
                  <a:latin typeface="Courier New" panose="02070309020205020404" pitchFamily="49" charset="0"/>
                  <a:cs typeface="Courier New" panose="02070309020205020404" pitchFamily="49" charset="0"/>
                </a:rPr>
                <a:t>( “</a:t>
              </a:r>
              <a:r>
                <a:rPr lang="en-US" altLang="en-US" sz="1800" b="1">
                  <a:solidFill>
                    <a:srgbClr val="A5002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Tenlop</a:t>
              </a:r>
              <a:r>
                <a:rPr lang="en-US" altLang="en-US" sz="1800" b="1">
                  <a:latin typeface="Courier New" panose="02070309020205020404" pitchFamily="49" charset="0"/>
                  <a:cs typeface="Courier New" panose="02070309020205020404" pitchFamily="49" charset="0"/>
                </a:rPr>
                <a:t>" ) );</a:t>
              </a:r>
            </a:p>
          </p:txBody>
        </p:sp>
        <p:sp>
          <p:nvSpPr>
            <p:cNvPr id="22534" name="Line 6">
              <a:extLst>
                <a:ext uri="{FF2B5EF4-FFF2-40B4-BE49-F238E27FC236}">
                  <a16:creationId xmlns:a16="http://schemas.microsoft.com/office/drawing/2014/main" id="{55D1CDDB-84DA-BEFA-6E4C-5D1AF07DCB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68" y="1623"/>
              <a:ext cx="438" cy="269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5" name="Text Box 7">
              <a:extLst>
                <a:ext uri="{FF2B5EF4-FFF2-40B4-BE49-F238E27FC236}">
                  <a16:creationId xmlns:a16="http://schemas.microsoft.com/office/drawing/2014/main" id="{27B559E9-7F34-D63D-3A59-71198265AA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2" y="1423"/>
              <a:ext cx="1118" cy="2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5000"/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 Unicode MS" pitchFamily="34" charset="-128"/>
                </a:rPr>
                <a:t>column number</a:t>
              </a:r>
            </a:p>
          </p:txBody>
        </p:sp>
        <p:sp>
          <p:nvSpPr>
            <p:cNvPr id="22536" name="Text Box 8">
              <a:extLst>
                <a:ext uri="{FF2B5EF4-FFF2-40B4-BE49-F238E27FC236}">
                  <a16:creationId xmlns:a16="http://schemas.microsoft.com/office/drawing/2014/main" id="{580CE18A-E066-D2DF-1355-D0239D107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3" y="1758"/>
              <a:ext cx="1021" cy="2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5000"/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 Unicode MS" pitchFamily="34" charset="-128"/>
                </a:rPr>
                <a:t>Column name</a:t>
              </a:r>
            </a:p>
          </p:txBody>
        </p:sp>
        <p:sp>
          <p:nvSpPr>
            <p:cNvPr id="22537" name="Line 9">
              <a:extLst>
                <a:ext uri="{FF2B5EF4-FFF2-40B4-BE49-F238E27FC236}">
                  <a16:creationId xmlns:a16="http://schemas.microsoft.com/office/drawing/2014/main" id="{706E7F94-67A1-43EB-7D70-8C59D8AE4A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5" y="1775"/>
              <a:ext cx="438" cy="269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32" name="Text Box 4">
            <a:extLst>
              <a:ext uri="{FF2B5EF4-FFF2-40B4-BE49-F238E27FC236}">
                <a16:creationId xmlns:a16="http://schemas.microsoft.com/office/drawing/2014/main" id="{1D988207-0B22-88C7-8961-D604F173E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626" y="3992563"/>
            <a:ext cx="7597775" cy="22463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5000"/>
              <a:buFont typeface="Wingdings" panose="05000000000000000000" pitchFamily="2" charset="2"/>
              <a:buChar char="§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//Duyệt danh sách kết quả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while ( rs.next( ) ) {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String id = rs.getString(“Lopid");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String tenlop = rs.getString(“Tenlop");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System.out.println( id +" "+tenlop );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h-TH" alt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9BDE10AF-67AF-01E1-FE8A-ACABAF5423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Quản lý Transaction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09E44548-9547-F1FD-D055-A552CBE60D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28060"/>
            <a:ext cx="10515600" cy="2000940"/>
          </a:xfrm>
        </p:spPr>
        <p:txBody>
          <a:bodyPr/>
          <a:lstStyle/>
          <a:p>
            <a:r>
              <a:rPr lang="en-US" altLang="en-US"/>
              <a:t>Có 2 dạng transaction</a:t>
            </a:r>
          </a:p>
          <a:p>
            <a:pPr lvl="1"/>
            <a:r>
              <a:rPr lang="en-US" altLang="en-US"/>
              <a:t>Local: Cùng 1 database</a:t>
            </a:r>
          </a:p>
          <a:p>
            <a:pPr lvl="1"/>
            <a:r>
              <a:rPr lang="en-US" altLang="en-US"/>
              <a:t>Global: Trên nhiều database</a:t>
            </a:r>
          </a:p>
          <a:p>
            <a:r>
              <a:rPr lang="en-US" altLang="en-US"/>
              <a:t>JDBC chỉ hỗ trợ local, global phải dùng EJB hoặc spring framework</a:t>
            </a:r>
          </a:p>
          <a:p>
            <a:endParaRPr lang="en-US" altLang="en-US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1CF3F9A6-A56A-3C93-35A1-34515027FFDB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4290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Ngăn cấm chế độ autocommit</a:t>
            </a:r>
          </a:p>
          <a:p>
            <a:pPr lvl="1"/>
            <a:r>
              <a:rPr lang="en-US" altLang="en-US"/>
              <a:t>con.setAutoCommit(false)</a:t>
            </a:r>
          </a:p>
          <a:p>
            <a:r>
              <a:rPr lang="en-US" altLang="en-US"/>
              <a:t>Khi hoàn tất các tác vụ commit transaction sử dụng</a:t>
            </a:r>
          </a:p>
          <a:p>
            <a:pPr lvl="1"/>
            <a:r>
              <a:rPr lang="en-US" altLang="en-US"/>
              <a:t>con.commit()</a:t>
            </a:r>
          </a:p>
          <a:p>
            <a:r>
              <a:rPr lang="en-US" altLang="en-US"/>
              <a:t>Nếu có lỗi khi thực thi lệnh gọi ph</a:t>
            </a:r>
            <a:r>
              <a:rPr lang="vi-VN" altLang="en-US"/>
              <a:t>ư</a:t>
            </a:r>
            <a:r>
              <a:rPr lang="en-US" altLang="en-US"/>
              <a:t>ơng thức phục hồi</a:t>
            </a:r>
          </a:p>
          <a:p>
            <a:pPr lvl="1"/>
            <a:r>
              <a:rPr lang="en-US" altLang="en-US"/>
              <a:t>con.rollback()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73FE53F2-20BC-F511-CD8D-62EEACFFD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CaseStudy 1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BA45073B-ECEC-6FEC-2928-C91043A409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Database Mysql: 2020</a:t>
            </a:r>
          </a:p>
          <a:p>
            <a:r>
              <a:rPr lang="en-US" altLang="en-US"/>
              <a:t>Viết ch</a:t>
            </a:r>
            <a:r>
              <a:rPr lang="vi-VN" altLang="en-US"/>
              <a:t>ư</a:t>
            </a:r>
            <a:r>
              <a:rPr lang="en-US" altLang="en-US"/>
              <a:t>ơng trình xuất ra danh sách customer</a:t>
            </a:r>
          </a:p>
          <a:p>
            <a:endParaRPr lang="en-US" altLang="en-US"/>
          </a:p>
        </p:txBody>
      </p:sp>
      <p:pic>
        <p:nvPicPr>
          <p:cNvPr id="25604" name="Picture 3">
            <a:extLst>
              <a:ext uri="{FF2B5EF4-FFF2-40B4-BE49-F238E27FC236}">
                <a16:creationId xmlns:a16="http://schemas.microsoft.com/office/drawing/2014/main" id="{3D62C089-EC62-884E-3EE4-5C5E6DFA8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2674938"/>
            <a:ext cx="3078163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1">
            <a:extLst>
              <a:ext uri="{FF2B5EF4-FFF2-40B4-BE49-F238E27FC236}">
                <a16:creationId xmlns:a16="http://schemas.microsoft.com/office/drawing/2014/main" id="{7D191E82-63B2-80BE-FEA8-74C794077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901" y="2752725"/>
            <a:ext cx="418147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2">
            <a:extLst>
              <a:ext uri="{FF2B5EF4-FFF2-40B4-BE49-F238E27FC236}">
                <a16:creationId xmlns:a16="http://schemas.microsoft.com/office/drawing/2014/main" id="{15F85A9F-2100-A345-005F-AAB79CE53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1" y="4456113"/>
            <a:ext cx="5680075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C9CF4741-A818-0B19-584F-881C6CC772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Các b</a:t>
            </a:r>
            <a:r>
              <a:rPr lang="vi-VN" altLang="en-US"/>
              <a:t>ư</a:t>
            </a:r>
            <a:r>
              <a:rPr lang="en-US" altLang="en-US"/>
              <a:t>ớc thực hiện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04837454-33FF-3DB7-E615-A977E33C1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5189" y="1543051"/>
            <a:ext cx="7921625" cy="3440113"/>
          </a:xfrm>
        </p:spPr>
        <p:txBody>
          <a:bodyPr/>
          <a:lstStyle/>
          <a:p>
            <a:r>
              <a:rPr lang="en-US" altLang="en-US"/>
              <a:t>Tạo Project</a:t>
            </a:r>
          </a:p>
          <a:p>
            <a:r>
              <a:rPr lang="en-US" altLang="en-US"/>
              <a:t>Nạp Th</a:t>
            </a:r>
            <a:r>
              <a:rPr lang="vi-VN" altLang="en-US"/>
              <a:t>ư</a:t>
            </a:r>
            <a:r>
              <a:rPr lang="en-US" altLang="en-US"/>
              <a:t> viện</a:t>
            </a:r>
          </a:p>
          <a:p>
            <a:r>
              <a:rPr lang="en-US" altLang="en-US"/>
              <a:t>Viết ch</a:t>
            </a:r>
            <a:r>
              <a:rPr lang="vi-VN" altLang="en-US"/>
              <a:t>ư</a:t>
            </a:r>
            <a:r>
              <a:rPr lang="en-US" altLang="en-US"/>
              <a:t>ơng trình</a:t>
            </a:r>
          </a:p>
          <a:p>
            <a:pPr lvl="1"/>
            <a:r>
              <a:rPr lang="en-US" altLang="en-US"/>
              <a:t>(1) Nạp Driver, định nghĩa kết nối</a:t>
            </a:r>
          </a:p>
          <a:p>
            <a:pPr lvl="1"/>
            <a:r>
              <a:rPr lang="en-US" altLang="en-US"/>
              <a:t>(2)Khởi tạo Statement</a:t>
            </a:r>
          </a:p>
          <a:p>
            <a:pPr lvl="1"/>
            <a:r>
              <a:rPr lang="en-US" altLang="en-US"/>
              <a:t>(2)Thực thi Query</a:t>
            </a:r>
          </a:p>
          <a:p>
            <a:pPr lvl="1"/>
            <a:r>
              <a:rPr lang="en-US" altLang="en-US"/>
              <a:t>(2) Xử lý kết quả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3C3432-BFA2-4714-2E38-07EFA84319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Tạo một Class quản lí kết nối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1D5936C-8FDF-2016-89E0-CC51A4642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6776" y="1435100"/>
            <a:ext cx="7921625" cy="5222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Tạo class ConnectionManager với phương thức static</a:t>
            </a:r>
          </a:p>
        </p:txBody>
      </p:sp>
      <p:sp>
        <p:nvSpPr>
          <p:cNvPr id="27652" name="Text Box 7">
            <a:extLst>
              <a:ext uri="{FF2B5EF4-FFF2-40B4-BE49-F238E27FC236}">
                <a16:creationId xmlns:a16="http://schemas.microsoft.com/office/drawing/2014/main" id="{352AC66E-7447-CDDF-57DD-80A4F1A5F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7589" y="2089151"/>
            <a:ext cx="3914775" cy="1787525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5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ConnectionManager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/>
              <a:t>- </a:t>
            </a:r>
            <a:r>
              <a:rPr lang="en-US" altLang="en-US" sz="2000" u="sng"/>
              <a:t>connection</a:t>
            </a:r>
            <a:r>
              <a:rPr lang="en-US" altLang="en-US" sz="2000"/>
              <a:t> : Connection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u="sng"/>
              <a:t>+getConnection( )</a:t>
            </a:r>
            <a:r>
              <a:rPr lang="en-US" altLang="en-US" sz="2000" i="1"/>
              <a:t> </a:t>
            </a:r>
            <a:r>
              <a:rPr lang="en-US" altLang="en-US" sz="2000"/>
              <a:t>: Connection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/>
              <a:t>+close( ) : void</a:t>
            </a:r>
          </a:p>
        </p:txBody>
      </p:sp>
      <p:sp>
        <p:nvSpPr>
          <p:cNvPr id="27653" name="Line 11">
            <a:extLst>
              <a:ext uri="{FF2B5EF4-FFF2-40B4-BE49-F238E27FC236}">
                <a16:creationId xmlns:a16="http://schemas.microsoft.com/office/drawing/2014/main" id="{606C8AD5-65F6-DD10-C688-700C846BB3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7588" y="2497138"/>
            <a:ext cx="38989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4" name="Line 12">
            <a:extLst>
              <a:ext uri="{FF2B5EF4-FFF2-40B4-BE49-F238E27FC236}">
                <a16:creationId xmlns:a16="http://schemas.microsoft.com/office/drawing/2014/main" id="{1D4BF4C5-953E-753E-76DE-93493EB57E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7588" y="2974975"/>
            <a:ext cx="38989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5" name="Text Box 13">
            <a:extLst>
              <a:ext uri="{FF2B5EF4-FFF2-40B4-BE49-F238E27FC236}">
                <a16:creationId xmlns:a16="http://schemas.microsoft.com/office/drawing/2014/main" id="{E91B6E94-7716-8780-C201-5857E1FB0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563" y="4392613"/>
            <a:ext cx="8018462" cy="1338262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5000"/>
              <a:buFont typeface="Wingdings" panose="05000000000000000000" pitchFamily="2" charset="2"/>
              <a:buChar char="§"/>
              <a:tabLst>
                <a:tab pos="450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0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08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Sử dụng </a:t>
            </a:r>
            <a:r>
              <a:rPr lang="en-US" altLang="en-US" sz="1800">
                <a:latin typeface="Arial Unicode MS" pitchFamily="34" charset="-128"/>
                <a:ea typeface="Angsana New" panose="02020603050405020304" pitchFamily="18" charset="-34"/>
                <a:cs typeface="Angsana New" panose="02020603050405020304" pitchFamily="18" charset="-34"/>
              </a:rPr>
              <a:t>class ConnectionManager </a:t>
            </a:r>
            <a:endParaRPr lang="en-US" altLang="en-US" sz="1800" b="1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Connecton con=</a:t>
            </a:r>
            <a:r>
              <a:rPr lang="en-US" altLang="en-US" sz="1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ConnectionManager.getConnection();</a:t>
            </a:r>
            <a:endParaRPr lang="en-US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Statement </a:t>
            </a:r>
            <a:r>
              <a:rPr lang="en-US" altLang="en-US" sz="1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statement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c</a:t>
            </a:r>
            <a:r>
              <a:rPr lang="en-US" altLang="en-US" sz="1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on.createStatement( )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endParaRPr lang="th-TH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D0C9936-08EA-A1EA-C2B9-D960764A6A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ConnectionManager</a:t>
            </a:r>
            <a:endParaRPr lang="th-TH" altLang="en-US"/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DEDD958E-7F57-0FC4-9876-A07FC9BE5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1211264"/>
            <a:ext cx="7581900" cy="2998787"/>
          </a:xfrm>
          <a:prstGeom prst="rect">
            <a:avLst/>
          </a:prstGeom>
          <a:solidFill>
            <a:srgbClr val="FFFFCC"/>
          </a:solidFill>
          <a:ln w="127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5000"/>
              <a:buFont typeface="Wingdings" panose="05000000000000000000" pitchFamily="2" charset="2"/>
              <a:buChar char="§"/>
              <a:tabLst>
                <a:tab pos="450850" algn="l"/>
                <a:tab pos="917575" algn="l"/>
                <a:tab pos="13684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ConnectionManager {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private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String driver = </a:t>
            </a:r>
            <a:r>
              <a:rPr lang="en-US" altLang="en-US" sz="1600" b="1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"com.mysql.jdbc.Driver"</a:t>
            </a:r>
            <a:r>
              <a:rPr lang="en-US" altLang="en-US" sz="1600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private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String url = "</a:t>
            </a:r>
            <a:r>
              <a:rPr lang="en-US" altLang="en-US" sz="1600" b="1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jdbc:mysql://hostname/world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private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String user = "</a:t>
            </a:r>
            <a:r>
              <a:rPr lang="en-US" altLang="en-US" sz="1600" b="1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private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String pwd = "</a:t>
            </a:r>
            <a:r>
              <a:rPr lang="en-US" altLang="en-US" sz="1600" b="1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private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Connection </a:t>
            </a:r>
            <a:r>
              <a:rPr lang="en-US" altLang="en-US" sz="16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connection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600" b="1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private ConnectionManager() {}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public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Connection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getConnection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( ) throws ... {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if ( </a:t>
            </a:r>
            <a:r>
              <a:rPr lang="en-US" altLang="en-US" sz="16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connection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== null ) </a:t>
            </a:r>
            <a:r>
              <a:rPr lang="en-US" altLang="en-US" sz="16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connection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= makeConnection();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return connection; } </a:t>
            </a:r>
            <a:endParaRPr lang="th-TH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676" name="Text Box 3">
            <a:extLst>
              <a:ext uri="{FF2B5EF4-FFF2-40B4-BE49-F238E27FC236}">
                <a16:creationId xmlns:a16="http://schemas.microsoft.com/office/drawing/2014/main" id="{9FC56A0A-8FBE-498C-5F7A-54D68BCC6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4210051"/>
            <a:ext cx="7581900" cy="2462213"/>
          </a:xfrm>
          <a:prstGeom prst="rect">
            <a:avLst/>
          </a:prstGeom>
          <a:solidFill>
            <a:srgbClr val="FFFFCC"/>
          </a:solidFill>
          <a:ln w="127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5000"/>
              <a:buFont typeface="Wingdings" panose="05000000000000000000" pitchFamily="2" charset="2"/>
              <a:buChar char="§"/>
              <a:tabLst>
                <a:tab pos="450850" algn="l"/>
                <a:tab pos="917575" algn="l"/>
                <a:tab pos="13684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private static Connection </a:t>
            </a:r>
            <a:r>
              <a:rPr lang="en-US" altLang="en-US" sz="1400" b="1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makeConnection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( 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throws SQLException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400" b="1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Class.forName( driver );</a:t>
            </a: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3F7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en-US" altLang="en-US" sz="1400" b="1">
                <a:solidFill>
                  <a:srgbClr val="000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connection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DriverManager.</a:t>
            </a:r>
            <a:r>
              <a:rPr lang="en-US" altLang="en-US" sz="14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getConnection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US" altLang="en-U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user, pwd );</a:t>
            </a: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  <a:r>
              <a:rPr lang="en-US" altLang="en-US" sz="1400" b="1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 FileNotFoundException ex ) {</a:t>
            </a: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System.out.println(“Loi ket noi”);</a:t>
            </a:r>
            <a:endParaRPr lang="en-US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return connecton;</a:t>
            </a:r>
            <a:endParaRPr lang="th-TH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400" b="1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C7C395CF-8095-C6DE-E977-B5660FF431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Sử dụng tập tin thuộc tính Properties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F2492FB7-4E70-C52B-6C53-3A28F1539B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5189" y="1543050"/>
            <a:ext cx="7921625" cy="471488"/>
          </a:xfrm>
        </p:spPr>
        <p:txBody>
          <a:bodyPr>
            <a:normAutofit lnSpcReduction="10000"/>
          </a:bodyPr>
          <a:lstStyle/>
          <a:p>
            <a:r>
              <a:rPr lang="en-US" altLang="en-US"/>
              <a:t>db.properties</a:t>
            </a:r>
          </a:p>
          <a:p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4246A6-1219-E400-1286-9967E28B189E}"/>
              </a:ext>
            </a:extLst>
          </p:cNvPr>
          <p:cNvSpPr txBox="1"/>
          <p:nvPr/>
        </p:nvSpPr>
        <p:spPr>
          <a:xfrm>
            <a:off x="2557463" y="2014539"/>
            <a:ext cx="5181600" cy="14763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driver = </a:t>
            </a:r>
            <a:r>
              <a:rPr lang="en-US" altLang="en-US" b="1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"com.mysql.jdbc.Driver“</a:t>
            </a:r>
            <a:endParaRPr lang="en-US" altLang="en-US" b="1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defRPr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url = "</a:t>
            </a:r>
            <a:r>
              <a:rPr lang="en-US" altLang="en-US" b="1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jdbc:mysql://hostname/world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</a:p>
          <a:p>
            <a:pPr eaLnBrk="1" hangingPunct="1">
              <a:defRPr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user = "</a:t>
            </a:r>
            <a:r>
              <a:rPr lang="en-US" altLang="en-US" b="1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</a:p>
          <a:p>
            <a:pPr eaLnBrk="1" hangingPunct="1">
              <a:defRPr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pwd = "</a:t>
            </a:r>
            <a:r>
              <a:rPr lang="en-US" altLang="en-US" b="1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7E7486-908A-57A5-A0BF-53ADB58ADC5A}"/>
              </a:ext>
            </a:extLst>
          </p:cNvPr>
          <p:cNvSpPr txBox="1">
            <a:spLocks/>
          </p:cNvSpPr>
          <p:nvPr/>
        </p:nvSpPr>
        <p:spPr bwMode="auto">
          <a:xfrm>
            <a:off x="2028826" y="3517900"/>
            <a:ext cx="7921625" cy="47148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4572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5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12954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752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1717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+mn-lt"/>
                <a:cs typeface="+mn-cs"/>
              </a:defRPr>
            </a:lvl5pPr>
            <a:lvl6pPr marL="2628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30861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5433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40005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en-US" kern="0"/>
              <a:t>Sử dụng trong code</a:t>
            </a:r>
          </a:p>
          <a:p>
            <a:pPr>
              <a:defRPr/>
            </a:pPr>
            <a:endParaRPr lang="en-US" kern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242275-F2C2-4156-BAA7-FAA8CC02BD4C}"/>
              </a:ext>
            </a:extLst>
          </p:cNvPr>
          <p:cNvSpPr txBox="1"/>
          <p:nvPr/>
        </p:nvSpPr>
        <p:spPr>
          <a:xfrm>
            <a:off x="2557464" y="4135438"/>
            <a:ext cx="7248525" cy="25844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Proprties p=new Properties();</a:t>
            </a:r>
          </a:p>
          <a:p>
            <a:pPr eaLnBrk="1" hangingPunct="1">
              <a:defRPr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FileInputStream fis=new FileInputStream(“db.properties”);</a:t>
            </a:r>
          </a:p>
          <a:p>
            <a:pPr eaLnBrk="1" hangingPunct="1">
              <a:defRPr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p.load(fis);</a:t>
            </a:r>
          </a:p>
          <a:p>
            <a:pPr eaLnBrk="1" hangingPunct="1">
              <a:defRPr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String driver =p.getProperty(“driver”);</a:t>
            </a:r>
          </a:p>
          <a:p>
            <a:pPr eaLnBrk="1" hangingPunct="1">
              <a:defRPr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String url =p.getProperty(“url”);</a:t>
            </a:r>
          </a:p>
          <a:p>
            <a:pPr eaLnBrk="1" hangingPunct="1">
              <a:defRPr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String user=p.getProperty(“user”);</a:t>
            </a:r>
          </a:p>
          <a:p>
            <a:pPr eaLnBrk="1" hangingPunct="1">
              <a:defRPr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Sting pwd=p.getProperty(“pwd”);</a:t>
            </a: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3BA1C83-3D00-E4BE-7ECC-F520149644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Tạo đối tượng truy xuất database (Dao)</a:t>
            </a:r>
            <a:endParaRPr lang="th-TH" altLang="en-US"/>
          </a:p>
        </p:txBody>
      </p:sp>
      <p:sp>
        <p:nvSpPr>
          <p:cNvPr id="30723" name="Text Box 5">
            <a:extLst>
              <a:ext uri="{FF2B5EF4-FFF2-40B4-BE49-F238E27FC236}">
                <a16:creationId xmlns:a16="http://schemas.microsoft.com/office/drawing/2014/main" id="{9D5F1567-4B21-D9E5-275C-86878B209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3976" y="1676400"/>
            <a:ext cx="6651625" cy="3170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5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CustomerDao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findAll():List&lt;Customer&gt;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findByid(id: String ): Customer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insert(c:Customer) : boolean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delete(id:int ) : boolean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update(c:Customer):boolean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findByName(name: String ): List&lt;Customer&gt;</a:t>
            </a:r>
          </a:p>
        </p:txBody>
      </p:sp>
      <p:sp>
        <p:nvSpPr>
          <p:cNvPr id="30724" name="Line 6">
            <a:extLst>
              <a:ext uri="{FF2B5EF4-FFF2-40B4-BE49-F238E27FC236}">
                <a16:creationId xmlns:a16="http://schemas.microsoft.com/office/drawing/2014/main" id="{F670C2FF-E317-4871-1E0D-83F6719E80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3976" y="2062163"/>
            <a:ext cx="66516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9F7F0E67-03F5-D772-510A-2B9F71EDAE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5189" y="292101"/>
            <a:ext cx="7921625" cy="5556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CustomerDao</a:t>
            </a:r>
            <a:endParaRPr lang="th-TH" altLang="en-US"/>
          </a:p>
        </p:txBody>
      </p:sp>
      <p:sp>
        <p:nvSpPr>
          <p:cNvPr id="31747" name="Text Box 3">
            <a:extLst>
              <a:ext uri="{FF2B5EF4-FFF2-40B4-BE49-F238E27FC236}">
                <a16:creationId xmlns:a16="http://schemas.microsoft.com/office/drawing/2014/main" id="{075F3444-A125-2878-697D-74336EC19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4" y="847726"/>
            <a:ext cx="8423275" cy="2062163"/>
          </a:xfrm>
          <a:prstGeom prst="rect">
            <a:avLst/>
          </a:prstGeom>
          <a:solidFill>
            <a:srgbClr val="FFFFCC"/>
          </a:solidFill>
          <a:ln w="127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5000"/>
              <a:buFont typeface="Wingdings" panose="05000000000000000000" pitchFamily="2" charset="2"/>
              <a:buChar char="§"/>
              <a:tabLst>
                <a:tab pos="450850" algn="l"/>
                <a:tab pos="917575" algn="l"/>
                <a:tab pos="13684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  <a:tab pos="917575" algn="l"/>
                <a:tab pos="13684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CustomerDao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public List&lt;Customer&gt; findAll() {}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public Customer findByid(String id ) {}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public boolean insert(Customer c) {}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public boolean delete(int id) {}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public boolean update(Customer l) {}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public List&lt;Customer&gt; findByName( String name ) {}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B53C83-D9DA-F017-32FF-91ABE72867A0}"/>
              </a:ext>
            </a:extLst>
          </p:cNvPr>
          <p:cNvSpPr txBox="1"/>
          <p:nvPr/>
        </p:nvSpPr>
        <p:spPr>
          <a:xfrm>
            <a:off x="1882776" y="2911475"/>
            <a:ext cx="8424863" cy="39703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public</a:t>
            </a:r>
            <a:r>
              <a:rPr lang="en-US"/>
              <a:t> &lt;.return type&gt;  nameMethod(parameter….) </a:t>
            </a:r>
            <a:r>
              <a:rPr lang="en-US">
                <a:solidFill>
                  <a:srgbClr val="FF0000"/>
                </a:solidFill>
              </a:rPr>
              <a:t>{</a:t>
            </a:r>
          </a:p>
          <a:p>
            <a:pPr>
              <a:defRPr/>
            </a:pPr>
            <a:r>
              <a:rPr lang="en-US"/>
              <a:t>	</a:t>
            </a:r>
            <a:r>
              <a:rPr lang="en-US">
                <a:solidFill>
                  <a:srgbClr val="FF0000"/>
                </a:solidFill>
              </a:rPr>
              <a:t>try{</a:t>
            </a:r>
          </a:p>
          <a:p>
            <a:pPr>
              <a:defRPr/>
            </a:pPr>
            <a:r>
              <a:rPr lang="en-US"/>
              <a:t>	     </a:t>
            </a:r>
            <a:r>
              <a:rPr lang="en-US">
                <a:solidFill>
                  <a:srgbClr val="FF0000"/>
                </a:solidFill>
              </a:rPr>
              <a:t>Connection con=ConnectionManaget.getConection();</a:t>
            </a:r>
          </a:p>
          <a:p>
            <a:pPr>
              <a:defRPr/>
            </a:pPr>
            <a:r>
              <a:rPr lang="en-US"/>
              <a:t>	</a:t>
            </a:r>
            <a:r>
              <a:rPr lang="en-US">
                <a:solidFill>
                  <a:srgbClr val="FF0000"/>
                </a:solidFill>
              </a:rPr>
              <a:t>      String sql</a:t>
            </a:r>
            <a:r>
              <a:rPr lang="en-US"/>
              <a:t>=“    “;  //câu lệnh truy vấn	</a:t>
            </a:r>
          </a:p>
          <a:p>
            <a:pPr>
              <a:defRPr/>
            </a:pPr>
            <a:r>
              <a:rPr lang="en-US"/>
              <a:t>                    </a:t>
            </a:r>
            <a:r>
              <a:rPr lang="en-US">
                <a:solidFill>
                  <a:srgbClr val="FF0000"/>
                </a:solidFill>
              </a:rPr>
              <a:t>PreparedStatement ps=con.prepareStatement(“sql");</a:t>
            </a:r>
          </a:p>
          <a:p>
            <a:pPr>
              <a:defRPr/>
            </a:pPr>
            <a:r>
              <a:rPr lang="en-US"/>
              <a:t>	      //Cung cấp tham số câu truy vấn nếu có </a:t>
            </a:r>
            <a:r>
              <a:rPr lang="en-US">
                <a:solidFill>
                  <a:srgbClr val="FF0000"/>
                </a:solidFill>
              </a:rPr>
              <a:t>ps.set</a:t>
            </a:r>
            <a:r>
              <a:rPr lang="en-US"/>
              <a:t>Type(index, value);</a:t>
            </a:r>
          </a:p>
          <a:p>
            <a:pPr>
              <a:defRPr/>
            </a:pPr>
            <a:r>
              <a:rPr lang="en-US"/>
              <a:t>	      //Thực thi câu lệnh : </a:t>
            </a:r>
            <a:r>
              <a:rPr lang="en-US">
                <a:solidFill>
                  <a:srgbClr val="FF0000"/>
                </a:solidFill>
              </a:rPr>
              <a:t>ps.executeQuery() </a:t>
            </a:r>
            <a:r>
              <a:rPr lang="en-US"/>
              <a:t>hoặc </a:t>
            </a:r>
            <a:r>
              <a:rPr lang="en-US">
                <a:solidFill>
                  <a:srgbClr val="FF0000"/>
                </a:solidFill>
              </a:rPr>
              <a:t>ps.executeUpdate()</a:t>
            </a:r>
          </a:p>
          <a:p>
            <a:pPr>
              <a:defRPr/>
            </a:pPr>
            <a:r>
              <a:rPr lang="en-US"/>
              <a:t>	     //Xử lý kết quả</a:t>
            </a:r>
          </a:p>
          <a:p>
            <a:pPr>
              <a:defRPr/>
            </a:pPr>
            <a:r>
              <a:rPr lang="en-US"/>
              <a:t>	     </a:t>
            </a:r>
            <a:r>
              <a:rPr lang="en-US">
                <a:solidFill>
                  <a:srgbClr val="FF0000"/>
                </a:solidFill>
              </a:rPr>
              <a:t>return</a:t>
            </a:r>
            <a:r>
              <a:rPr lang="en-US"/>
              <a:t> ……; //</a:t>
            </a:r>
          </a:p>
          <a:p>
            <a:pPr>
              <a:defRPr/>
            </a:pPr>
            <a:r>
              <a:rPr lang="en-US"/>
              <a:t>	</a:t>
            </a:r>
            <a:r>
              <a:rPr lang="en-US">
                <a:solidFill>
                  <a:srgbClr val="FF0000"/>
                </a:solidFill>
              </a:rPr>
              <a:t>}catch(Exception e){</a:t>
            </a:r>
          </a:p>
          <a:p>
            <a:pPr>
              <a:defRPr/>
            </a:pPr>
            <a:r>
              <a:rPr lang="en-US"/>
              <a:t>		</a:t>
            </a:r>
            <a:r>
              <a:rPr lang="en-US">
                <a:solidFill>
                  <a:srgbClr val="FF0000"/>
                </a:solidFill>
              </a:rPr>
              <a:t>System.out.println(“</a:t>
            </a:r>
            <a:r>
              <a:rPr lang="en-US"/>
              <a:t>Thông báo lỗi truy cập</a:t>
            </a:r>
            <a:r>
              <a:rPr lang="en-US">
                <a:solidFill>
                  <a:srgbClr val="FF0000"/>
                </a:solidFill>
              </a:rPr>
              <a:t>”);</a:t>
            </a:r>
          </a:p>
          <a:p>
            <a:pPr>
              <a:defRPr/>
            </a:pPr>
            <a:r>
              <a:rPr lang="en-US"/>
              <a:t>	</a:t>
            </a:r>
            <a:r>
              <a:rPr lang="en-US">
                <a:solidFill>
                  <a:srgbClr val="FF0000"/>
                </a:solidFill>
              </a:rPr>
              <a:t>}</a:t>
            </a:r>
          </a:p>
          <a:p>
            <a:pPr>
              <a:defRPr/>
            </a:pPr>
            <a:r>
              <a:rPr lang="en-US"/>
              <a:t>              </a:t>
            </a:r>
            <a:r>
              <a:rPr lang="en-US">
                <a:solidFill>
                  <a:srgbClr val="FF0000"/>
                </a:solidFill>
              </a:rPr>
              <a:t>return</a:t>
            </a:r>
            <a:r>
              <a:rPr lang="en-US"/>
              <a:t> …….;</a:t>
            </a: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DBD4ED51-05F2-1C9A-7191-AC57AE5A0A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3082" y="277812"/>
            <a:ext cx="3094761" cy="503237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CustomerDao</a:t>
            </a:r>
          </a:p>
        </p:txBody>
      </p:sp>
      <p:pic>
        <p:nvPicPr>
          <p:cNvPr id="32771" name="Picture 4">
            <a:extLst>
              <a:ext uri="{FF2B5EF4-FFF2-40B4-BE49-F238E27FC236}">
                <a16:creationId xmlns:a16="http://schemas.microsoft.com/office/drawing/2014/main" id="{745D7CA4-FDDA-020D-7F37-F3CEBBE24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57" y="2328860"/>
            <a:ext cx="8296464" cy="4529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Content Placeholder 2">
            <a:extLst>
              <a:ext uri="{FF2B5EF4-FFF2-40B4-BE49-F238E27FC236}">
                <a16:creationId xmlns:a16="http://schemas.microsoft.com/office/drawing/2014/main" id="{3B79B564-B95F-D31C-2908-FDEB2129D6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76870" y="277813"/>
            <a:ext cx="8168447" cy="2000250"/>
          </a:xfrm>
        </p:spPr>
        <p:txBody>
          <a:bodyPr>
            <a:noAutofit/>
          </a:bodyPr>
          <a:lstStyle/>
          <a:p>
            <a:r>
              <a:rPr lang="en-US" altLang="en-US" sz="2000" b="1">
                <a:solidFill>
                  <a:srgbClr val="FF0000"/>
                </a:solidFill>
              </a:rPr>
              <a:t>L</a:t>
            </a:r>
            <a:r>
              <a:rPr lang="vi-VN" altLang="en-US" sz="2000" b="1">
                <a:solidFill>
                  <a:srgbClr val="FF0000"/>
                </a:solidFill>
              </a:rPr>
              <a:t>ư</a:t>
            </a:r>
            <a:r>
              <a:rPr lang="en-US" altLang="en-US" sz="2000" b="1">
                <a:solidFill>
                  <a:srgbClr val="FF0000"/>
                </a:solidFill>
              </a:rPr>
              <a:t>u ý:</a:t>
            </a:r>
          </a:p>
          <a:p>
            <a:pPr lvl="1"/>
            <a:r>
              <a:rPr lang="en-US" altLang="en-US" sz="2000"/>
              <a:t>Kiểu dữ liệu Date khi l</a:t>
            </a:r>
            <a:r>
              <a:rPr lang="vi-VN" altLang="en-US" sz="2000"/>
              <a:t>ư</a:t>
            </a:r>
            <a:r>
              <a:rPr lang="en-US" altLang="en-US" sz="2000"/>
              <a:t>u xuống database cần chuyển đổi</a:t>
            </a:r>
          </a:p>
          <a:p>
            <a:pPr lvl="2"/>
            <a:r>
              <a:rPr lang="en-US" altLang="en-US"/>
              <a:t>java.uti.Date</a:t>
            </a:r>
            <a:r>
              <a:rPr lang="en-US" altLang="en-US">
                <a:sym typeface="Wingdings" panose="05000000000000000000" pitchFamily="2" charset="2"/>
              </a:rPr>
              <a:t>java.sql.Date</a:t>
            </a:r>
          </a:p>
          <a:p>
            <a:pPr lvl="2"/>
            <a:r>
              <a:rPr lang="en-US" altLang="en-US"/>
              <a:t>java.sql.Date </a:t>
            </a:r>
            <a:r>
              <a:rPr lang="en-US" altLang="en-US">
                <a:solidFill>
                  <a:srgbClr val="FF0000"/>
                </a:solidFill>
              </a:rPr>
              <a:t>dsql</a:t>
            </a:r>
            <a:r>
              <a:rPr lang="en-US" altLang="en-US"/>
              <a:t>=new java.sql.Date(</a:t>
            </a:r>
            <a:r>
              <a:rPr lang="en-US" altLang="en-US">
                <a:solidFill>
                  <a:srgbClr val="FF0000"/>
                </a:solidFill>
              </a:rPr>
              <a:t>duti</a:t>
            </a:r>
            <a:r>
              <a:rPr lang="en-US" altLang="en-US"/>
              <a:t>.getTime());</a:t>
            </a:r>
          </a:p>
          <a:p>
            <a:pPr lvl="1"/>
            <a:r>
              <a:rPr lang="en-US" altLang="en-US" sz="2000"/>
              <a:t>Đối với khóa tự động: khi thêm mới cần truy xuất id do RDBMS tạo ra</a:t>
            </a:r>
          </a:p>
        </p:txBody>
      </p:sp>
      <p:sp>
        <p:nvSpPr>
          <p:cNvPr id="6" name="Callout: Bent Line 5">
            <a:extLst>
              <a:ext uri="{FF2B5EF4-FFF2-40B4-BE49-F238E27FC236}">
                <a16:creationId xmlns:a16="http://schemas.microsoft.com/office/drawing/2014/main" id="{CD9D4837-C4E0-93A7-4996-9B3C5AA8E533}"/>
              </a:ext>
            </a:extLst>
          </p:cNvPr>
          <p:cNvSpPr/>
          <p:nvPr/>
        </p:nvSpPr>
        <p:spPr>
          <a:xfrm>
            <a:off x="7504114" y="4513263"/>
            <a:ext cx="1881187" cy="6223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755"/>
              <a:gd name="adj6" fmla="val -84696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Bỏ nếu id không auto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860DAA0-D5B9-A891-BF55-A322C36FFD17}"/>
              </a:ext>
            </a:extLst>
          </p:cNvPr>
          <p:cNvCxnSpPr>
            <a:cxnSpLocks/>
          </p:cNvCxnSpPr>
          <p:nvPr/>
        </p:nvCxnSpPr>
        <p:spPr>
          <a:xfrm flipH="1" flipV="1">
            <a:off x="5394325" y="3429001"/>
            <a:ext cx="2109788" cy="108426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5B103A5-502A-B0C4-7441-DE6D72BD3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Bài tập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CD202DB-324E-574F-CA46-D662CF467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5189" y="1196975"/>
            <a:ext cx="7921625" cy="116205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/>
              <a:t>Hoàn tất code cho CustomerDao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Viết ứng dụng hoàn chỉnh.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07C4FCE6-3598-8C77-19F8-7491E297A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477" y="2676249"/>
            <a:ext cx="48387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9E382EA3-08B6-670B-CBE9-6DCF41B18B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Tổng kết</a:t>
            </a:r>
            <a:endParaRPr lang="th-TH" alt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04488C0-0FD0-ABEA-0271-A12775C60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1" y="1400175"/>
            <a:ext cx="9218614" cy="4984750"/>
          </a:xfrm>
        </p:spPr>
        <p:txBody>
          <a:bodyPr/>
          <a:lstStyle/>
          <a:p>
            <a:pPr algn="just" eaLnBrk="1" hangingPunct="1">
              <a:spcBef>
                <a:spcPct val="40000"/>
              </a:spcBef>
            </a:pPr>
            <a:r>
              <a:rPr lang="en-US" altLang="en-US" sz="2000"/>
              <a:t>JDBC là một chuẩn giao tiếp cho phép truyền thông với các dạng database khác nhau</a:t>
            </a:r>
          </a:p>
          <a:p>
            <a:pPr algn="just" eaLnBrk="1" hangingPunct="1">
              <a:spcBef>
                <a:spcPct val="40000"/>
              </a:spcBef>
            </a:pPr>
            <a:r>
              <a:rPr lang="en-US" altLang="en-US" sz="2000"/>
              <a:t>Để sử dụng JDBC , cần một driver JDBC hoặc ODBC </a:t>
            </a:r>
            <a:r>
              <a:rPr lang="en-US" altLang="en-US" sz="2000">
                <a:solidFill>
                  <a:schemeClr val="tx2"/>
                </a:solidFill>
              </a:rPr>
              <a:t>của database tương ứng</a:t>
            </a:r>
            <a:r>
              <a:rPr lang="en-US" altLang="en-US" sz="2000"/>
              <a:t>.</a:t>
            </a:r>
          </a:p>
          <a:p>
            <a:pPr algn="just" eaLnBrk="1" hangingPunct="1">
              <a:spcBef>
                <a:spcPct val="40000"/>
              </a:spcBef>
            </a:pPr>
            <a:r>
              <a:rPr lang="en-US" altLang="en-US" sz="2000"/>
              <a:t>Chương trình cần nạp một driver. </a:t>
            </a:r>
            <a:r>
              <a:rPr lang="en-US" altLang="en-US" sz="2000">
                <a:solidFill>
                  <a:schemeClr val="tx2"/>
                </a:solidFill>
              </a:rPr>
              <a:t>DriverManager</a:t>
            </a:r>
            <a:r>
              <a:rPr lang="en-US" altLang="en-US" sz="2000"/>
              <a:t> sẽ chọn một driver khi khởi tạo một Connection.</a:t>
            </a:r>
          </a:p>
          <a:p>
            <a:pPr algn="just" eaLnBrk="1" hangingPunct="1">
              <a:spcBef>
                <a:spcPct val="40000"/>
              </a:spcBef>
            </a:pPr>
            <a:r>
              <a:rPr lang="en-US" altLang="en-US" sz="2000"/>
              <a:t>Một đối tượng </a:t>
            </a:r>
            <a:r>
              <a:rPr lang="en-US" altLang="en-US" sz="2000">
                <a:solidFill>
                  <a:schemeClr val="tx2"/>
                </a:solidFill>
              </a:rPr>
              <a:t>Connection</a:t>
            </a:r>
            <a:r>
              <a:rPr lang="en-US" altLang="en-US" sz="2000"/>
              <a:t> : quản lí nối kết tới database.</a:t>
            </a:r>
          </a:p>
          <a:p>
            <a:pPr algn="just" eaLnBrk="1" hangingPunct="1">
              <a:spcBef>
                <a:spcPct val="40000"/>
              </a:spcBef>
            </a:pPr>
            <a:r>
              <a:rPr lang="en-US" altLang="en-US" sz="2000"/>
              <a:t>Một đối tượng </a:t>
            </a:r>
            <a:r>
              <a:rPr lang="en-US" altLang="en-US" sz="2000">
                <a:solidFill>
                  <a:schemeClr val="tx2"/>
                </a:solidFill>
              </a:rPr>
              <a:t>Statement</a:t>
            </a:r>
            <a:r>
              <a:rPr lang="en-US" altLang="en-US" sz="2000"/>
              <a:t> được dùng để thực hiện các lệnh tương tác database và trả về kết quả.</a:t>
            </a:r>
          </a:p>
          <a:p>
            <a:pPr algn="just" eaLnBrk="1" hangingPunct="1">
              <a:spcBef>
                <a:spcPct val="40000"/>
              </a:spcBef>
            </a:pPr>
            <a:r>
              <a:rPr lang="en-US" altLang="en-US" sz="2000"/>
              <a:t>Một truy vấn trả về một </a:t>
            </a:r>
            <a:r>
              <a:rPr lang="en-US" altLang="en-US" sz="2000">
                <a:solidFill>
                  <a:schemeClr val="tx2"/>
                </a:solidFill>
              </a:rPr>
              <a:t>ResultSet</a:t>
            </a:r>
            <a:r>
              <a:rPr lang="en-US" altLang="en-US" sz="2000"/>
              <a:t> chứa :data và meta-data.</a:t>
            </a:r>
          </a:p>
          <a:p>
            <a:pPr algn="just" eaLnBrk="1" hangingPunct="1">
              <a:spcBef>
                <a:spcPct val="40000"/>
              </a:spcBef>
            </a:pPr>
            <a:r>
              <a:rPr lang="en-US" altLang="en-US" sz="2000"/>
              <a:t>Một ResultSet có thể “read-only” hoặc “updateable” dựa vào đối tượng Statement.</a:t>
            </a:r>
          </a:p>
          <a:p>
            <a:pPr algn="just" eaLnBrk="1" hangingPunct="1">
              <a:spcBef>
                <a:spcPct val="40000"/>
              </a:spcBef>
            </a:pPr>
            <a:r>
              <a:rPr lang="en-US" altLang="en-US" sz="2000"/>
              <a:t>Cần đóng </a:t>
            </a:r>
            <a:r>
              <a:rPr lang="en-US" altLang="en-US" sz="2000">
                <a:solidFill>
                  <a:schemeClr val="tx2"/>
                </a:solidFill>
              </a:rPr>
              <a:t>Statement</a:t>
            </a:r>
            <a:r>
              <a:rPr lang="en-US" altLang="en-US" sz="2000"/>
              <a:t> hoặc </a:t>
            </a:r>
            <a:r>
              <a:rPr lang="en-US" altLang="en-US" sz="2000">
                <a:solidFill>
                  <a:schemeClr val="tx2"/>
                </a:solidFill>
              </a:rPr>
              <a:t>Connection</a:t>
            </a:r>
            <a:r>
              <a:rPr lang="en-US" altLang="en-US" sz="2000"/>
              <a:t> khi hoàn thành: thu hồi tài nguyên và đảm bảo tính toàn vẹn.</a:t>
            </a:r>
          </a:p>
          <a:p>
            <a:pPr algn="just" eaLnBrk="1" hangingPunct="1"/>
            <a:endParaRPr lang="th-TH" altLang="en-US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7A702924-38F1-9461-4C5A-7482C26D72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Resources</a:t>
            </a:r>
            <a:endParaRPr lang="th-TH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0B17166F-B99D-938B-7960-5D0706D04D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tx2"/>
                </a:solidFill>
              </a:rPr>
              <a:t>MySQL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http://dev.mysql.com/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tx2"/>
                </a:solidFill>
              </a:rPr>
              <a:t>Learning SQL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http://www.w3schools.com/sql/  </a:t>
            </a:r>
            <a:br>
              <a:rPr lang="en-US" altLang="en-US"/>
            </a:br>
            <a:r>
              <a:rPr lang="en-US" altLang="en-US"/>
              <a:t>nice tutorial and command reference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tx2"/>
                </a:solidFill>
              </a:rPr>
              <a:t>Learning JDBC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JDBC Trail in Sun's </a:t>
            </a:r>
            <a:r>
              <a:rPr lang="en-US" altLang="en-US" i="1"/>
              <a:t>Java Tutorial</a:t>
            </a:r>
            <a:r>
              <a:rPr lang="en-US" altLang="en-US"/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Dietel, </a:t>
            </a:r>
            <a:r>
              <a:rPr lang="en-US" altLang="en-US" i="1"/>
              <a:t>Java How To Program</a:t>
            </a:r>
            <a:r>
              <a:rPr lang="en-US" altLang="en-US"/>
              <a:t>, Chapter 25.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... and </a:t>
            </a:r>
            <a:r>
              <a:rPr lang="en-US" altLang="en-US" i="1"/>
              <a:t>zillions</a:t>
            </a:r>
            <a:r>
              <a:rPr lang="en-US" altLang="en-US"/>
              <a:t> of resources on the web </a:t>
            </a:r>
            <a:endParaRPr lang="th-TH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2380</Words>
  <Application>Microsoft Office PowerPoint</Application>
  <PresentationFormat>Widescreen</PresentationFormat>
  <Paragraphs>341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-apple-system</vt:lpstr>
      <vt:lpstr>Arial</vt:lpstr>
      <vt:lpstr>Arial Unicode MS</vt:lpstr>
      <vt:lpstr>Calibri</vt:lpstr>
      <vt:lpstr>Calibri Light</vt:lpstr>
      <vt:lpstr>Consolas</vt:lpstr>
      <vt:lpstr>Courier New</vt:lpstr>
      <vt:lpstr>Times New Roman</vt:lpstr>
      <vt:lpstr>Wingdings</vt:lpstr>
      <vt:lpstr>Office Theme</vt:lpstr>
      <vt:lpstr>Chương 5: Truy xuất Database với JDBC</vt:lpstr>
      <vt:lpstr>1. Tổng quan JDBC</vt:lpstr>
      <vt:lpstr>2. Kiến trúc JDBC</vt:lpstr>
      <vt:lpstr>3. JDBC API</vt:lpstr>
      <vt:lpstr>4. Các kiểu JDBC Driver</vt:lpstr>
      <vt:lpstr>5. Các bước cơ bản trong JDBC</vt:lpstr>
      <vt:lpstr>5. Các bước cơ bản trong JDBC</vt:lpstr>
      <vt:lpstr>6. JDBC Code</vt:lpstr>
      <vt:lpstr>(1) kết nối Database</vt:lpstr>
      <vt:lpstr>Database Driver?</vt:lpstr>
      <vt:lpstr>Database URL</vt:lpstr>
      <vt:lpstr>Câu lệnh Statement</vt:lpstr>
      <vt:lpstr>Statement</vt:lpstr>
      <vt:lpstr>PreparedStatement</vt:lpstr>
      <vt:lpstr>CallableStatement</vt:lpstr>
      <vt:lpstr>Ví dụ: CallableStatement</vt:lpstr>
      <vt:lpstr>Thực thi Statement</vt:lpstr>
      <vt:lpstr>ResultSet</vt:lpstr>
      <vt:lpstr>ResultSet Methods</vt:lpstr>
      <vt:lpstr>Quản lý Transaction</vt:lpstr>
      <vt:lpstr>CaseStudy 1</vt:lpstr>
      <vt:lpstr>Các bước thực hiện</vt:lpstr>
      <vt:lpstr>Tạo một Class quản lí kết nối</vt:lpstr>
      <vt:lpstr>class ConnectionManager</vt:lpstr>
      <vt:lpstr>Sử dụng tập tin thuộc tính Properties</vt:lpstr>
      <vt:lpstr>Tạo đối tượng truy xuất database (Dao)</vt:lpstr>
      <vt:lpstr>CustomerDao</vt:lpstr>
      <vt:lpstr>CustomerDao</vt:lpstr>
      <vt:lpstr>Bài tập</vt:lpstr>
      <vt:lpstr>Tổng kết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JDBC API</dc:title>
  <dc:creator>Administrator</dc:creator>
  <cp:lastModifiedBy>DucLe</cp:lastModifiedBy>
  <cp:revision>19</cp:revision>
  <dcterms:created xsi:type="dcterms:W3CDTF">2024-03-23T02:33:25Z</dcterms:created>
  <dcterms:modified xsi:type="dcterms:W3CDTF">2024-03-26T08:40:54Z</dcterms:modified>
</cp:coreProperties>
</file>