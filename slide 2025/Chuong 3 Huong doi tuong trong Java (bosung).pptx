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53"/>
  </p:notesMasterIdLst>
  <p:handoutMasterIdLst>
    <p:handoutMasterId r:id="rId54"/>
  </p:handoutMasterIdLst>
  <p:sldIdLst>
    <p:sldId id="256" r:id="rId2"/>
    <p:sldId id="327" r:id="rId3"/>
    <p:sldId id="371" r:id="rId4"/>
    <p:sldId id="372" r:id="rId5"/>
    <p:sldId id="328" r:id="rId6"/>
    <p:sldId id="374" r:id="rId7"/>
    <p:sldId id="375" r:id="rId8"/>
    <p:sldId id="376" r:id="rId9"/>
    <p:sldId id="378" r:id="rId10"/>
    <p:sldId id="379" r:id="rId11"/>
    <p:sldId id="380" r:id="rId12"/>
    <p:sldId id="381" r:id="rId13"/>
    <p:sldId id="382" r:id="rId14"/>
    <p:sldId id="383" r:id="rId15"/>
    <p:sldId id="337" r:id="rId16"/>
    <p:sldId id="359" r:id="rId17"/>
    <p:sldId id="360" r:id="rId18"/>
    <p:sldId id="361" r:id="rId19"/>
    <p:sldId id="362" r:id="rId20"/>
    <p:sldId id="363" r:id="rId21"/>
    <p:sldId id="338" r:id="rId22"/>
    <p:sldId id="339" r:id="rId23"/>
    <p:sldId id="340" r:id="rId24"/>
    <p:sldId id="384" r:id="rId25"/>
    <p:sldId id="341" r:id="rId26"/>
    <p:sldId id="386" r:id="rId27"/>
    <p:sldId id="385" r:id="rId28"/>
    <p:sldId id="394" r:id="rId29"/>
    <p:sldId id="388" r:id="rId30"/>
    <p:sldId id="389" r:id="rId31"/>
    <p:sldId id="390" r:id="rId32"/>
    <p:sldId id="391" r:id="rId33"/>
    <p:sldId id="396" r:id="rId34"/>
    <p:sldId id="366" r:id="rId35"/>
    <p:sldId id="367" r:id="rId36"/>
    <p:sldId id="352" r:id="rId37"/>
    <p:sldId id="357" r:id="rId38"/>
    <p:sldId id="358" r:id="rId39"/>
    <p:sldId id="321" r:id="rId40"/>
    <p:sldId id="257" r:id="rId41"/>
    <p:sldId id="258" r:id="rId42"/>
    <p:sldId id="260" r:id="rId43"/>
    <p:sldId id="263" r:id="rId44"/>
    <p:sldId id="261" r:id="rId45"/>
    <p:sldId id="264" r:id="rId46"/>
    <p:sldId id="259" r:id="rId47"/>
    <p:sldId id="265" r:id="rId48"/>
    <p:sldId id="266" r:id="rId49"/>
    <p:sldId id="267" r:id="rId50"/>
    <p:sldId id="268" r:id="rId51"/>
    <p:sldId id="398" r:id="rId5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+mn-ea"/>
        <a:cs typeface="Times New Roman" pitchFamily="6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965668"/>
    <a:srgbClr val="FF714F"/>
    <a:srgbClr val="C3F4FF"/>
    <a:srgbClr val="EBFBFF"/>
    <a:srgbClr val="D1F6FF"/>
    <a:srgbClr val="A828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26" y="54"/>
      </p:cViewPr>
      <p:guideLst>
        <p:guide orient="horz" pos="2112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 smtClean="0">
                <a:latin typeface="Tahoma" pitchFamily="34" charset="0"/>
              </a:defRPr>
            </a:lvl1pPr>
          </a:lstStyle>
          <a:p>
            <a:pPr>
              <a:defRPr/>
            </a:pPr>
            <a:fld id="{ED66C310-2828-4B1B-933D-1401CDB710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62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defRPr sz="13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defRPr sz="1300" smtClean="0">
                <a:latin typeface="Tahoma" pitchFamily="34" charset="0"/>
              </a:defRPr>
            </a:lvl1pPr>
          </a:lstStyle>
          <a:p>
            <a:pPr>
              <a:defRPr/>
            </a:pPr>
            <a:fld id="{3D01BB84-CA58-4015-A290-C725C729B3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309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fld id="{7D51FFD9-8137-4B0B-B7CD-B640D0AEBE0C}" type="slidenum">
              <a:rPr lang="en-US" sz="1300">
                <a:latin typeface="Tahoma" pitchFamily="34" charset="0"/>
              </a:rPr>
              <a:pPr/>
              <a:t>1</a:t>
            </a:fld>
            <a:endParaRPr lang="en-US" sz="1300">
              <a:latin typeface="Tahoma" pitchFamily="34" charset="0"/>
            </a:endParaRPr>
          </a:p>
        </p:txBody>
      </p:sp>
      <p:sp>
        <p:nvSpPr>
          <p:cNvPr id="430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55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fld id="{9A0EE487-931A-49D3-A245-CAD39E02D27D}" type="slidenum">
              <a:rPr lang="en-US" sz="1300">
                <a:latin typeface="Tahoma" pitchFamily="34" charset="0"/>
              </a:rPr>
              <a:pPr/>
              <a:t>16</a:t>
            </a:fld>
            <a:endParaRPr lang="en-US" sz="1300">
              <a:latin typeface="Tahoma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60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1447800"/>
            <a:ext cx="9144000" cy="160020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9CF2BD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endParaRPr lang="en-US" sz="2400">
              <a:latin typeface="Times New Roman" pitchFamily="64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534400" y="5257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8534400" y="5486400"/>
            <a:ext cx="60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209800" y="5257800"/>
            <a:ext cx="838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V="1">
            <a:off x="0" y="4648200"/>
            <a:ext cx="1143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 flipV="1">
            <a:off x="685800" y="4648200"/>
            <a:ext cx="1524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3048000" y="5257800"/>
            <a:ext cx="3048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3352800" y="5562600"/>
            <a:ext cx="3048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6400800" y="5257800"/>
            <a:ext cx="4572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6858000" y="5257800"/>
            <a:ext cx="1676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286000" y="5715000"/>
            <a:ext cx="6096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2400">
                <a:latin typeface="Arial" charset="0"/>
              </a:rPr>
              <a:t>Trường Đại học Công nghệ Sài gòn</a:t>
            </a:r>
          </a:p>
          <a:p>
            <a:pPr>
              <a:spcBef>
                <a:spcPct val="0"/>
              </a:spcBef>
            </a:pPr>
            <a:r>
              <a:rPr lang="en-US" sz="2400">
                <a:latin typeface="Arial" charset="0"/>
              </a:rPr>
              <a:t>Khoa Công nghệ Thông tin</a:t>
            </a:r>
          </a:p>
        </p:txBody>
      </p:sp>
      <p:pic>
        <p:nvPicPr>
          <p:cNvPr id="15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5486400"/>
            <a:ext cx="2185987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286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352800"/>
            <a:ext cx="6400800" cy="1905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92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443038"/>
            <a:ext cx="6400800" cy="1600200"/>
          </a:xfrm>
        </p:spPr>
        <p:txBody>
          <a:bodyPr anchor="ctr"/>
          <a:lstStyle>
            <a:lvl1pPr>
              <a:defRPr sz="32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531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B04A5-0E0A-4896-8FB1-19301E48B4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0A301-BAB2-40FC-8545-2200ABDB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3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38200"/>
            <a:ext cx="4495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495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86A9F-BCD6-4ECA-BCA0-5A5B46F9E2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85D33-98F3-4D27-9489-38ABF8BDAA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8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EC7C8-1BFF-43FD-A27E-A73D39380A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6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BF41A-C630-41B5-B507-99894258C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7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401D9-FE12-44B1-A02B-BF928082FD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5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F4579-2714-4348-9E45-88CED1EE81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5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64D98-5B65-4CEB-AC17-B3CFD1ED5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83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4925"/>
            <a:ext cx="2286000" cy="6289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4925"/>
            <a:ext cx="6705600" cy="6289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16164-B18C-433D-8AF5-B87BC6A3D8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64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8534400" y="6400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8534400" y="6629400"/>
            <a:ext cx="60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0" y="34925"/>
            <a:ext cx="914400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9144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18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477000"/>
            <a:ext cx="5257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918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38900"/>
            <a:ext cx="438150" cy="342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smtClean="0">
                <a:latin typeface="+mn-lt"/>
              </a:defRPr>
            </a:lvl1pPr>
          </a:lstStyle>
          <a:p>
            <a:pPr>
              <a:defRPr/>
            </a:pPr>
            <a:fld id="{0F458EC9-89F3-447B-9203-F1D59A890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533400" y="6400800"/>
            <a:ext cx="2667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 flipV="1">
            <a:off x="0" y="6248400"/>
            <a:ext cx="3048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 flipH="1" flipV="1">
            <a:off x="152400" y="6248400"/>
            <a:ext cx="381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3200400" y="6400800"/>
            <a:ext cx="1524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3352800" y="6553200"/>
            <a:ext cx="3276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" name="Line 14"/>
          <p:cNvSpPr>
            <a:spLocks noChangeShapeType="1"/>
          </p:cNvSpPr>
          <p:nvPr/>
        </p:nvSpPr>
        <p:spPr bwMode="auto">
          <a:xfrm flipV="1">
            <a:off x="6629400" y="6400800"/>
            <a:ext cx="2286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" name="Line 15"/>
          <p:cNvSpPr>
            <a:spLocks noChangeShapeType="1"/>
          </p:cNvSpPr>
          <p:nvPr/>
        </p:nvSpPr>
        <p:spPr bwMode="auto">
          <a:xfrm>
            <a:off x="6858000" y="6400800"/>
            <a:ext cx="1676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498475" y="6400800"/>
            <a:ext cx="259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200">
                <a:latin typeface="Arial" charset="0"/>
              </a:rPr>
              <a:t>Trường Đại học Công nghệ Sài gòn</a:t>
            </a:r>
          </a:p>
          <a:p>
            <a:pPr>
              <a:spcBef>
                <a:spcPct val="0"/>
              </a:spcBef>
            </a:pPr>
            <a:r>
              <a:rPr lang="en-US" sz="1200">
                <a:latin typeface="Arial" charset="0"/>
              </a:rPr>
              <a:t>Khoa Công nghệ Thông tin</a:t>
            </a:r>
          </a:p>
        </p:txBody>
      </p:sp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467475"/>
            <a:ext cx="58578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6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6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6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6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6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6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6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64" charset="0"/>
        </a:defRPr>
      </a:lvl9pPr>
    </p:titleStyle>
    <p:bodyStyle>
      <a:lvl1pPr marL="2857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 sz="22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5pPr>
      <a:lvl6pPr marL="20574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6pPr>
      <a:lvl7pPr marL="25146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7pPr>
      <a:lvl8pPr marL="29718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8pPr>
      <a:lvl9pPr marL="342900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81000"/>
            <a:ext cx="6399213" cy="960438"/>
          </a:xfrm>
        </p:spPr>
        <p:txBody>
          <a:bodyPr/>
          <a:lstStyle/>
          <a:p>
            <a:pPr algn="l" eaLnBrk="1" hangingPunct="1"/>
            <a:r>
              <a:rPr lang="en-GB" b="0"/>
              <a:t>Chương  3</a:t>
            </a:r>
            <a:endParaRPr lang="en-US" b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524000"/>
            <a:ext cx="8229600" cy="1524000"/>
          </a:xfrm>
        </p:spPr>
        <p:txBody>
          <a:bodyPr/>
          <a:lstStyle/>
          <a:p>
            <a:pPr eaLnBrk="1" hangingPunct="1"/>
            <a:r>
              <a:rPr lang="en-US"/>
              <a:t>Cấu trúc OOP trong Java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Nội Dung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19100" indent="-419100" eaLnBrk="1" hangingPunct="1">
              <a:lnSpc>
                <a:spcPct val="80000"/>
              </a:lnSpc>
            </a:pPr>
            <a:r>
              <a:rPr lang="vi-VN" sz="2000"/>
              <a:t>Các khái niệm cơ bản về lớp, đối tượng.</a:t>
            </a:r>
          </a:p>
          <a:p>
            <a:pPr marL="419100" indent="-419100" eaLnBrk="1" hangingPunct="1">
              <a:lnSpc>
                <a:spcPct val="80000"/>
              </a:lnSpc>
            </a:pPr>
            <a:r>
              <a:rPr lang="vi-VN" sz="2000"/>
              <a:t>Lớp và đối tượng trong java</a:t>
            </a:r>
            <a:r>
              <a:rPr lang="en-US" sz="2000"/>
              <a:t> (class và object)</a:t>
            </a:r>
          </a:p>
          <a:p>
            <a:pPr marL="419100" indent="-419100" eaLnBrk="1" hangingPunct="1">
              <a:lnSpc>
                <a:spcPct val="80000"/>
              </a:lnSpc>
            </a:pPr>
            <a:r>
              <a:rPr lang="en-US" sz="2000"/>
              <a:t>Tính bao đóng (</a:t>
            </a:r>
            <a:r>
              <a:rPr lang="en-US" altLang="en-US" sz="2000" b="1">
                <a:solidFill>
                  <a:srgbClr val="990033"/>
                </a:solidFill>
              </a:rPr>
              <a:t>encapsulation)</a:t>
            </a:r>
            <a:endParaRPr lang="vi-VN" sz="2000"/>
          </a:p>
          <a:p>
            <a:pPr marL="419100" indent="-419100" eaLnBrk="1" hangingPunct="1">
              <a:lnSpc>
                <a:spcPct val="80000"/>
              </a:lnSpc>
            </a:pPr>
            <a:r>
              <a:rPr lang="vi-VN" sz="2000"/>
              <a:t>Tính đóng gói</a:t>
            </a:r>
            <a:r>
              <a:rPr lang="en-US" sz="2000"/>
              <a:t> (package)</a:t>
            </a:r>
            <a:endParaRPr lang="vi-VN" sz="2000"/>
          </a:p>
          <a:p>
            <a:pPr marL="419100" indent="-419100" eaLnBrk="1" hangingPunct="1">
              <a:lnSpc>
                <a:spcPct val="80000"/>
              </a:lnSpc>
            </a:pPr>
            <a:r>
              <a:rPr lang="vi-VN" sz="2000"/>
              <a:t>Tính kế thừa</a:t>
            </a:r>
            <a:r>
              <a:rPr lang="en-US" sz="2000"/>
              <a:t> (Inheritence)</a:t>
            </a:r>
            <a:endParaRPr lang="vi-VN" sz="2000"/>
          </a:p>
          <a:p>
            <a:pPr marL="419100" indent="-419100" eaLnBrk="1" hangingPunct="1">
              <a:lnSpc>
                <a:spcPct val="80000"/>
              </a:lnSpc>
            </a:pPr>
            <a:r>
              <a:rPr lang="vi-VN" sz="2000"/>
              <a:t>Tính đa hình</a:t>
            </a:r>
            <a:r>
              <a:rPr lang="en-US" sz="2000"/>
              <a:t> (Polymorphism)</a:t>
            </a:r>
            <a:endParaRPr lang="vi-VN" sz="2000"/>
          </a:p>
          <a:p>
            <a:pPr marL="419100" indent="-419100" eaLnBrk="1" hangingPunct="1">
              <a:lnSpc>
                <a:spcPct val="80000"/>
              </a:lnSpc>
            </a:pPr>
            <a:r>
              <a:rPr lang="en-US" sz="2000"/>
              <a:t>Tính trừu tượng Abstract và </a:t>
            </a:r>
            <a:r>
              <a:rPr lang="vi-VN" sz="2000"/>
              <a:t>Interface.</a:t>
            </a:r>
            <a:endParaRPr lang="en-US" sz="2000"/>
          </a:p>
          <a:p>
            <a:pPr marL="419100" indent="-419100" eaLnBrk="1" hangingPunct="1">
              <a:lnSpc>
                <a:spcPct val="80000"/>
              </a:lnSpc>
            </a:pP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pc="-5"/>
              <a:t>C</a:t>
            </a:r>
            <a:r>
              <a:rPr lang="vi-VN" spc="5"/>
              <a:t>á</a:t>
            </a:r>
            <a:r>
              <a:rPr lang="vi-VN"/>
              <a:t>c</a:t>
            </a:r>
            <a:r>
              <a:rPr lang="vi-VN" spc="-35"/>
              <a:t> </a:t>
            </a:r>
            <a:r>
              <a:rPr lang="vi-VN" spc="5"/>
              <a:t>k</a:t>
            </a:r>
            <a:r>
              <a:rPr lang="vi-VN"/>
              <a:t>h</a:t>
            </a:r>
            <a:r>
              <a:rPr lang="vi-VN" spc="5"/>
              <a:t>á</a:t>
            </a:r>
            <a:r>
              <a:rPr lang="vi-VN"/>
              <a:t>i</a:t>
            </a:r>
            <a:r>
              <a:rPr lang="vi-VN" spc="-10"/>
              <a:t> </a:t>
            </a:r>
            <a:r>
              <a:rPr lang="vi-VN"/>
              <a:t>ni</a:t>
            </a:r>
            <a:r>
              <a:rPr lang="vi-VN" spc="5">
                <a:cs typeface="Arial"/>
              </a:rPr>
              <a:t>ệ</a:t>
            </a:r>
            <a:r>
              <a:rPr lang="vi-VN"/>
              <a:t>m</a:t>
            </a:r>
            <a:r>
              <a:rPr lang="vi-VN" spc="-10"/>
              <a:t> </a:t>
            </a:r>
            <a:r>
              <a:rPr lang="vi-VN" spc="5"/>
              <a:t>c</a:t>
            </a:r>
            <a:r>
              <a:rPr lang="vi-VN">
                <a:cs typeface="Arial"/>
              </a:rPr>
              <a:t>ơ</a:t>
            </a:r>
            <a:r>
              <a:rPr lang="vi-VN" spc="-5">
                <a:cs typeface="Arial"/>
              </a:rPr>
              <a:t> </a:t>
            </a:r>
            <a:r>
              <a:rPr lang="vi-VN"/>
              <a:t>b</a:t>
            </a:r>
            <a:r>
              <a:rPr lang="vi-VN" spc="5">
                <a:cs typeface="Arial"/>
              </a:rPr>
              <a:t>ả</a:t>
            </a:r>
            <a:r>
              <a:rPr lang="vi-VN"/>
              <a:t>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Đối  tượng  (object):  Trong  thế  giới  thực,  khái  niệm  đối tượng có thể xem như một thực thể: người, vật, bảng dữ liệu,…</a:t>
            </a:r>
            <a:endParaRPr lang="en-US"/>
          </a:p>
          <a:p>
            <a:pPr lvl="1"/>
            <a:r>
              <a:rPr lang="vi-VN"/>
              <a:t>đối tượng giúp hiểu rõ thế giới thực</a:t>
            </a:r>
            <a:endParaRPr lang="en-US"/>
          </a:p>
          <a:p>
            <a:pPr lvl="1"/>
            <a:r>
              <a:rPr lang="vi-VN"/>
              <a:t>Cơ sở cho việc cài đặt trên máy tính</a:t>
            </a:r>
            <a:endParaRPr lang="en-US"/>
          </a:p>
          <a:p>
            <a:pPr lvl="1"/>
            <a:r>
              <a:rPr lang="vi-VN"/>
              <a:t>Mỗi đối tượng có </a:t>
            </a:r>
            <a:r>
              <a:rPr lang="vi-VN">
                <a:solidFill>
                  <a:srgbClr val="FF0000"/>
                </a:solidFill>
              </a:rPr>
              <a:t>định danh, thuộc tính, hành vi</a:t>
            </a:r>
          </a:p>
          <a:p>
            <a:r>
              <a:rPr lang="vi-VN"/>
              <a:t>Ví dụ: </a:t>
            </a:r>
            <a:endParaRPr lang="en-US"/>
          </a:p>
          <a:p>
            <a:pPr lvl="1"/>
            <a:r>
              <a:rPr lang="vi-VN"/>
              <a:t>đối tượng sinh viên MSSV: “TH0701001”;Tên sinh viên: “Nguyễn Văn A”</a:t>
            </a:r>
            <a:endParaRPr lang="en-US"/>
          </a:p>
          <a:p>
            <a:r>
              <a:rPr lang="vi-VN"/>
              <a:t>Hệ thống các đối tượng: Là 1 tập hợp các đối tượng</a:t>
            </a:r>
          </a:p>
          <a:p>
            <a:pPr lvl="1"/>
            <a:r>
              <a:rPr lang="vi-VN"/>
              <a:t>Mỗi đối tượng đảm trách 1 công việc</a:t>
            </a:r>
          </a:p>
          <a:p>
            <a:pPr lvl="1"/>
            <a:r>
              <a:rPr lang="vi-VN"/>
              <a:t>Các đối tượng có thể trao đổi thông tin với nhau</a:t>
            </a:r>
          </a:p>
          <a:p>
            <a:pPr lvl="1"/>
            <a:r>
              <a:rPr lang="vi-VN"/>
              <a:t>Các đối tượng có thể xử lý song song, hay phân tán</a:t>
            </a:r>
            <a:endParaRPr lang="en-GB"/>
          </a:p>
          <a:p>
            <a:endParaRPr lang="vi-VN"/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4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pc="-5"/>
              <a:t>C</a:t>
            </a:r>
            <a:r>
              <a:rPr lang="vi-VN" spc="5"/>
              <a:t>á</a:t>
            </a:r>
            <a:r>
              <a:rPr lang="vi-VN"/>
              <a:t>c</a:t>
            </a:r>
            <a:r>
              <a:rPr lang="vi-VN" spc="-35"/>
              <a:t> </a:t>
            </a:r>
            <a:r>
              <a:rPr lang="vi-VN" spc="5"/>
              <a:t>k</a:t>
            </a:r>
            <a:r>
              <a:rPr lang="vi-VN"/>
              <a:t>h</a:t>
            </a:r>
            <a:r>
              <a:rPr lang="vi-VN" spc="5"/>
              <a:t>á</a:t>
            </a:r>
            <a:r>
              <a:rPr lang="vi-VN"/>
              <a:t>i</a:t>
            </a:r>
            <a:r>
              <a:rPr lang="vi-VN" spc="-10"/>
              <a:t> </a:t>
            </a:r>
            <a:r>
              <a:rPr lang="vi-VN"/>
              <a:t>ni</a:t>
            </a:r>
            <a:r>
              <a:rPr lang="vi-VN" spc="5">
                <a:cs typeface="Arial"/>
              </a:rPr>
              <a:t>ệ</a:t>
            </a:r>
            <a:r>
              <a:rPr lang="vi-VN"/>
              <a:t>m</a:t>
            </a:r>
            <a:r>
              <a:rPr lang="vi-VN" spc="-10"/>
              <a:t> </a:t>
            </a:r>
            <a:r>
              <a:rPr lang="vi-VN" spc="5"/>
              <a:t>c</a:t>
            </a:r>
            <a:r>
              <a:rPr lang="vi-VN">
                <a:cs typeface="Arial"/>
              </a:rPr>
              <a:t>ơ</a:t>
            </a:r>
            <a:r>
              <a:rPr lang="vi-VN" spc="-5">
                <a:cs typeface="Arial"/>
              </a:rPr>
              <a:t> </a:t>
            </a:r>
            <a:r>
              <a:rPr lang="vi-VN"/>
              <a:t>b</a:t>
            </a:r>
            <a:r>
              <a:rPr lang="vi-VN" spc="5">
                <a:cs typeface="Arial"/>
              </a:rPr>
              <a:t>ả</a:t>
            </a:r>
            <a:r>
              <a:rPr lang="vi-VN"/>
              <a:t>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0525" marR="10160" indent="-377825">
              <a:lnSpc>
                <a:spcPct val="120000"/>
              </a:lnSpc>
              <a:buClr>
                <a:srgbClr val="0000FF"/>
              </a:buClr>
              <a:buFont typeface="Wingdings"/>
              <a:buChar char=""/>
              <a:tabLst>
                <a:tab pos="391160" algn="l"/>
                <a:tab pos="1161415" algn="l"/>
                <a:tab pos="2429510" algn="l"/>
                <a:tab pos="2981325" algn="l"/>
                <a:tab pos="4075429" algn="l"/>
                <a:tab pos="4910455" algn="l"/>
                <a:tab pos="6608445" algn="l"/>
                <a:tab pos="7159625" algn="l"/>
                <a:tab pos="7955280" algn="l"/>
                <a:tab pos="8437245" algn="l"/>
              </a:tabLst>
            </a:pPr>
            <a:r>
              <a:rPr lang="vi-VN" sz="2400" spc="-20" dirty="0">
                <a:solidFill>
                  <a:srgbClr val="0000FF"/>
                </a:solidFill>
                <a:cs typeface="Arial"/>
              </a:rPr>
              <a:t>L</a:t>
            </a:r>
            <a:r>
              <a:rPr lang="vi-VN" sz="2400" spc="-25" dirty="0">
                <a:solidFill>
                  <a:srgbClr val="0000FF"/>
                </a:solidFill>
                <a:cs typeface="Arial"/>
              </a:rPr>
              <a:t>ớ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p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	</a:t>
            </a:r>
            <a:r>
              <a:rPr lang="vi-VN" sz="2400" spc="-5" dirty="0">
                <a:solidFill>
                  <a:srgbClr val="0000FF"/>
                </a:solidFill>
                <a:cs typeface="Arial"/>
              </a:rPr>
              <a:t>(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c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l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a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ss</a:t>
            </a:r>
            <a:r>
              <a:rPr lang="vi-VN" sz="2400" spc="-5" dirty="0">
                <a:solidFill>
                  <a:srgbClr val="0000FF"/>
                </a:solidFill>
                <a:cs typeface="Arial"/>
              </a:rPr>
              <a:t>)</a:t>
            </a:r>
            <a:r>
              <a:rPr lang="vi-VN" sz="2400" spc="-10" dirty="0">
                <a:solidFill>
                  <a:srgbClr val="0000FF"/>
                </a:solidFill>
                <a:cs typeface="Arial"/>
              </a:rPr>
              <a:t>: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	</a:t>
            </a:r>
            <a:r>
              <a:rPr lang="vi-VN" sz="2400" spc="-20" dirty="0">
                <a:cs typeface="Arial"/>
              </a:rPr>
              <a:t>L</a:t>
            </a:r>
            <a:r>
              <a:rPr lang="vi-VN" sz="2400" spc="-15" dirty="0">
                <a:cs typeface="Arial"/>
              </a:rPr>
              <a:t>à</a:t>
            </a:r>
            <a:r>
              <a:rPr lang="vi-VN" sz="2400" dirty="0">
                <a:cs typeface="Arial"/>
              </a:rPr>
              <a:t>	</a:t>
            </a:r>
            <a:r>
              <a:rPr lang="vi-VN" sz="2400" spc="-15" dirty="0">
                <a:cs typeface="Arial"/>
              </a:rPr>
              <a:t>k</a:t>
            </a:r>
            <a:r>
              <a:rPr lang="vi-VN" sz="2400" dirty="0">
                <a:cs typeface="Arial"/>
              </a:rPr>
              <a:t>h</a:t>
            </a:r>
            <a:r>
              <a:rPr lang="vi-VN" sz="2400" spc="-20" dirty="0">
                <a:cs typeface="Arial"/>
              </a:rPr>
              <a:t>uô</a:t>
            </a:r>
            <a:r>
              <a:rPr lang="vi-VN" sz="2400" spc="-15" dirty="0">
                <a:cs typeface="Arial"/>
              </a:rPr>
              <a:t>n</a:t>
            </a:r>
            <a:r>
              <a:rPr lang="vi-VN" sz="2400" dirty="0">
                <a:cs typeface="Arial"/>
              </a:rPr>
              <a:t>	</a:t>
            </a:r>
            <a:r>
              <a:rPr lang="vi-VN" sz="2400" spc="5" dirty="0">
                <a:cs typeface="Arial"/>
              </a:rPr>
              <a:t>m</a:t>
            </a:r>
            <a:r>
              <a:rPr lang="vi-VN" sz="2400" spc="-20" dirty="0">
                <a:cs typeface="Arial"/>
              </a:rPr>
              <a:t>ẫ</a:t>
            </a:r>
            <a:r>
              <a:rPr lang="vi-VN" sz="2400" spc="-15" dirty="0">
                <a:cs typeface="Arial"/>
              </a:rPr>
              <a:t>u</a:t>
            </a:r>
            <a:r>
              <a:rPr lang="vi-VN" sz="2400" dirty="0">
                <a:cs typeface="Arial"/>
              </a:rPr>
              <a:t>	</a:t>
            </a:r>
            <a:r>
              <a:rPr lang="vi-VN" sz="2400" spc="-5" dirty="0">
                <a:cs typeface="Arial"/>
              </a:rPr>
              <a:t>(</a:t>
            </a:r>
            <a:r>
              <a:rPr lang="vi-VN" sz="2400" dirty="0">
                <a:cs typeface="Arial"/>
              </a:rPr>
              <a:t>t</a:t>
            </a:r>
            <a:r>
              <a:rPr lang="vi-VN" sz="2400" spc="-20" dirty="0">
                <a:cs typeface="Arial"/>
              </a:rPr>
              <a:t>em</a:t>
            </a:r>
            <a:r>
              <a:rPr lang="vi-VN" sz="2400" dirty="0">
                <a:cs typeface="Arial"/>
              </a:rPr>
              <a:t>p</a:t>
            </a:r>
            <a:r>
              <a:rPr lang="vi-VN" sz="2400" spc="-20" dirty="0">
                <a:cs typeface="Arial"/>
              </a:rPr>
              <a:t>la</a:t>
            </a:r>
            <a:r>
              <a:rPr lang="vi-VN" sz="2400" dirty="0">
                <a:cs typeface="Arial"/>
              </a:rPr>
              <a:t>t</a:t>
            </a:r>
            <a:r>
              <a:rPr lang="vi-VN" sz="2400" spc="-20" dirty="0">
                <a:cs typeface="Arial"/>
              </a:rPr>
              <a:t>e</a:t>
            </a:r>
            <a:r>
              <a:rPr lang="vi-VN" sz="2400" spc="-10" dirty="0">
                <a:cs typeface="Arial"/>
              </a:rPr>
              <a:t>)</a:t>
            </a:r>
            <a:r>
              <a:rPr lang="vi-VN" sz="2400" dirty="0">
                <a:cs typeface="Arial"/>
              </a:rPr>
              <a:t>	</a:t>
            </a:r>
            <a:r>
              <a:rPr lang="vi-VN" sz="2400" spc="-20" dirty="0">
                <a:cs typeface="Arial"/>
              </a:rPr>
              <a:t>đ</a:t>
            </a:r>
            <a:r>
              <a:rPr lang="vi-VN" sz="2400" spc="-15" dirty="0">
                <a:cs typeface="Arial"/>
              </a:rPr>
              <a:t>ể</a:t>
            </a:r>
            <a:r>
              <a:rPr lang="vi-VN" sz="2400" dirty="0">
                <a:cs typeface="Arial"/>
              </a:rPr>
              <a:t>	</a:t>
            </a:r>
            <a:r>
              <a:rPr lang="vi-VN" sz="2400" spc="-15" dirty="0">
                <a:cs typeface="Arial"/>
              </a:rPr>
              <a:t>s</a:t>
            </a:r>
            <a:r>
              <a:rPr lang="vi-VN" sz="2400" dirty="0">
                <a:cs typeface="Arial"/>
              </a:rPr>
              <a:t>i</a:t>
            </a:r>
            <a:r>
              <a:rPr lang="vi-VN" sz="2400" spc="-20" dirty="0">
                <a:cs typeface="Arial"/>
              </a:rPr>
              <a:t>n</a:t>
            </a:r>
            <a:r>
              <a:rPr lang="vi-VN" sz="2400" spc="-15" dirty="0">
                <a:cs typeface="Arial"/>
              </a:rPr>
              <a:t>h</a:t>
            </a:r>
            <a:r>
              <a:rPr lang="vi-VN" sz="2400" dirty="0">
                <a:cs typeface="Arial"/>
              </a:rPr>
              <a:t>	</a:t>
            </a:r>
            <a:r>
              <a:rPr lang="vi-VN" sz="2400" spc="-5" dirty="0">
                <a:cs typeface="Arial"/>
              </a:rPr>
              <a:t>r</a:t>
            </a:r>
            <a:r>
              <a:rPr lang="vi-VN" sz="2400" spc="-15" dirty="0">
                <a:cs typeface="Arial"/>
              </a:rPr>
              <a:t>a</a:t>
            </a:r>
            <a:r>
              <a:rPr lang="vi-VN" sz="2400" dirty="0">
                <a:cs typeface="Arial"/>
              </a:rPr>
              <a:t>	</a:t>
            </a:r>
            <a:r>
              <a:rPr lang="vi-VN" sz="2400" spc="-20" dirty="0">
                <a:cs typeface="Arial"/>
              </a:rPr>
              <a:t>đ</a:t>
            </a:r>
            <a:r>
              <a:rPr lang="vi-VN" sz="2400" dirty="0">
                <a:cs typeface="Arial"/>
              </a:rPr>
              <a:t>ố</a:t>
            </a:r>
            <a:r>
              <a:rPr lang="vi-VN" sz="2400" spc="-10" dirty="0">
                <a:cs typeface="Arial"/>
              </a:rPr>
              <a:t>i </a:t>
            </a:r>
            <a:r>
              <a:rPr lang="vi-VN" sz="2400" dirty="0">
                <a:cs typeface="Arial"/>
              </a:rPr>
              <a:t>t</a:t>
            </a:r>
            <a:r>
              <a:rPr lang="vi-VN" sz="2400" spc="-15" dirty="0">
                <a:cs typeface="Arial"/>
              </a:rPr>
              <a:t>ư</a:t>
            </a:r>
            <a:r>
              <a:rPr lang="vi-VN" sz="2400" spc="-25" dirty="0">
                <a:cs typeface="Arial"/>
              </a:rPr>
              <a:t>ợ</a:t>
            </a:r>
            <a:r>
              <a:rPr lang="vi-VN" sz="2400" spc="-20" dirty="0">
                <a:cs typeface="Arial"/>
              </a:rPr>
              <a:t>ng</a:t>
            </a:r>
            <a:r>
              <a:rPr lang="en-US" sz="2400" spc="-10" dirty="0">
                <a:cs typeface="Arial"/>
              </a:rPr>
              <a:t> (</a:t>
            </a:r>
            <a:r>
              <a:rPr lang="en-US" sz="2400" spc="-10" dirty="0" err="1">
                <a:cs typeface="Arial"/>
              </a:rPr>
              <a:t>Là</a:t>
            </a:r>
            <a:r>
              <a:rPr lang="en-US" sz="2400" spc="-10" dirty="0">
                <a:cs typeface="Arial"/>
              </a:rPr>
              <a:t> </a:t>
            </a:r>
            <a:r>
              <a:rPr lang="en-US" sz="2400" spc="-10" dirty="0" err="1">
                <a:cs typeface="Arial"/>
              </a:rPr>
              <a:t>một</a:t>
            </a:r>
            <a:r>
              <a:rPr lang="en-US" sz="2400" spc="-10" dirty="0">
                <a:cs typeface="Arial"/>
              </a:rPr>
              <a:t> </a:t>
            </a:r>
            <a:r>
              <a:rPr lang="en-US" sz="2400" spc="-10" dirty="0" err="1">
                <a:cs typeface="Arial"/>
              </a:rPr>
              <a:t>kiểu</a:t>
            </a:r>
            <a:r>
              <a:rPr lang="en-US" sz="2400" spc="-10" dirty="0">
                <a:cs typeface="Arial"/>
              </a:rPr>
              <a:t> </a:t>
            </a:r>
            <a:r>
              <a:rPr lang="en-US" sz="2400" spc="-10" dirty="0" err="1">
                <a:cs typeface="Arial"/>
              </a:rPr>
              <a:t>dữ</a:t>
            </a:r>
            <a:r>
              <a:rPr lang="en-US" sz="2400" spc="-10" dirty="0">
                <a:cs typeface="Arial"/>
              </a:rPr>
              <a:t> </a:t>
            </a:r>
            <a:r>
              <a:rPr lang="en-US" sz="2400" spc="-10" dirty="0" err="1">
                <a:cs typeface="Arial"/>
              </a:rPr>
              <a:t>liệu</a:t>
            </a:r>
            <a:r>
              <a:rPr lang="en-US" sz="2400" spc="-10" dirty="0">
                <a:cs typeface="Arial"/>
              </a:rPr>
              <a:t>)</a:t>
            </a:r>
            <a:endParaRPr lang="vi-VN" sz="2400" dirty="0">
              <a:cs typeface="Arial"/>
            </a:endParaRPr>
          </a:p>
          <a:p>
            <a:pPr marL="390525">
              <a:lnSpc>
                <a:spcPct val="100000"/>
              </a:lnSpc>
              <a:spcBef>
                <a:spcPts val="1260"/>
              </a:spcBef>
            </a:pPr>
            <a:r>
              <a:rPr lang="vi-VN" sz="2400" spc="-30" dirty="0">
                <a:cs typeface="Arial"/>
              </a:rPr>
              <a:t>V</a:t>
            </a:r>
            <a:r>
              <a:rPr lang="vi-VN" sz="2400" spc="-10" dirty="0">
                <a:cs typeface="Arial"/>
              </a:rPr>
              <a:t>í</a:t>
            </a:r>
            <a:r>
              <a:rPr lang="vi-VN" sz="2400" spc="-35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dụ</a:t>
            </a:r>
            <a:r>
              <a:rPr lang="vi-VN" sz="2400" spc="-10" dirty="0">
                <a:cs typeface="Arial"/>
              </a:rPr>
              <a:t>:</a:t>
            </a:r>
            <a:r>
              <a:rPr lang="vi-VN" sz="2400" spc="15" dirty="0">
                <a:cs typeface="Arial"/>
              </a:rPr>
              <a:t> </a:t>
            </a:r>
            <a:r>
              <a:rPr lang="en-US" sz="2400" spc="-20" dirty="0">
                <a:cs typeface="Arial"/>
              </a:rPr>
              <a:t>class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c</a:t>
            </a:r>
            <a:r>
              <a:rPr lang="vi-VN" sz="2400" spc="-20" dirty="0">
                <a:cs typeface="Arial"/>
              </a:rPr>
              <a:t>á</a:t>
            </a:r>
            <a:r>
              <a:rPr lang="vi-VN" sz="2400" spc="-15" dirty="0">
                <a:cs typeface="Arial"/>
              </a:rPr>
              <a:t>c</a:t>
            </a:r>
            <a:r>
              <a:rPr lang="vi-VN" sz="2400" spc="30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đố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spc="20" dirty="0">
                <a:cs typeface="Arial"/>
              </a:rPr>
              <a:t> </a:t>
            </a:r>
            <a:r>
              <a:rPr lang="vi-VN" sz="2400" dirty="0">
                <a:cs typeface="Arial"/>
              </a:rPr>
              <a:t>t</a:t>
            </a:r>
            <a:r>
              <a:rPr lang="vi-VN" sz="2400" spc="-15" dirty="0">
                <a:cs typeface="Arial"/>
              </a:rPr>
              <a:t>ư</a:t>
            </a:r>
            <a:r>
              <a:rPr lang="vi-VN" sz="2400" spc="-25" dirty="0">
                <a:cs typeface="Arial"/>
              </a:rPr>
              <a:t>ợ</a:t>
            </a:r>
            <a:r>
              <a:rPr lang="vi-VN" sz="2400" spc="-20" dirty="0">
                <a:cs typeface="Arial"/>
              </a:rPr>
              <a:t>n</a:t>
            </a:r>
            <a:r>
              <a:rPr lang="vi-VN" sz="2400" spc="-15" dirty="0">
                <a:cs typeface="Arial"/>
              </a:rPr>
              <a:t>g</a:t>
            </a:r>
            <a:r>
              <a:rPr lang="vi-VN" sz="2400" dirty="0">
                <a:cs typeface="Arial"/>
              </a:rPr>
              <a:t> </a:t>
            </a:r>
            <a:r>
              <a:rPr lang="vi-VN" sz="2400" spc="-25" dirty="0">
                <a:solidFill>
                  <a:srgbClr val="0000FF"/>
                </a:solidFill>
                <a:cs typeface="Arial"/>
              </a:rPr>
              <a:t>Si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nh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v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ie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n</a:t>
            </a:r>
            <a:endParaRPr lang="vi-VN" sz="2400" dirty="0">
              <a:cs typeface="Arial"/>
            </a:endParaRPr>
          </a:p>
          <a:p>
            <a:pPr marL="518159">
              <a:lnSpc>
                <a:spcPct val="100000"/>
              </a:lnSpc>
              <a:spcBef>
                <a:spcPts val="1285"/>
              </a:spcBef>
              <a:tabLst>
                <a:tab pos="832485" algn="l"/>
                <a:tab pos="1655445" algn="l"/>
                <a:tab pos="2426335" algn="l"/>
                <a:tab pos="3852545" algn="l"/>
                <a:tab pos="4602480" algn="l"/>
                <a:tab pos="5184775" algn="l"/>
                <a:tab pos="5803265" algn="l"/>
                <a:tab pos="6306185" algn="l"/>
                <a:tab pos="8217534" algn="l"/>
                <a:tab pos="8702040" algn="l"/>
              </a:tabLst>
            </a:pPr>
            <a:r>
              <a:rPr lang="vi-VN" sz="2400" spc="-30" dirty="0">
                <a:cs typeface="Arial"/>
              </a:rPr>
              <a:t>S</a:t>
            </a:r>
            <a:r>
              <a:rPr lang="vi-VN" sz="2400" dirty="0">
                <a:cs typeface="Arial"/>
              </a:rPr>
              <a:t>i</a:t>
            </a:r>
            <a:r>
              <a:rPr lang="vi-VN" sz="2400" spc="-20" dirty="0">
                <a:cs typeface="Arial"/>
              </a:rPr>
              <a:t>n</a:t>
            </a:r>
            <a:r>
              <a:rPr lang="vi-VN" sz="2400" spc="-15" dirty="0">
                <a:cs typeface="Arial"/>
              </a:rPr>
              <a:t>h</a:t>
            </a:r>
            <a:r>
              <a:rPr lang="vi-VN" sz="2400" dirty="0">
                <a:cs typeface="Arial"/>
              </a:rPr>
              <a:t>	v</a:t>
            </a:r>
            <a:r>
              <a:rPr lang="vi-VN" sz="2400" spc="-20" dirty="0">
                <a:cs typeface="Arial"/>
              </a:rPr>
              <a:t>i</a:t>
            </a:r>
            <a:r>
              <a:rPr lang="vi-VN" sz="2400" dirty="0">
                <a:cs typeface="Arial"/>
              </a:rPr>
              <a:t>ê</a:t>
            </a:r>
            <a:r>
              <a:rPr lang="vi-VN" sz="2400" spc="-15" dirty="0">
                <a:cs typeface="Arial"/>
              </a:rPr>
              <a:t>n</a:t>
            </a:r>
            <a:r>
              <a:rPr lang="vi-VN" sz="2400" dirty="0">
                <a:cs typeface="Arial"/>
              </a:rPr>
              <a:t>	</a:t>
            </a:r>
            <a:r>
              <a:rPr lang="vi-VN" sz="2400" spc="-5" dirty="0">
                <a:cs typeface="Arial"/>
              </a:rPr>
              <a:t>“</a:t>
            </a:r>
            <a:r>
              <a:rPr lang="vi-VN" sz="2400" spc="-30" dirty="0">
                <a:cs typeface="Arial"/>
              </a:rPr>
              <a:t>N</a:t>
            </a:r>
            <a:r>
              <a:rPr lang="vi-VN" sz="2400" dirty="0">
                <a:cs typeface="Arial"/>
              </a:rPr>
              <a:t>gu</a:t>
            </a:r>
            <a:r>
              <a:rPr lang="vi-VN" sz="2400" spc="-40" dirty="0">
                <a:cs typeface="Arial"/>
              </a:rPr>
              <a:t>y</a:t>
            </a:r>
            <a:r>
              <a:rPr lang="vi-VN" sz="2400" dirty="0">
                <a:cs typeface="Arial"/>
              </a:rPr>
              <a:t>ễ</a:t>
            </a:r>
            <a:r>
              <a:rPr lang="vi-VN" sz="2400" spc="-15" dirty="0">
                <a:cs typeface="Arial"/>
              </a:rPr>
              <a:t>n</a:t>
            </a:r>
            <a:r>
              <a:rPr lang="vi-VN" sz="2400" dirty="0">
                <a:cs typeface="Arial"/>
              </a:rPr>
              <a:t>	</a:t>
            </a:r>
            <a:r>
              <a:rPr lang="vi-VN" sz="2400" spc="-30" dirty="0">
                <a:cs typeface="Arial"/>
              </a:rPr>
              <a:t>V</a:t>
            </a:r>
            <a:r>
              <a:rPr lang="vi-VN" sz="2400" dirty="0">
                <a:cs typeface="Arial"/>
              </a:rPr>
              <a:t>ă</a:t>
            </a:r>
            <a:r>
              <a:rPr lang="vi-VN" sz="2400" spc="-15" dirty="0">
                <a:cs typeface="Arial"/>
              </a:rPr>
              <a:t>n</a:t>
            </a:r>
            <a:r>
              <a:rPr lang="vi-VN" sz="2400" dirty="0">
                <a:cs typeface="Arial"/>
              </a:rPr>
              <a:t>	</a:t>
            </a:r>
            <a:r>
              <a:rPr lang="vi-VN" sz="2400" spc="-30" dirty="0">
                <a:cs typeface="Arial"/>
              </a:rPr>
              <a:t>A</a:t>
            </a:r>
            <a:r>
              <a:rPr lang="vi-VN" sz="2400" spc="-5" dirty="0">
                <a:cs typeface="Arial"/>
              </a:rPr>
              <a:t>”</a:t>
            </a:r>
            <a:r>
              <a:rPr lang="vi-VN" sz="2400" spc="-10" dirty="0">
                <a:cs typeface="Arial"/>
              </a:rPr>
              <a:t>,</a:t>
            </a:r>
            <a:r>
              <a:rPr lang="vi-VN" sz="2400" dirty="0">
                <a:cs typeface="Arial"/>
              </a:rPr>
              <a:t>	</a:t>
            </a:r>
            <a:r>
              <a:rPr lang="vi-VN" sz="2400" spc="-20" dirty="0">
                <a:cs typeface="Arial"/>
              </a:rPr>
              <a:t>m</a:t>
            </a:r>
            <a:r>
              <a:rPr lang="vi-VN" sz="2400" spc="-15" dirty="0">
                <a:cs typeface="Arial"/>
              </a:rPr>
              <a:t>ã</a:t>
            </a:r>
            <a:r>
              <a:rPr lang="vi-VN" sz="2400" dirty="0">
                <a:cs typeface="Arial"/>
              </a:rPr>
              <a:t>	</a:t>
            </a:r>
            <a:r>
              <a:rPr lang="vi-VN" sz="2400" spc="-15" dirty="0">
                <a:cs typeface="Arial"/>
              </a:rPr>
              <a:t>số</a:t>
            </a:r>
            <a:r>
              <a:rPr lang="vi-VN" sz="2400" dirty="0">
                <a:cs typeface="Arial"/>
              </a:rPr>
              <a:t>	</a:t>
            </a:r>
            <a:r>
              <a:rPr lang="vi-VN" sz="2400" spc="20" dirty="0">
                <a:cs typeface="Arial"/>
              </a:rPr>
              <a:t>T</a:t>
            </a:r>
            <a:r>
              <a:rPr lang="vi-VN" sz="2400" spc="-30" dirty="0">
                <a:cs typeface="Arial"/>
              </a:rPr>
              <a:t>H</a:t>
            </a:r>
            <a:r>
              <a:rPr lang="vi-VN" sz="2400" spc="-20" dirty="0">
                <a:cs typeface="Arial"/>
              </a:rPr>
              <a:t>070</a:t>
            </a:r>
            <a:r>
              <a:rPr lang="vi-VN" sz="2400" dirty="0">
                <a:cs typeface="Arial"/>
              </a:rPr>
              <a:t>1</a:t>
            </a:r>
            <a:r>
              <a:rPr lang="vi-VN" sz="2400" spc="-20" dirty="0">
                <a:cs typeface="Arial"/>
              </a:rPr>
              <a:t>0</a:t>
            </a:r>
            <a:r>
              <a:rPr lang="vi-VN" sz="2400" dirty="0">
                <a:cs typeface="Arial"/>
              </a:rPr>
              <a:t>0</a:t>
            </a:r>
            <a:r>
              <a:rPr lang="vi-VN" sz="2400" spc="-15" dirty="0">
                <a:cs typeface="Arial"/>
              </a:rPr>
              <a:t>1</a:t>
            </a:r>
            <a:r>
              <a:rPr lang="vi-VN" sz="2400" dirty="0">
                <a:cs typeface="Arial"/>
              </a:rPr>
              <a:t>	</a:t>
            </a:r>
            <a:r>
              <a:rPr lang="vi-VN" sz="2400" spc="-30" dirty="0">
                <a:latin typeface="Symbol"/>
                <a:cs typeface="Symbol"/>
              </a:rPr>
              <a:t></a:t>
            </a:r>
            <a:r>
              <a:rPr lang="vi-VN" sz="2400" dirty="0">
                <a:latin typeface="Times New Roman"/>
                <a:cs typeface="Times New Roman"/>
              </a:rPr>
              <a:t>	</a:t>
            </a:r>
            <a:r>
              <a:rPr lang="vi-VN" sz="2400" spc="-15" dirty="0">
                <a:cs typeface="Arial"/>
              </a:rPr>
              <a:t>1</a:t>
            </a:r>
            <a:endParaRPr lang="vi-VN" sz="2400" dirty="0">
              <a:cs typeface="Arial"/>
            </a:endParaRPr>
          </a:p>
          <a:p>
            <a:pPr marL="546735" indent="0">
              <a:lnSpc>
                <a:spcPct val="100000"/>
              </a:lnSpc>
              <a:spcBef>
                <a:spcPts val="635"/>
              </a:spcBef>
              <a:buNone/>
            </a:pPr>
            <a:r>
              <a:rPr lang="vi-VN" sz="2400" spc="-20" dirty="0">
                <a:cs typeface="Arial"/>
              </a:rPr>
              <a:t>đố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spc="-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t</a:t>
            </a:r>
            <a:r>
              <a:rPr lang="vi-VN" sz="2400" spc="-15" dirty="0">
                <a:cs typeface="Arial"/>
              </a:rPr>
              <a:t>ư</a:t>
            </a:r>
            <a:r>
              <a:rPr lang="vi-VN" sz="2400" spc="-25" dirty="0">
                <a:cs typeface="Arial"/>
              </a:rPr>
              <a:t>ợ</a:t>
            </a:r>
            <a:r>
              <a:rPr lang="vi-VN" sz="2400" spc="-20" dirty="0">
                <a:cs typeface="Arial"/>
              </a:rPr>
              <a:t>n</a:t>
            </a:r>
            <a:r>
              <a:rPr lang="vi-VN" sz="2400" spc="-15" dirty="0">
                <a:cs typeface="Arial"/>
              </a:rPr>
              <a:t>g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t</a:t>
            </a:r>
            <a:r>
              <a:rPr lang="vi-VN" sz="2400" spc="-20" dirty="0">
                <a:cs typeface="Arial"/>
              </a:rPr>
              <a:t>huộ</a:t>
            </a:r>
            <a:r>
              <a:rPr lang="vi-VN" sz="2400" spc="-15" dirty="0">
                <a:cs typeface="Arial"/>
              </a:rPr>
              <a:t>c</a:t>
            </a:r>
            <a:r>
              <a:rPr lang="vi-VN" sz="2400" spc="5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l</a:t>
            </a:r>
            <a:r>
              <a:rPr lang="vi-VN" sz="2400" spc="-25" dirty="0">
                <a:cs typeface="Arial"/>
              </a:rPr>
              <a:t>ớ</a:t>
            </a:r>
            <a:r>
              <a:rPr lang="vi-VN" sz="2400" spc="-15" dirty="0">
                <a:cs typeface="Arial"/>
              </a:rPr>
              <a:t>p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-25" dirty="0">
                <a:solidFill>
                  <a:srgbClr val="0000FF"/>
                </a:solidFill>
                <a:cs typeface="Arial"/>
              </a:rPr>
              <a:t>Si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nh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v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ie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n</a:t>
            </a:r>
            <a:r>
              <a:rPr lang="en-US" sz="2400" spc="-15" dirty="0">
                <a:solidFill>
                  <a:srgbClr val="0000FF"/>
                </a:solidFill>
                <a:cs typeface="Arial"/>
              </a:rPr>
              <a:t>.</a:t>
            </a:r>
            <a:endParaRPr lang="vi-VN" sz="2400" dirty="0">
              <a:cs typeface="Arial"/>
            </a:endParaRPr>
          </a:p>
          <a:p>
            <a:pPr marL="518159">
              <a:lnSpc>
                <a:spcPct val="100000"/>
              </a:lnSpc>
              <a:spcBef>
                <a:spcPts val="1260"/>
              </a:spcBef>
              <a:tabLst>
                <a:tab pos="832485" algn="l"/>
              </a:tabLst>
            </a:pPr>
            <a:r>
              <a:rPr lang="vi-VN" sz="2400" spc="-30" dirty="0">
                <a:cs typeface="Arial"/>
              </a:rPr>
              <a:t>S</a:t>
            </a:r>
            <a:r>
              <a:rPr lang="vi-VN" sz="2400" dirty="0">
                <a:cs typeface="Arial"/>
              </a:rPr>
              <a:t>i</a:t>
            </a:r>
            <a:r>
              <a:rPr lang="vi-VN" sz="2400" spc="-20" dirty="0">
                <a:cs typeface="Arial"/>
              </a:rPr>
              <a:t>n</a:t>
            </a:r>
            <a:r>
              <a:rPr lang="vi-VN" sz="2400" spc="-15" dirty="0">
                <a:cs typeface="Arial"/>
              </a:rPr>
              <a:t>h</a:t>
            </a:r>
            <a:r>
              <a:rPr lang="vi-VN" sz="2400" spc="145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v</a:t>
            </a:r>
            <a:r>
              <a:rPr lang="vi-VN" sz="2400" dirty="0">
                <a:cs typeface="Arial"/>
              </a:rPr>
              <a:t>i</a:t>
            </a:r>
            <a:r>
              <a:rPr lang="vi-VN" sz="2400" spc="-20" dirty="0">
                <a:cs typeface="Arial"/>
              </a:rPr>
              <a:t>ê</a:t>
            </a:r>
            <a:r>
              <a:rPr lang="vi-VN" sz="2400" spc="-15" dirty="0">
                <a:cs typeface="Arial"/>
              </a:rPr>
              <a:t>n</a:t>
            </a:r>
            <a:r>
              <a:rPr lang="vi-VN" sz="2400" spc="145" dirty="0">
                <a:cs typeface="Arial"/>
              </a:rPr>
              <a:t> </a:t>
            </a:r>
            <a:r>
              <a:rPr lang="vi-VN" sz="2400" spc="-5" dirty="0">
                <a:cs typeface="Arial"/>
              </a:rPr>
              <a:t>“</a:t>
            </a:r>
            <a:r>
              <a:rPr lang="vi-VN" sz="2400" spc="-30" dirty="0">
                <a:cs typeface="Arial"/>
              </a:rPr>
              <a:t>N</a:t>
            </a:r>
            <a:r>
              <a:rPr lang="vi-VN" sz="2400" dirty="0">
                <a:cs typeface="Arial"/>
              </a:rPr>
              <a:t>gu</a:t>
            </a:r>
            <a:r>
              <a:rPr lang="vi-VN" sz="2400" spc="-40" dirty="0">
                <a:cs typeface="Arial"/>
              </a:rPr>
              <a:t>y</a:t>
            </a:r>
            <a:r>
              <a:rPr lang="vi-VN" sz="2400" dirty="0">
                <a:cs typeface="Arial"/>
              </a:rPr>
              <a:t>ễ</a:t>
            </a:r>
            <a:r>
              <a:rPr lang="vi-VN" sz="2400" spc="-15" dirty="0">
                <a:cs typeface="Arial"/>
              </a:rPr>
              <a:t>n</a:t>
            </a:r>
            <a:r>
              <a:rPr lang="vi-VN" sz="2400" spc="145" dirty="0">
                <a:cs typeface="Arial"/>
              </a:rPr>
              <a:t> </a:t>
            </a:r>
            <a:r>
              <a:rPr lang="vi-VN" sz="2400" spc="-30" dirty="0">
                <a:cs typeface="Arial"/>
              </a:rPr>
              <a:t>V</a:t>
            </a:r>
            <a:r>
              <a:rPr lang="vi-VN" sz="2400" spc="-20" dirty="0">
                <a:cs typeface="Arial"/>
              </a:rPr>
              <a:t>ă</a:t>
            </a:r>
            <a:r>
              <a:rPr lang="vi-VN" sz="2400" spc="-15" dirty="0">
                <a:cs typeface="Arial"/>
              </a:rPr>
              <a:t>n</a:t>
            </a:r>
            <a:r>
              <a:rPr lang="vi-VN" sz="2400" spc="145" dirty="0">
                <a:cs typeface="Arial"/>
              </a:rPr>
              <a:t> </a:t>
            </a:r>
            <a:r>
              <a:rPr lang="vi-VN" sz="2400" spc="-30" dirty="0">
                <a:cs typeface="Arial"/>
              </a:rPr>
              <a:t>B</a:t>
            </a:r>
            <a:r>
              <a:rPr lang="vi-VN" sz="2400" spc="-5" dirty="0">
                <a:cs typeface="Arial"/>
              </a:rPr>
              <a:t>”</a:t>
            </a:r>
            <a:r>
              <a:rPr lang="vi-VN" sz="2400" spc="-10" dirty="0">
                <a:cs typeface="Arial"/>
              </a:rPr>
              <a:t>,</a:t>
            </a:r>
            <a:r>
              <a:rPr lang="vi-VN" sz="2400" spc="160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m</a:t>
            </a:r>
            <a:r>
              <a:rPr lang="vi-VN" sz="2400" spc="-15" dirty="0">
                <a:cs typeface="Arial"/>
              </a:rPr>
              <a:t>ã</a:t>
            </a:r>
            <a:r>
              <a:rPr lang="vi-VN" sz="2400" spc="120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số</a:t>
            </a:r>
            <a:r>
              <a:rPr lang="vi-VN" sz="2400" spc="120" dirty="0">
                <a:cs typeface="Arial"/>
              </a:rPr>
              <a:t> </a:t>
            </a:r>
            <a:r>
              <a:rPr lang="vi-VN" sz="2400" spc="20" dirty="0">
                <a:cs typeface="Arial"/>
              </a:rPr>
              <a:t>T</a:t>
            </a:r>
            <a:r>
              <a:rPr lang="vi-VN" sz="2400" spc="-30" dirty="0">
                <a:cs typeface="Arial"/>
              </a:rPr>
              <a:t>H</a:t>
            </a:r>
            <a:r>
              <a:rPr lang="vi-VN" sz="2400" spc="-20" dirty="0">
                <a:cs typeface="Arial"/>
              </a:rPr>
              <a:t>07</a:t>
            </a:r>
            <a:r>
              <a:rPr lang="vi-VN" sz="2400" dirty="0">
                <a:cs typeface="Arial"/>
              </a:rPr>
              <a:t>0</a:t>
            </a:r>
            <a:r>
              <a:rPr lang="vi-VN" sz="2400" spc="-20" dirty="0">
                <a:cs typeface="Arial"/>
              </a:rPr>
              <a:t>10</a:t>
            </a:r>
            <a:r>
              <a:rPr lang="vi-VN" sz="2400" dirty="0">
                <a:cs typeface="Arial"/>
              </a:rPr>
              <a:t>0</a:t>
            </a:r>
            <a:r>
              <a:rPr lang="vi-VN" sz="2400" spc="-15" dirty="0">
                <a:cs typeface="Arial"/>
              </a:rPr>
              <a:t>2</a:t>
            </a:r>
            <a:r>
              <a:rPr lang="vi-VN" sz="2400" spc="145" dirty="0">
                <a:cs typeface="Arial"/>
              </a:rPr>
              <a:t> </a:t>
            </a:r>
            <a:r>
              <a:rPr lang="vi-VN" sz="2400" spc="-30" dirty="0">
                <a:latin typeface="Symbol"/>
                <a:cs typeface="Symbol"/>
              </a:rPr>
              <a:t></a:t>
            </a:r>
            <a:r>
              <a:rPr lang="vi-VN" sz="2400" spc="235" dirty="0">
                <a:latin typeface="Times New Roman"/>
                <a:cs typeface="Times New Roman"/>
              </a:rPr>
              <a:t> </a:t>
            </a:r>
            <a:r>
              <a:rPr lang="vi-VN" sz="2400" spc="-20" dirty="0">
                <a:cs typeface="Arial"/>
              </a:rPr>
              <a:t>l</a:t>
            </a:r>
            <a:r>
              <a:rPr lang="vi-VN" sz="2400" spc="-15" dirty="0">
                <a:cs typeface="Arial"/>
              </a:rPr>
              <a:t>à</a:t>
            </a:r>
            <a:r>
              <a:rPr lang="vi-VN" sz="2400" spc="145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1</a:t>
            </a:r>
            <a:endParaRPr lang="vi-VN" sz="2400" dirty="0">
              <a:cs typeface="Arial"/>
            </a:endParaRPr>
          </a:p>
          <a:p>
            <a:pPr marL="546735" indent="0">
              <a:lnSpc>
                <a:spcPct val="100000"/>
              </a:lnSpc>
              <a:spcBef>
                <a:spcPts val="635"/>
              </a:spcBef>
              <a:buNone/>
            </a:pPr>
            <a:r>
              <a:rPr lang="vi-VN" sz="2400" spc="-20" dirty="0">
                <a:cs typeface="Arial"/>
              </a:rPr>
              <a:t>đố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spc="-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t</a:t>
            </a:r>
            <a:r>
              <a:rPr lang="vi-VN" sz="2400" spc="-15" dirty="0">
                <a:cs typeface="Arial"/>
              </a:rPr>
              <a:t>ư</a:t>
            </a:r>
            <a:r>
              <a:rPr lang="vi-VN" sz="2400" spc="-25" dirty="0">
                <a:cs typeface="Arial"/>
              </a:rPr>
              <a:t>ợ</a:t>
            </a:r>
            <a:r>
              <a:rPr lang="vi-VN" sz="2400" spc="-20" dirty="0">
                <a:cs typeface="Arial"/>
              </a:rPr>
              <a:t>n</a:t>
            </a:r>
            <a:r>
              <a:rPr lang="vi-VN" sz="2400" spc="-15" dirty="0">
                <a:cs typeface="Arial"/>
              </a:rPr>
              <a:t>g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t</a:t>
            </a:r>
            <a:r>
              <a:rPr lang="vi-VN" sz="2400" spc="-20" dirty="0">
                <a:cs typeface="Arial"/>
              </a:rPr>
              <a:t>huộ</a:t>
            </a:r>
            <a:r>
              <a:rPr lang="vi-VN" sz="2400" spc="-15" dirty="0">
                <a:cs typeface="Arial"/>
              </a:rPr>
              <a:t>c</a:t>
            </a:r>
            <a:r>
              <a:rPr lang="vi-VN" sz="2400" spc="5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l</a:t>
            </a:r>
            <a:r>
              <a:rPr lang="vi-VN" sz="2400" spc="-25" dirty="0">
                <a:cs typeface="Arial"/>
              </a:rPr>
              <a:t>ớ</a:t>
            </a:r>
            <a:r>
              <a:rPr lang="vi-VN" sz="2400" spc="-15" dirty="0">
                <a:cs typeface="Arial"/>
              </a:rPr>
              <a:t>p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-25" dirty="0">
                <a:solidFill>
                  <a:srgbClr val="0000FF"/>
                </a:solidFill>
                <a:cs typeface="Arial"/>
              </a:rPr>
              <a:t>Si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nh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v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ie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n</a:t>
            </a:r>
            <a:r>
              <a:rPr lang="en-US" sz="2400" spc="-15" dirty="0">
                <a:solidFill>
                  <a:srgbClr val="0000FF"/>
                </a:solidFill>
                <a:cs typeface="Arial"/>
              </a:rPr>
              <a:t>.</a:t>
            </a:r>
            <a:endParaRPr lang="vi-VN" sz="2400" dirty="0">
              <a:cs typeface="Arial"/>
            </a:endParaRPr>
          </a:p>
          <a:p>
            <a:pPr marL="390525" marR="7620" indent="-377825">
              <a:lnSpc>
                <a:spcPct val="120000"/>
              </a:lnSpc>
              <a:spcBef>
                <a:spcPts val="625"/>
              </a:spcBef>
              <a:buClr>
                <a:srgbClr val="0000FF"/>
              </a:buClr>
              <a:buFont typeface="Wingdings"/>
              <a:buChar char=""/>
              <a:tabLst>
                <a:tab pos="390525" algn="l"/>
              </a:tabLst>
            </a:pPr>
            <a:r>
              <a:rPr lang="vi-VN" sz="2400" spc="415" dirty="0">
                <a:solidFill>
                  <a:srgbClr val="0000FF"/>
                </a:solidFill>
                <a:cs typeface="Arial"/>
              </a:rPr>
              <a:t>Đ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ố</a:t>
            </a:r>
            <a:r>
              <a:rPr lang="vi-VN" sz="2400" spc="-10" dirty="0">
                <a:solidFill>
                  <a:srgbClr val="0000FF"/>
                </a:solidFill>
                <a:cs typeface="Arial"/>
              </a:rPr>
              <a:t>i</a:t>
            </a:r>
            <a:r>
              <a:rPr lang="vi-VN" sz="2400" spc="45" dirty="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t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ư</a:t>
            </a:r>
            <a:r>
              <a:rPr lang="vi-VN" sz="2400" spc="-25" dirty="0">
                <a:solidFill>
                  <a:srgbClr val="0000FF"/>
                </a:solidFill>
                <a:cs typeface="Arial"/>
              </a:rPr>
              <a:t>ợ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n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g</a:t>
            </a:r>
            <a:r>
              <a:rPr lang="vi-VN" sz="2400" spc="50" dirty="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-5" dirty="0">
                <a:solidFill>
                  <a:srgbClr val="0000FF"/>
                </a:solidFill>
                <a:cs typeface="Arial"/>
              </a:rPr>
              <a:t>(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o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b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je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c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t</a:t>
            </a:r>
            <a:r>
              <a:rPr lang="vi-VN" sz="2400" spc="-10" dirty="0">
                <a:solidFill>
                  <a:srgbClr val="0000FF"/>
                </a:solidFill>
                <a:cs typeface="Arial"/>
              </a:rPr>
              <a:t>)</a:t>
            </a:r>
            <a:r>
              <a:rPr lang="vi-VN" sz="2400" spc="60" dirty="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c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ủ</a:t>
            </a:r>
            <a:r>
              <a:rPr lang="vi-VN" sz="2400" spc="-15" dirty="0">
                <a:solidFill>
                  <a:srgbClr val="0000FF"/>
                </a:solidFill>
                <a:cs typeface="Arial"/>
              </a:rPr>
              <a:t>a</a:t>
            </a:r>
            <a:r>
              <a:rPr lang="vi-VN" sz="2400" spc="50" dirty="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l</a:t>
            </a:r>
            <a:r>
              <a:rPr lang="vi-VN" sz="2400" dirty="0">
                <a:solidFill>
                  <a:srgbClr val="0000FF"/>
                </a:solidFill>
                <a:cs typeface="Arial"/>
              </a:rPr>
              <a:t>ớ</a:t>
            </a:r>
            <a:r>
              <a:rPr lang="vi-VN" sz="2400" spc="-20" dirty="0">
                <a:solidFill>
                  <a:srgbClr val="0000FF"/>
                </a:solidFill>
                <a:cs typeface="Arial"/>
              </a:rPr>
              <a:t>p</a:t>
            </a:r>
            <a:r>
              <a:rPr lang="vi-VN" sz="2400" spc="-10" dirty="0">
                <a:solidFill>
                  <a:srgbClr val="0000FF"/>
                </a:solidFill>
                <a:cs typeface="Arial"/>
              </a:rPr>
              <a:t>:</a:t>
            </a:r>
            <a:r>
              <a:rPr lang="vi-VN" sz="2400" spc="65" dirty="0">
                <a:solidFill>
                  <a:srgbClr val="0000FF"/>
                </a:solidFill>
                <a:cs typeface="Arial"/>
              </a:rPr>
              <a:t> </a:t>
            </a:r>
            <a:r>
              <a:rPr lang="vi-VN" sz="2400" spc="-45" dirty="0">
                <a:cs typeface="Arial"/>
              </a:rPr>
              <a:t>M</a:t>
            </a:r>
            <a:r>
              <a:rPr lang="vi-VN" sz="2400" spc="-20" dirty="0">
                <a:cs typeface="Arial"/>
              </a:rPr>
              <a:t>ộ</a:t>
            </a:r>
            <a:r>
              <a:rPr lang="vi-VN" sz="2400" spc="-10" dirty="0">
                <a:cs typeface="Arial"/>
              </a:rPr>
              <a:t>t</a:t>
            </a:r>
            <a:r>
              <a:rPr lang="vi-VN" sz="2400" spc="65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đố</a:t>
            </a:r>
            <a:r>
              <a:rPr lang="vi-VN" sz="2400" spc="-10" dirty="0">
                <a:cs typeface="Arial"/>
              </a:rPr>
              <a:t>i</a:t>
            </a:r>
            <a:r>
              <a:rPr lang="vi-VN" sz="2400" spc="4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t</a:t>
            </a:r>
            <a:r>
              <a:rPr lang="vi-VN" sz="2400" spc="-15" dirty="0">
                <a:cs typeface="Arial"/>
              </a:rPr>
              <a:t>ư</a:t>
            </a:r>
            <a:r>
              <a:rPr lang="vi-VN" sz="2400" spc="-25" dirty="0">
                <a:cs typeface="Arial"/>
              </a:rPr>
              <a:t>ợ</a:t>
            </a:r>
            <a:r>
              <a:rPr lang="vi-VN" sz="2400" dirty="0">
                <a:cs typeface="Arial"/>
              </a:rPr>
              <a:t>n</a:t>
            </a:r>
            <a:r>
              <a:rPr lang="vi-VN" sz="2400" spc="-15" dirty="0">
                <a:cs typeface="Arial"/>
              </a:rPr>
              <a:t>g</a:t>
            </a:r>
            <a:r>
              <a:rPr lang="vi-VN" sz="2400" spc="50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cụ</a:t>
            </a:r>
            <a:r>
              <a:rPr lang="vi-VN" sz="2400" spc="50" dirty="0">
                <a:cs typeface="Arial"/>
              </a:rPr>
              <a:t> </a:t>
            </a:r>
            <a:r>
              <a:rPr lang="vi-VN" sz="2400" dirty="0">
                <a:cs typeface="Arial"/>
              </a:rPr>
              <a:t>t</a:t>
            </a:r>
            <a:r>
              <a:rPr lang="vi-VN" sz="2400" spc="-20" dirty="0">
                <a:cs typeface="Arial"/>
              </a:rPr>
              <a:t>h</a:t>
            </a:r>
            <a:r>
              <a:rPr lang="vi-VN" sz="2400" spc="-15" dirty="0">
                <a:cs typeface="Arial"/>
              </a:rPr>
              <a:t>ể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dirty="0">
                <a:cs typeface="Arial"/>
              </a:rPr>
              <a:t>t</a:t>
            </a:r>
            <a:r>
              <a:rPr lang="vi-VN" sz="2400" spc="-20" dirty="0">
                <a:cs typeface="Arial"/>
              </a:rPr>
              <a:t>huộ</a:t>
            </a:r>
            <a:r>
              <a:rPr lang="vi-VN" sz="2400" spc="-15" dirty="0">
                <a:cs typeface="Arial"/>
              </a:rPr>
              <a:t>c</a:t>
            </a:r>
            <a:r>
              <a:rPr lang="vi-VN" sz="2400" spc="55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1</a:t>
            </a:r>
            <a:r>
              <a:rPr lang="vi-VN" sz="2400" spc="-10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l</a:t>
            </a:r>
            <a:r>
              <a:rPr lang="vi-VN" sz="2400" spc="-25" dirty="0">
                <a:cs typeface="Arial"/>
              </a:rPr>
              <a:t>ớ</a:t>
            </a:r>
            <a:r>
              <a:rPr lang="vi-VN" sz="2400" spc="-20" dirty="0">
                <a:cs typeface="Arial"/>
              </a:rPr>
              <a:t>p</a:t>
            </a:r>
            <a:r>
              <a:rPr lang="vi-VN" sz="2400" spc="-10" dirty="0">
                <a:cs typeface="Arial"/>
              </a:rPr>
              <a:t>,</a:t>
            </a:r>
            <a:r>
              <a:rPr lang="vi-VN" sz="2400" spc="15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1</a:t>
            </a:r>
            <a:r>
              <a:rPr lang="vi-VN" sz="2400" spc="-25" dirty="0">
                <a:cs typeface="Arial"/>
              </a:rPr>
              <a:t> </a:t>
            </a:r>
            <a:r>
              <a:rPr lang="vi-VN" sz="2400" dirty="0">
                <a:solidFill>
                  <a:srgbClr val="FF0000"/>
                </a:solidFill>
                <a:cs typeface="Arial"/>
              </a:rPr>
              <a:t>t</a:t>
            </a:r>
            <a:r>
              <a:rPr lang="vi-VN" sz="2400" spc="-20" dirty="0">
                <a:solidFill>
                  <a:srgbClr val="FF0000"/>
                </a:solidFill>
                <a:cs typeface="Arial"/>
              </a:rPr>
              <a:t>h</a:t>
            </a:r>
            <a:r>
              <a:rPr lang="vi-VN" sz="2400" spc="-15" dirty="0">
                <a:solidFill>
                  <a:srgbClr val="FF0000"/>
                </a:solidFill>
                <a:cs typeface="Arial"/>
              </a:rPr>
              <a:t>ể</a:t>
            </a:r>
            <a:r>
              <a:rPr lang="vi-VN" sz="2400" dirty="0">
                <a:solidFill>
                  <a:srgbClr val="FF0000"/>
                </a:solidFill>
                <a:cs typeface="Arial"/>
              </a:rPr>
              <a:t> </a:t>
            </a:r>
            <a:r>
              <a:rPr lang="vi-VN" sz="2400" spc="-20" dirty="0">
                <a:solidFill>
                  <a:srgbClr val="FF0000"/>
                </a:solidFill>
                <a:cs typeface="Arial"/>
              </a:rPr>
              <a:t>hiệ</a:t>
            </a:r>
            <a:r>
              <a:rPr lang="vi-VN" sz="2400" spc="-15" dirty="0">
                <a:solidFill>
                  <a:srgbClr val="FF0000"/>
                </a:solidFill>
                <a:cs typeface="Arial"/>
              </a:rPr>
              <a:t>n</a:t>
            </a:r>
            <a:r>
              <a:rPr lang="vi-VN" sz="2400" spc="50" dirty="0">
                <a:solidFill>
                  <a:srgbClr val="FF0000"/>
                </a:solidFill>
                <a:cs typeface="Arial"/>
              </a:rPr>
              <a:t> </a:t>
            </a:r>
            <a:r>
              <a:rPr lang="vi-VN" sz="2400" spc="-15" dirty="0">
                <a:cs typeface="Arial"/>
              </a:rPr>
              <a:t>cụ</a:t>
            </a:r>
            <a:r>
              <a:rPr lang="vi-VN" sz="2400" dirty="0">
                <a:cs typeface="Arial"/>
              </a:rPr>
              <a:t> t</a:t>
            </a:r>
            <a:r>
              <a:rPr lang="vi-VN" sz="2400" spc="-20" dirty="0">
                <a:cs typeface="Arial"/>
              </a:rPr>
              <a:t>h</a:t>
            </a:r>
            <a:r>
              <a:rPr lang="vi-VN" sz="2400" spc="-15" dirty="0">
                <a:cs typeface="Arial"/>
              </a:rPr>
              <a:t>ể</a:t>
            </a:r>
            <a:r>
              <a:rPr lang="vi-VN" sz="2400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c</a:t>
            </a:r>
            <a:r>
              <a:rPr lang="vi-VN" sz="2400" spc="-20" dirty="0">
                <a:cs typeface="Arial"/>
              </a:rPr>
              <a:t>ủ</a:t>
            </a:r>
            <a:r>
              <a:rPr lang="vi-VN" sz="2400" spc="-15" dirty="0">
                <a:cs typeface="Arial"/>
              </a:rPr>
              <a:t>a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-15" dirty="0">
                <a:cs typeface="Arial"/>
              </a:rPr>
              <a:t>1</a:t>
            </a:r>
            <a:r>
              <a:rPr lang="vi-VN" sz="2400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l</a:t>
            </a:r>
            <a:r>
              <a:rPr lang="vi-VN" sz="2400" spc="-25" dirty="0">
                <a:cs typeface="Arial"/>
              </a:rPr>
              <a:t>ớ</a:t>
            </a:r>
            <a:r>
              <a:rPr lang="vi-VN" sz="2400" spc="-15" dirty="0">
                <a:cs typeface="Arial"/>
              </a:rPr>
              <a:t>p</a:t>
            </a:r>
            <a:r>
              <a:rPr lang="vi-VN" sz="2400" spc="25" dirty="0">
                <a:cs typeface="Arial"/>
              </a:rPr>
              <a:t> </a:t>
            </a:r>
            <a:r>
              <a:rPr lang="vi-VN" sz="2400" spc="-20" dirty="0">
                <a:cs typeface="Arial"/>
              </a:rPr>
              <a:t>đó</a:t>
            </a:r>
            <a:r>
              <a:rPr lang="vi-VN" sz="2400" spc="-10" dirty="0">
                <a:cs typeface="Arial"/>
              </a:rPr>
              <a:t>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74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L</a:t>
            </a:r>
            <a:r>
              <a:rPr lang="vi-VN" spc="10">
                <a:cs typeface="Arial"/>
              </a:rPr>
              <a:t>ớ</a:t>
            </a:r>
            <a:r>
              <a:rPr lang="vi-VN"/>
              <a:t>p</a:t>
            </a:r>
            <a:r>
              <a:rPr lang="vi-VN" spc="-35"/>
              <a:t> </a:t>
            </a:r>
            <a:r>
              <a:rPr lang="vi-VN" spc="-45"/>
              <a:t>v</a:t>
            </a:r>
            <a:r>
              <a:rPr lang="vi-VN"/>
              <a:t>à</a:t>
            </a:r>
            <a:r>
              <a:rPr lang="vi-VN" spc="40"/>
              <a:t> </a:t>
            </a:r>
            <a:r>
              <a:rPr lang="vi-VN" spc="5"/>
              <a:t>Đ</a:t>
            </a:r>
            <a:r>
              <a:rPr lang="vi-VN">
                <a:cs typeface="Arial"/>
              </a:rPr>
              <a:t>ố</a:t>
            </a:r>
            <a:r>
              <a:rPr lang="vi-VN"/>
              <a:t>i</a:t>
            </a:r>
            <a:r>
              <a:rPr lang="vi-VN" spc="-10"/>
              <a:t> </a:t>
            </a:r>
            <a:r>
              <a:rPr lang="vi-VN"/>
              <a:t>t</a:t>
            </a:r>
            <a:r>
              <a:rPr lang="vi-VN" spc="-15">
                <a:cs typeface="Arial"/>
              </a:rPr>
              <a:t>ư</a:t>
            </a:r>
            <a:r>
              <a:rPr lang="vi-VN" spc="10">
                <a:cs typeface="Arial"/>
              </a:rPr>
              <a:t>ợ</a:t>
            </a:r>
            <a:r>
              <a:rPr lang="vi-VN"/>
              <a:t>ng</a:t>
            </a:r>
            <a:r>
              <a:rPr lang="vi-VN" spc="-35"/>
              <a:t> </a:t>
            </a:r>
            <a:r>
              <a:rPr lang="vi-VN"/>
              <a:t>t</a:t>
            </a:r>
            <a:r>
              <a:rPr lang="vi-VN" spc="-5"/>
              <a:t>r</a:t>
            </a:r>
            <a:r>
              <a:rPr lang="vi-VN"/>
              <a:t>ong</a:t>
            </a:r>
            <a:r>
              <a:rPr lang="vi-VN" spc="-10"/>
              <a:t> </a:t>
            </a:r>
            <a:r>
              <a:rPr lang="vi-VN"/>
              <a:t>j</a:t>
            </a:r>
            <a:r>
              <a:rPr lang="vi-VN" spc="5"/>
              <a:t>a</a:t>
            </a:r>
            <a:r>
              <a:rPr lang="vi-VN" spc="-45"/>
              <a:t>v</a:t>
            </a:r>
            <a:r>
              <a:rPr lang="vi-VN"/>
              <a:t>a</a:t>
            </a:r>
            <a:endParaRPr lang="en-US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533400"/>
          </a:xfrm>
        </p:spPr>
        <p:txBody>
          <a:bodyPr/>
          <a:lstStyle/>
          <a:p>
            <a:pPr eaLnBrk="1" hangingPunct="1"/>
            <a:r>
              <a:rPr lang="en-US"/>
              <a:t>Khai báo class:</a:t>
            </a: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1524000" y="1295400"/>
            <a:ext cx="6248400" cy="1812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r>
              <a:rPr lang="en-US" b="1">
                <a:solidFill>
                  <a:srgbClr val="0000FF"/>
                </a:solidFill>
              </a:rPr>
              <a:t>&lt;modifier&gt; </a:t>
            </a:r>
            <a:r>
              <a:rPr lang="en-US" b="1">
                <a:solidFill>
                  <a:srgbClr val="FF0000"/>
                </a:solidFill>
              </a:rPr>
              <a:t>class</a:t>
            </a:r>
            <a:r>
              <a:rPr lang="en-US" b="1">
                <a:solidFill>
                  <a:srgbClr val="0000FF"/>
                </a:solidFill>
              </a:rPr>
              <a:t> &lt;name&gt; {</a:t>
            </a:r>
          </a:p>
          <a:p>
            <a:r>
              <a:rPr lang="en-US" b="1">
                <a:solidFill>
                  <a:srgbClr val="0000FF"/>
                </a:solidFill>
              </a:rPr>
              <a:t>      &lt;khai báo thuộc tính&gt;*</a:t>
            </a:r>
          </a:p>
          <a:p>
            <a:r>
              <a:rPr lang="en-US" b="1">
                <a:solidFill>
                  <a:srgbClr val="0000FF"/>
                </a:solidFill>
              </a:rPr>
              <a:t>      &lt;Khai báo khởi dựng&gt;*</a:t>
            </a:r>
          </a:p>
          <a:p>
            <a:r>
              <a:rPr lang="en-US" b="1">
                <a:solidFill>
                  <a:srgbClr val="0000FF"/>
                </a:solidFill>
              </a:rPr>
              <a:t>      &lt;Khai báo phương thức&gt;*    </a:t>
            </a:r>
          </a:p>
          <a:p>
            <a:r>
              <a:rPr lang="en-US" b="1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5126" name="Rectangle 5"/>
          <p:cNvSpPr>
            <a:spLocks noChangeArrowheads="1"/>
          </p:cNvSpPr>
          <p:nvPr/>
        </p:nvSpPr>
        <p:spPr bwMode="auto">
          <a:xfrm>
            <a:off x="0" y="3124200"/>
            <a:ext cx="91440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5750" indent="-285750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</a:pPr>
            <a:r>
              <a:rPr lang="en-US" sz="2200">
                <a:latin typeface="Arial" charset="0"/>
              </a:rPr>
              <a:t>Giải thích: </a:t>
            </a:r>
            <a:endParaRPr lang="en-US" sz="2200" i="1">
              <a:latin typeface="Arial" charset="0"/>
            </a:endParaRPr>
          </a:p>
          <a:p>
            <a:pPr marL="628650" lvl="1" indent="-228600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</a:pPr>
            <a:r>
              <a:rPr lang="en-US" sz="2200" i="1">
                <a:latin typeface="Arial" charset="0"/>
              </a:rPr>
              <a:t>&lt;modifier&gt;</a:t>
            </a:r>
            <a:r>
              <a:rPr lang="en-US" sz="2200">
                <a:latin typeface="Arial" charset="0"/>
              </a:rPr>
              <a:t> phạm vi truy xuất. </a:t>
            </a:r>
          </a:p>
          <a:p>
            <a:pPr marL="628650" lvl="1" indent="-228600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</a:pPr>
            <a:r>
              <a:rPr lang="en-US" sz="2200">
                <a:latin typeface="Arial" charset="0"/>
              </a:rPr>
              <a:t>Lưu ý: khai báo &lt;modifier&gt; cho class ở mức đỉnh chỉ có  thể là : public, default, protected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L</a:t>
            </a:r>
            <a:r>
              <a:rPr lang="vi-VN" spc="10">
                <a:cs typeface="Arial"/>
              </a:rPr>
              <a:t>ớ</a:t>
            </a:r>
            <a:r>
              <a:rPr lang="vi-VN"/>
              <a:t>p</a:t>
            </a:r>
            <a:r>
              <a:rPr lang="vi-VN" spc="-35"/>
              <a:t> </a:t>
            </a:r>
            <a:r>
              <a:rPr lang="vi-VN" spc="-45"/>
              <a:t>v</a:t>
            </a:r>
            <a:r>
              <a:rPr lang="vi-VN"/>
              <a:t>à</a:t>
            </a:r>
            <a:r>
              <a:rPr lang="vi-VN" spc="40"/>
              <a:t> </a:t>
            </a:r>
            <a:r>
              <a:rPr lang="vi-VN" spc="5"/>
              <a:t>Đ</a:t>
            </a:r>
            <a:r>
              <a:rPr lang="vi-VN">
                <a:cs typeface="Arial"/>
              </a:rPr>
              <a:t>ố</a:t>
            </a:r>
            <a:r>
              <a:rPr lang="vi-VN"/>
              <a:t>i</a:t>
            </a:r>
            <a:r>
              <a:rPr lang="vi-VN" spc="-10"/>
              <a:t> </a:t>
            </a:r>
            <a:r>
              <a:rPr lang="vi-VN"/>
              <a:t>t</a:t>
            </a:r>
            <a:r>
              <a:rPr lang="vi-VN" spc="-15">
                <a:cs typeface="Arial"/>
              </a:rPr>
              <a:t>ư</a:t>
            </a:r>
            <a:r>
              <a:rPr lang="vi-VN" spc="10">
                <a:cs typeface="Arial"/>
              </a:rPr>
              <a:t>ợ</a:t>
            </a:r>
            <a:r>
              <a:rPr lang="vi-VN"/>
              <a:t>ng</a:t>
            </a:r>
            <a:r>
              <a:rPr lang="vi-VN" spc="-35"/>
              <a:t> </a:t>
            </a:r>
            <a:r>
              <a:rPr lang="vi-VN"/>
              <a:t>t</a:t>
            </a:r>
            <a:r>
              <a:rPr lang="vi-VN" spc="-5"/>
              <a:t>r</a:t>
            </a:r>
            <a:r>
              <a:rPr lang="vi-VN"/>
              <a:t>ong</a:t>
            </a:r>
            <a:r>
              <a:rPr lang="vi-VN" spc="-10"/>
              <a:t> </a:t>
            </a:r>
            <a:r>
              <a:rPr lang="vi-VN"/>
              <a:t>j</a:t>
            </a:r>
            <a:r>
              <a:rPr lang="vi-VN" spc="5"/>
              <a:t>a</a:t>
            </a:r>
            <a:r>
              <a:rPr lang="vi-VN" spc="-45"/>
              <a:t>v</a:t>
            </a:r>
            <a:r>
              <a:rPr lang="vi-VN"/>
              <a:t>a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0525" marR="5080" indent="-377825">
              <a:lnSpc>
                <a:spcPct val="120000"/>
              </a:lnSpc>
              <a:buClr>
                <a:srgbClr val="0000FF"/>
              </a:buClr>
              <a:buFont typeface="Wingdings"/>
              <a:buChar char=""/>
              <a:tabLst>
                <a:tab pos="391160" algn="l"/>
              </a:tabLst>
            </a:pPr>
            <a:r>
              <a:rPr lang="vi-VN" spc="20">
                <a:solidFill>
                  <a:srgbClr val="0000FF"/>
                </a:solidFill>
              </a:rPr>
              <a:t>T</a:t>
            </a:r>
            <a:r>
              <a:rPr lang="vi-VN" spc="-20">
                <a:solidFill>
                  <a:srgbClr val="0000FF"/>
                </a:solidFill>
              </a:rPr>
              <a:t>hu</a:t>
            </a:r>
            <a:r>
              <a:rPr lang="vi-VN" spc="-20">
                <a:solidFill>
                  <a:srgbClr val="0000FF"/>
                </a:solidFill>
                <a:cs typeface="Arial"/>
              </a:rPr>
              <a:t>ộ</a:t>
            </a:r>
            <a:r>
              <a:rPr lang="vi-VN" spc="-15">
                <a:solidFill>
                  <a:srgbClr val="0000FF"/>
                </a:solidFill>
              </a:rPr>
              <a:t>c</a:t>
            </a:r>
            <a:r>
              <a:rPr lang="vi-VN" spc="245">
                <a:solidFill>
                  <a:srgbClr val="0000FF"/>
                </a:solidFill>
              </a:rPr>
              <a:t> </a:t>
            </a:r>
            <a:r>
              <a:rPr lang="vi-VN">
                <a:solidFill>
                  <a:srgbClr val="0000FF"/>
                </a:solidFill>
              </a:rPr>
              <a:t>tí</a:t>
            </a:r>
            <a:r>
              <a:rPr lang="vi-VN" spc="-20">
                <a:solidFill>
                  <a:srgbClr val="0000FF"/>
                </a:solidFill>
              </a:rPr>
              <a:t>nh</a:t>
            </a:r>
            <a:r>
              <a:rPr lang="vi-VN" spc="-10">
                <a:solidFill>
                  <a:srgbClr val="0000FF"/>
                </a:solidFill>
              </a:rPr>
              <a:t>:</a:t>
            </a:r>
            <a:r>
              <a:rPr lang="vi-VN" spc="254">
                <a:solidFill>
                  <a:srgbClr val="0000FF"/>
                </a:solidFill>
              </a:rPr>
              <a:t> </a:t>
            </a:r>
            <a:r>
              <a:rPr lang="vi-VN" spc="-30"/>
              <a:t>C</a:t>
            </a:r>
            <a:r>
              <a:rPr lang="vi-VN" spc="-20"/>
              <a:t>á</a:t>
            </a:r>
            <a:r>
              <a:rPr lang="vi-VN" spc="-15"/>
              <a:t>c</a:t>
            </a:r>
            <a:r>
              <a:rPr lang="vi-VN" spc="245"/>
              <a:t> </a:t>
            </a:r>
            <a:r>
              <a:rPr lang="vi-VN" spc="-20"/>
              <a:t>đ</a:t>
            </a:r>
            <a:r>
              <a:rPr lang="vi-VN" spc="-20">
                <a:cs typeface="Arial"/>
              </a:rPr>
              <a:t>ặ</a:t>
            </a:r>
            <a:r>
              <a:rPr lang="vi-VN" spc="-15"/>
              <a:t>c</a:t>
            </a:r>
            <a:r>
              <a:rPr lang="vi-VN" spc="270"/>
              <a:t> </a:t>
            </a:r>
            <a:r>
              <a:rPr lang="vi-VN" spc="-20"/>
              <a:t>đ</a:t>
            </a:r>
            <a:r>
              <a:rPr lang="vi-VN"/>
              <a:t>i</a:t>
            </a:r>
            <a:r>
              <a:rPr lang="vi-VN" spc="-20">
                <a:cs typeface="Arial"/>
              </a:rPr>
              <a:t>ể</a:t>
            </a:r>
            <a:r>
              <a:rPr lang="vi-VN" spc="-25"/>
              <a:t>m</a:t>
            </a:r>
            <a:r>
              <a:rPr lang="vi-VN" spc="254"/>
              <a:t> </a:t>
            </a:r>
            <a:r>
              <a:rPr lang="vi-VN" spc="-20"/>
              <a:t>ma</a:t>
            </a:r>
            <a:r>
              <a:rPr lang="vi-VN"/>
              <a:t>n</a:t>
            </a:r>
            <a:r>
              <a:rPr lang="vi-VN" spc="-15"/>
              <a:t>g</a:t>
            </a:r>
            <a:r>
              <a:rPr lang="vi-VN" spc="240"/>
              <a:t> </a:t>
            </a:r>
            <a:r>
              <a:rPr lang="vi-VN"/>
              <a:t>g</a:t>
            </a:r>
            <a:r>
              <a:rPr lang="vi-VN" spc="-20"/>
              <a:t>i</a:t>
            </a:r>
            <a:r>
              <a:rPr lang="vi-VN" spc="-15"/>
              <a:t>á</a:t>
            </a:r>
            <a:r>
              <a:rPr lang="vi-VN" spc="240"/>
              <a:t> </a:t>
            </a:r>
            <a:r>
              <a:rPr lang="vi-VN"/>
              <a:t>t</a:t>
            </a:r>
            <a:r>
              <a:rPr lang="vi-VN" spc="-5"/>
              <a:t>r</a:t>
            </a:r>
            <a:r>
              <a:rPr lang="vi-VN" spc="-10">
                <a:cs typeface="Arial"/>
              </a:rPr>
              <a:t>ị</a:t>
            </a:r>
            <a:r>
              <a:rPr lang="vi-VN" spc="235">
                <a:cs typeface="Arial"/>
              </a:rPr>
              <a:t> </a:t>
            </a:r>
            <a:r>
              <a:rPr lang="vi-VN"/>
              <a:t>c</a:t>
            </a:r>
            <a:r>
              <a:rPr lang="vi-VN" spc="-20">
                <a:cs typeface="Arial"/>
              </a:rPr>
              <a:t>ủ</a:t>
            </a:r>
            <a:r>
              <a:rPr lang="vi-VN" spc="-15"/>
              <a:t>a</a:t>
            </a:r>
            <a:r>
              <a:rPr lang="vi-VN" spc="240"/>
              <a:t> </a:t>
            </a:r>
            <a:r>
              <a:rPr lang="vi-VN"/>
              <a:t>đ</a:t>
            </a:r>
            <a:r>
              <a:rPr lang="vi-VN">
                <a:cs typeface="Arial"/>
              </a:rPr>
              <a:t>ố</a:t>
            </a:r>
            <a:r>
              <a:rPr lang="vi-VN" spc="-10"/>
              <a:t>i</a:t>
            </a:r>
            <a:r>
              <a:rPr lang="vi-VN" spc="235"/>
              <a:t> </a:t>
            </a:r>
            <a:r>
              <a:rPr lang="vi-VN"/>
              <a:t>t</a:t>
            </a:r>
            <a:r>
              <a:rPr lang="vi-VN" spc="-15">
                <a:cs typeface="Arial"/>
              </a:rPr>
              <a:t>ư</a:t>
            </a:r>
            <a:r>
              <a:rPr lang="vi-VN" spc="-25">
                <a:cs typeface="Arial"/>
              </a:rPr>
              <a:t>ợ</a:t>
            </a:r>
            <a:r>
              <a:rPr lang="vi-VN" spc="-20"/>
              <a:t>ng</a:t>
            </a:r>
            <a:r>
              <a:rPr lang="vi-VN" spc="-10"/>
              <a:t>,</a:t>
            </a:r>
            <a:r>
              <a:rPr lang="vi-VN" spc="254"/>
              <a:t> </a:t>
            </a:r>
            <a:r>
              <a:rPr lang="vi-VN" spc="25"/>
              <a:t>l</a:t>
            </a:r>
            <a:r>
              <a:rPr lang="vi-VN" spc="-15"/>
              <a:t>à v</a:t>
            </a:r>
            <a:r>
              <a:rPr lang="vi-VN" spc="-20"/>
              <a:t>ùn</a:t>
            </a:r>
            <a:r>
              <a:rPr lang="vi-VN" spc="-15"/>
              <a:t>g</a:t>
            </a:r>
            <a:r>
              <a:rPr lang="vi-VN"/>
              <a:t> </a:t>
            </a:r>
            <a:r>
              <a:rPr lang="vi-VN" spc="-20"/>
              <a:t>d</a:t>
            </a:r>
            <a:r>
              <a:rPr lang="vi-VN" spc="-20">
                <a:cs typeface="Arial"/>
              </a:rPr>
              <a:t>ữ</a:t>
            </a:r>
            <a:r>
              <a:rPr lang="vi-VN" spc="15">
                <a:cs typeface="Arial"/>
              </a:rPr>
              <a:t> </a:t>
            </a:r>
            <a:r>
              <a:rPr lang="vi-VN" spc="-20"/>
              <a:t>li</a:t>
            </a:r>
            <a:r>
              <a:rPr lang="vi-VN" spc="-20">
                <a:cs typeface="Arial"/>
              </a:rPr>
              <a:t>ệ</a:t>
            </a:r>
            <a:r>
              <a:rPr lang="vi-VN" spc="-15"/>
              <a:t>u</a:t>
            </a:r>
            <a:r>
              <a:rPr lang="vi-VN" spc="50"/>
              <a:t> </a:t>
            </a:r>
            <a:r>
              <a:rPr lang="vi-VN" spc="-20"/>
              <a:t>đ</a:t>
            </a:r>
            <a:r>
              <a:rPr lang="vi-VN" spc="-15">
                <a:cs typeface="Arial"/>
              </a:rPr>
              <a:t>ư</a:t>
            </a:r>
            <a:r>
              <a:rPr lang="vi-VN" spc="-25">
                <a:cs typeface="Arial"/>
              </a:rPr>
              <a:t>ợ</a:t>
            </a:r>
            <a:r>
              <a:rPr lang="vi-VN" spc="-15"/>
              <a:t>c</a:t>
            </a:r>
            <a:r>
              <a:rPr lang="vi-VN" spc="30"/>
              <a:t> </a:t>
            </a:r>
            <a:r>
              <a:rPr lang="vi-VN" spc="-15"/>
              <a:t>k</a:t>
            </a:r>
            <a:r>
              <a:rPr lang="vi-VN" spc="-20"/>
              <a:t>ha</a:t>
            </a:r>
            <a:r>
              <a:rPr lang="vi-VN" spc="-10"/>
              <a:t>i</a:t>
            </a:r>
            <a:r>
              <a:rPr lang="vi-VN" spc="20"/>
              <a:t> </a:t>
            </a:r>
            <a:r>
              <a:rPr lang="vi-VN" spc="-20"/>
              <a:t>bá</a:t>
            </a:r>
            <a:r>
              <a:rPr lang="vi-VN" spc="-15"/>
              <a:t>o</a:t>
            </a:r>
            <a:r>
              <a:rPr lang="vi-VN" spc="25"/>
              <a:t> </a:t>
            </a:r>
            <a:r>
              <a:rPr lang="vi-VN" spc="-20"/>
              <a:t>bê</a:t>
            </a:r>
            <a:r>
              <a:rPr lang="vi-VN" spc="-15"/>
              <a:t>n</a:t>
            </a:r>
            <a:r>
              <a:rPr lang="vi-VN" spc="25"/>
              <a:t> </a:t>
            </a:r>
            <a:r>
              <a:rPr lang="vi-VN"/>
              <a:t>t</a:t>
            </a:r>
            <a:r>
              <a:rPr lang="vi-VN" spc="-5"/>
              <a:t>r</a:t>
            </a:r>
            <a:r>
              <a:rPr lang="vi-VN" spc="-20"/>
              <a:t>on</a:t>
            </a:r>
            <a:r>
              <a:rPr lang="vi-VN" spc="-15"/>
              <a:t>g</a:t>
            </a:r>
            <a:r>
              <a:rPr lang="vi-VN"/>
              <a:t> </a:t>
            </a:r>
            <a:r>
              <a:rPr lang="vi-VN" spc="-20"/>
              <a:t>l</a:t>
            </a:r>
            <a:r>
              <a:rPr lang="vi-VN" spc="-25">
                <a:cs typeface="Arial"/>
              </a:rPr>
              <a:t>ớ</a:t>
            </a:r>
            <a:r>
              <a:rPr lang="vi-VN" spc="-15"/>
              <a:t>p</a:t>
            </a:r>
          </a:p>
          <a:p>
            <a:pPr marL="735330" indent="0">
              <a:lnSpc>
                <a:spcPct val="100000"/>
              </a:lnSpc>
              <a:spcBef>
                <a:spcPts val="1260"/>
              </a:spcBef>
              <a:buNone/>
            </a:pPr>
            <a:r>
              <a:rPr lang="vi-VN" i="1" spc="-15">
                <a:solidFill>
                  <a:srgbClr val="0000FF"/>
                </a:solidFill>
                <a:cs typeface="Arial"/>
              </a:rPr>
              <a:t>c</a:t>
            </a:r>
            <a:r>
              <a:rPr lang="vi-VN" i="1" spc="-20">
                <a:solidFill>
                  <a:srgbClr val="0000FF"/>
                </a:solidFill>
                <a:cs typeface="Arial"/>
              </a:rPr>
              <a:t>la</a:t>
            </a:r>
            <a:r>
              <a:rPr lang="vi-VN" i="1" spc="-15">
                <a:solidFill>
                  <a:srgbClr val="0000FF"/>
                </a:solidFill>
                <a:cs typeface="Arial"/>
              </a:rPr>
              <a:t>ss</a:t>
            </a:r>
            <a:r>
              <a:rPr lang="vi-VN" i="1" spc="5">
                <a:solidFill>
                  <a:srgbClr val="0000FF"/>
                </a:solidFill>
                <a:cs typeface="Arial"/>
              </a:rPr>
              <a:t> </a:t>
            </a:r>
            <a:r>
              <a:rPr lang="vi-VN" i="1" spc="-25">
                <a:cs typeface="Arial"/>
              </a:rPr>
              <a:t>&lt;Cl</a:t>
            </a:r>
            <a:r>
              <a:rPr lang="vi-VN" i="1" spc="-20">
                <a:cs typeface="Arial"/>
              </a:rPr>
              <a:t>a</a:t>
            </a:r>
            <a:r>
              <a:rPr lang="vi-VN" i="1" spc="-15">
                <a:cs typeface="Arial"/>
              </a:rPr>
              <a:t>ss</a:t>
            </a:r>
            <a:r>
              <a:rPr lang="vi-VN" i="1" spc="-30">
                <a:cs typeface="Arial"/>
              </a:rPr>
              <a:t>N</a:t>
            </a:r>
            <a:r>
              <a:rPr lang="vi-VN" i="1">
                <a:cs typeface="Arial"/>
              </a:rPr>
              <a:t>a</a:t>
            </a:r>
            <a:r>
              <a:rPr lang="vi-VN" i="1" spc="-20">
                <a:cs typeface="Arial"/>
              </a:rPr>
              <a:t>me</a:t>
            </a:r>
            <a:r>
              <a:rPr lang="vi-VN" i="1" spc="-30">
                <a:cs typeface="Arial"/>
              </a:rPr>
              <a:t>&gt;</a:t>
            </a:r>
            <a:r>
              <a:rPr lang="vi-VN" i="1" spc="-10">
                <a:cs typeface="Arial"/>
              </a:rPr>
              <a:t>{</a:t>
            </a:r>
          </a:p>
          <a:p>
            <a:pPr marL="1744345" indent="0">
              <a:lnSpc>
                <a:spcPct val="100000"/>
              </a:lnSpc>
              <a:spcBef>
                <a:spcPts val="1285"/>
              </a:spcBef>
              <a:buNone/>
            </a:pPr>
            <a:r>
              <a:rPr lang="vi-VN" i="1" spc="-30">
                <a:cs typeface="Arial"/>
              </a:rPr>
              <a:t>&lt;</a:t>
            </a:r>
            <a:r>
              <a:rPr lang="vi-VN" i="1" spc="-25">
                <a:cs typeface="Arial"/>
              </a:rPr>
              <a:t>T</a:t>
            </a:r>
            <a:r>
              <a:rPr lang="vi-VN" i="1" spc="-20">
                <a:cs typeface="Arial"/>
              </a:rPr>
              <a:t>iề</a:t>
            </a:r>
            <a:r>
              <a:rPr lang="vi-VN" i="1" spc="-15">
                <a:cs typeface="Arial"/>
              </a:rPr>
              <a:t>n</a:t>
            </a:r>
            <a:r>
              <a:rPr lang="vi-VN" i="1" spc="25">
                <a:cs typeface="Arial"/>
              </a:rPr>
              <a:t> </a:t>
            </a:r>
            <a:r>
              <a:rPr lang="vi-VN" i="1">
                <a:cs typeface="Arial"/>
              </a:rPr>
              <a:t>t</a:t>
            </a:r>
            <a:r>
              <a:rPr lang="vi-VN" i="1" spc="-20">
                <a:cs typeface="Arial"/>
              </a:rPr>
              <a:t>ố&gt;</a:t>
            </a:r>
            <a:r>
              <a:rPr lang="vi-VN" i="1" spc="-25">
                <a:cs typeface="Arial"/>
              </a:rPr>
              <a:t> </a:t>
            </a:r>
            <a:r>
              <a:rPr lang="vi-VN" i="1" spc="-30">
                <a:cs typeface="Arial"/>
              </a:rPr>
              <a:t>&lt;</a:t>
            </a:r>
            <a:r>
              <a:rPr lang="vi-VN" i="1" spc="-15">
                <a:cs typeface="Arial"/>
              </a:rPr>
              <a:t>k</a:t>
            </a:r>
            <a:r>
              <a:rPr lang="vi-VN" i="1" spc="-20">
                <a:cs typeface="Arial"/>
              </a:rPr>
              <a:t>iể</a:t>
            </a:r>
            <a:r>
              <a:rPr lang="vi-VN" i="1" spc="-15">
                <a:cs typeface="Arial"/>
              </a:rPr>
              <a:t>u</a:t>
            </a:r>
            <a:r>
              <a:rPr lang="vi-VN" i="1" spc="50">
                <a:cs typeface="Arial"/>
              </a:rPr>
              <a:t> </a:t>
            </a:r>
            <a:r>
              <a:rPr lang="vi-VN" i="1" spc="-20">
                <a:cs typeface="Arial"/>
              </a:rPr>
              <a:t>dữ</a:t>
            </a:r>
            <a:r>
              <a:rPr lang="vi-VN" i="1" spc="10">
                <a:cs typeface="Arial"/>
              </a:rPr>
              <a:t> </a:t>
            </a:r>
            <a:r>
              <a:rPr lang="vi-VN" i="1" spc="-20">
                <a:cs typeface="Arial"/>
              </a:rPr>
              <a:t>liệu&gt;</a:t>
            </a:r>
            <a:r>
              <a:rPr lang="vi-VN" i="1" spc="45">
                <a:cs typeface="Arial"/>
              </a:rPr>
              <a:t> </a:t>
            </a:r>
            <a:r>
              <a:rPr lang="vi-VN" i="1" spc="-30">
                <a:cs typeface="Arial"/>
              </a:rPr>
              <a:t>&lt;</a:t>
            </a:r>
            <a:r>
              <a:rPr lang="vi-VN" i="1">
                <a:cs typeface="Arial"/>
              </a:rPr>
              <a:t>t</a:t>
            </a:r>
            <a:r>
              <a:rPr lang="vi-VN" i="1" spc="-20">
                <a:cs typeface="Arial"/>
              </a:rPr>
              <a:t>ê</a:t>
            </a:r>
            <a:r>
              <a:rPr lang="vi-VN" i="1" spc="-15">
                <a:cs typeface="Arial"/>
              </a:rPr>
              <a:t>n</a:t>
            </a:r>
            <a:r>
              <a:rPr lang="vi-VN" i="1" spc="25">
                <a:cs typeface="Arial"/>
              </a:rPr>
              <a:t> </a:t>
            </a:r>
            <a:r>
              <a:rPr lang="vi-VN" i="1">
                <a:cs typeface="Arial"/>
              </a:rPr>
              <a:t>t</a:t>
            </a:r>
            <a:r>
              <a:rPr lang="vi-VN" i="1" spc="-20">
                <a:cs typeface="Arial"/>
              </a:rPr>
              <a:t>huộ</a:t>
            </a:r>
            <a:r>
              <a:rPr lang="vi-VN" i="1" spc="-15">
                <a:cs typeface="Arial"/>
              </a:rPr>
              <a:t>c</a:t>
            </a:r>
            <a:r>
              <a:rPr lang="vi-VN" i="1" spc="5">
                <a:cs typeface="Arial"/>
              </a:rPr>
              <a:t> </a:t>
            </a:r>
            <a:r>
              <a:rPr lang="vi-VN" i="1">
                <a:cs typeface="Arial"/>
              </a:rPr>
              <a:t>tí</a:t>
            </a:r>
            <a:r>
              <a:rPr lang="vi-VN" i="1" spc="-20">
                <a:cs typeface="Arial"/>
              </a:rPr>
              <a:t>nh</a:t>
            </a:r>
            <a:r>
              <a:rPr lang="vi-VN" i="1" spc="-30">
                <a:cs typeface="Arial"/>
              </a:rPr>
              <a:t>&gt;</a:t>
            </a:r>
            <a:r>
              <a:rPr lang="vi-VN" i="1" spc="-10">
                <a:cs typeface="Arial"/>
              </a:rPr>
              <a:t>;</a:t>
            </a:r>
          </a:p>
          <a:p>
            <a:pPr marL="735330" indent="0">
              <a:lnSpc>
                <a:spcPct val="100000"/>
              </a:lnSpc>
              <a:spcBef>
                <a:spcPts val="1260"/>
              </a:spcBef>
              <a:buNone/>
            </a:pPr>
            <a:r>
              <a:rPr lang="vi-VN" i="1" spc="-10">
                <a:cs typeface="Arial"/>
              </a:rPr>
              <a:t>}</a:t>
            </a:r>
          </a:p>
          <a:p>
            <a:pPr marL="518159">
              <a:lnSpc>
                <a:spcPct val="100000"/>
              </a:lnSpc>
              <a:spcBef>
                <a:spcPts val="1260"/>
              </a:spcBef>
              <a:tabLst>
                <a:tab pos="832485" algn="l"/>
              </a:tabLst>
            </a:pPr>
            <a:r>
              <a:rPr lang="vi-VN" spc="-25"/>
              <a:t>Ki</a:t>
            </a:r>
            <a:r>
              <a:rPr lang="vi-VN" spc="-20">
                <a:cs typeface="Arial"/>
              </a:rPr>
              <a:t>ể</a:t>
            </a:r>
            <a:r>
              <a:rPr lang="vi-VN" spc="-25"/>
              <a:t>m</a:t>
            </a:r>
            <a:r>
              <a:rPr lang="vi-VN" spc="15"/>
              <a:t> </a:t>
            </a:r>
            <a:r>
              <a:rPr lang="vi-VN" spc="-15"/>
              <a:t>s</a:t>
            </a:r>
            <a:r>
              <a:rPr lang="vi-VN" spc="-20"/>
              <a:t>oá</a:t>
            </a:r>
            <a:r>
              <a:rPr lang="vi-VN" spc="-10"/>
              <a:t>t</a:t>
            </a:r>
            <a:r>
              <a:rPr lang="vi-VN" spc="15"/>
              <a:t> </a:t>
            </a:r>
            <a:r>
              <a:rPr lang="vi-VN"/>
              <a:t>t</a:t>
            </a:r>
            <a:r>
              <a:rPr lang="vi-VN" spc="-5"/>
              <a:t>r</a:t>
            </a:r>
            <a:r>
              <a:rPr lang="vi-VN" spc="-20"/>
              <a:t>u</a:t>
            </a:r>
            <a:r>
              <a:rPr lang="vi-VN" spc="-15"/>
              <a:t>y</a:t>
            </a:r>
            <a:r>
              <a:rPr lang="vi-VN" spc="5"/>
              <a:t> </a:t>
            </a:r>
            <a:r>
              <a:rPr lang="vi-VN" spc="-15"/>
              <a:t>c</a:t>
            </a:r>
            <a:r>
              <a:rPr lang="vi-VN" spc="-20">
                <a:cs typeface="Arial"/>
              </a:rPr>
              <a:t>ậ</a:t>
            </a:r>
            <a:r>
              <a:rPr lang="vi-VN" spc="-15"/>
              <a:t>p</a:t>
            </a:r>
            <a:r>
              <a:rPr lang="vi-VN"/>
              <a:t> </a:t>
            </a:r>
            <a:r>
              <a:rPr lang="vi-VN" spc="-20"/>
              <a:t>đ</a:t>
            </a:r>
            <a:r>
              <a:rPr lang="vi-VN" spc="-20">
                <a:cs typeface="Arial"/>
              </a:rPr>
              <a:t>ố</a:t>
            </a:r>
            <a:r>
              <a:rPr lang="vi-VN" spc="-10"/>
              <a:t>i</a:t>
            </a:r>
            <a:r>
              <a:rPr lang="vi-VN" spc="20"/>
              <a:t> </a:t>
            </a:r>
            <a:r>
              <a:rPr lang="vi-VN" spc="-15"/>
              <a:t>v</a:t>
            </a:r>
            <a:r>
              <a:rPr lang="vi-VN" spc="-25">
                <a:cs typeface="Arial"/>
              </a:rPr>
              <a:t>ớ</a:t>
            </a:r>
            <a:r>
              <a:rPr lang="vi-VN" spc="-10"/>
              <a:t>i</a:t>
            </a:r>
            <a:r>
              <a:rPr lang="vi-VN" spc="20"/>
              <a:t> </a:t>
            </a:r>
            <a:r>
              <a:rPr lang="vi-VN"/>
              <a:t>t</a:t>
            </a:r>
            <a:r>
              <a:rPr lang="vi-VN" spc="-20"/>
              <a:t>hu</a:t>
            </a:r>
            <a:r>
              <a:rPr lang="vi-VN" spc="-20">
                <a:cs typeface="Arial"/>
              </a:rPr>
              <a:t>ộ</a:t>
            </a:r>
            <a:r>
              <a:rPr lang="vi-VN" spc="-15"/>
              <a:t>c</a:t>
            </a:r>
            <a:r>
              <a:rPr lang="vi-VN" spc="30"/>
              <a:t> </a:t>
            </a:r>
            <a:r>
              <a:rPr lang="vi-VN"/>
              <a:t>tí</a:t>
            </a:r>
            <a:r>
              <a:rPr lang="vi-VN" spc="-20"/>
              <a:t>n</a:t>
            </a:r>
            <a:r>
              <a:rPr lang="vi-VN" spc="-15"/>
              <a:t>h</a:t>
            </a:r>
            <a:endParaRPr lang="vi-VN" sz="1300">
              <a:cs typeface="Arial"/>
            </a:endParaRPr>
          </a:p>
          <a:p>
            <a:pPr marL="1274445" lvl="1" indent="-253365">
              <a:lnSpc>
                <a:spcPct val="100000"/>
              </a:lnSpc>
              <a:spcBef>
                <a:spcPts val="1285"/>
              </a:spcBef>
              <a:buClr>
                <a:srgbClr val="90B54C"/>
              </a:buClr>
              <a:buFont typeface="Wingdings"/>
              <a:buChar char=""/>
              <a:tabLst>
                <a:tab pos="1275080" algn="l"/>
              </a:tabLst>
            </a:pPr>
            <a:r>
              <a:rPr lang="vi-VN" sz="2650" spc="-20">
                <a:solidFill>
                  <a:srgbClr val="0000FF"/>
                </a:solidFill>
                <a:cs typeface="Arial"/>
              </a:rPr>
              <a:t>publi</a:t>
            </a:r>
            <a:r>
              <a:rPr lang="vi-VN" sz="2650" spc="-15">
                <a:solidFill>
                  <a:srgbClr val="0000FF"/>
                </a:solidFill>
                <a:cs typeface="Arial"/>
              </a:rPr>
              <a:t>c</a:t>
            </a:r>
            <a:endParaRPr lang="vi-VN" sz="2650">
              <a:cs typeface="Arial"/>
            </a:endParaRPr>
          </a:p>
          <a:p>
            <a:pPr marL="1274445" lvl="1" indent="-253365">
              <a:lnSpc>
                <a:spcPct val="100000"/>
              </a:lnSpc>
              <a:spcBef>
                <a:spcPts val="1260"/>
              </a:spcBef>
              <a:buClr>
                <a:srgbClr val="90B54C"/>
              </a:buClr>
              <a:buFont typeface="Wingdings"/>
              <a:buChar char=""/>
              <a:tabLst>
                <a:tab pos="1275080" algn="l"/>
              </a:tabLst>
            </a:pPr>
            <a:r>
              <a:rPr lang="vi-VN" sz="2650" spc="-20">
                <a:solidFill>
                  <a:srgbClr val="0000FF"/>
                </a:solidFill>
                <a:cs typeface="Arial"/>
              </a:rPr>
              <a:t>p</a:t>
            </a:r>
            <a:r>
              <a:rPr lang="vi-VN" sz="2650" spc="-5">
                <a:solidFill>
                  <a:srgbClr val="0000FF"/>
                </a:solidFill>
                <a:cs typeface="Arial"/>
              </a:rPr>
              <a:t>r</a:t>
            </a:r>
            <a:r>
              <a:rPr lang="vi-VN" sz="2650" spc="-20">
                <a:solidFill>
                  <a:srgbClr val="0000FF"/>
                </a:solidFill>
                <a:cs typeface="Arial"/>
              </a:rPr>
              <a:t>o</a:t>
            </a:r>
            <a:r>
              <a:rPr lang="vi-VN" sz="2650">
                <a:solidFill>
                  <a:srgbClr val="0000FF"/>
                </a:solidFill>
                <a:cs typeface="Arial"/>
              </a:rPr>
              <a:t>t</a:t>
            </a:r>
            <a:r>
              <a:rPr lang="vi-VN" sz="2650" spc="-20">
                <a:solidFill>
                  <a:srgbClr val="0000FF"/>
                </a:solidFill>
                <a:cs typeface="Arial"/>
              </a:rPr>
              <a:t>e</a:t>
            </a:r>
            <a:r>
              <a:rPr lang="vi-VN" sz="2650" spc="-15">
                <a:solidFill>
                  <a:srgbClr val="0000FF"/>
                </a:solidFill>
                <a:cs typeface="Arial"/>
              </a:rPr>
              <a:t>c</a:t>
            </a:r>
            <a:r>
              <a:rPr lang="vi-VN" sz="2650">
                <a:solidFill>
                  <a:srgbClr val="0000FF"/>
                </a:solidFill>
                <a:cs typeface="Arial"/>
              </a:rPr>
              <a:t>t</a:t>
            </a:r>
            <a:r>
              <a:rPr lang="vi-VN" sz="2650" spc="-20">
                <a:solidFill>
                  <a:srgbClr val="0000FF"/>
                </a:solidFill>
                <a:cs typeface="Arial"/>
              </a:rPr>
              <a:t>e</a:t>
            </a:r>
            <a:r>
              <a:rPr lang="vi-VN" sz="2650" spc="-15">
                <a:solidFill>
                  <a:srgbClr val="0000FF"/>
                </a:solidFill>
                <a:cs typeface="Arial"/>
              </a:rPr>
              <a:t>d</a:t>
            </a:r>
            <a:endParaRPr lang="vi-VN" sz="2650">
              <a:cs typeface="Arial"/>
            </a:endParaRPr>
          </a:p>
          <a:p>
            <a:pPr marL="1274445" lvl="1" indent="-253365">
              <a:lnSpc>
                <a:spcPct val="100000"/>
              </a:lnSpc>
              <a:spcBef>
                <a:spcPts val="1285"/>
              </a:spcBef>
              <a:buClr>
                <a:srgbClr val="90B54C"/>
              </a:buClr>
              <a:buFont typeface="Wingdings"/>
              <a:buChar char=""/>
              <a:tabLst>
                <a:tab pos="1275080" algn="l"/>
              </a:tabLst>
            </a:pPr>
            <a:r>
              <a:rPr lang="vi-VN" sz="2650" spc="-20">
                <a:solidFill>
                  <a:srgbClr val="FF0000"/>
                </a:solidFill>
                <a:cs typeface="Arial"/>
              </a:rPr>
              <a:t>p</a:t>
            </a:r>
            <a:r>
              <a:rPr lang="vi-VN" sz="2650" spc="-5">
                <a:solidFill>
                  <a:srgbClr val="FF0000"/>
                </a:solidFill>
                <a:cs typeface="Arial"/>
              </a:rPr>
              <a:t>r</a:t>
            </a:r>
            <a:r>
              <a:rPr lang="vi-VN" sz="2650" spc="-20">
                <a:solidFill>
                  <a:srgbClr val="FF0000"/>
                </a:solidFill>
                <a:cs typeface="Arial"/>
              </a:rPr>
              <a:t>i</a:t>
            </a:r>
            <a:r>
              <a:rPr lang="vi-VN" sz="2650" spc="-15">
                <a:solidFill>
                  <a:srgbClr val="FF0000"/>
                </a:solidFill>
                <a:cs typeface="Arial"/>
              </a:rPr>
              <a:t>v</a:t>
            </a:r>
            <a:r>
              <a:rPr lang="vi-VN" sz="2650" spc="-20">
                <a:solidFill>
                  <a:srgbClr val="FF0000"/>
                </a:solidFill>
                <a:cs typeface="Arial"/>
              </a:rPr>
              <a:t>a</a:t>
            </a:r>
            <a:r>
              <a:rPr lang="vi-VN" sz="2650">
                <a:solidFill>
                  <a:srgbClr val="FF0000"/>
                </a:solidFill>
                <a:cs typeface="Arial"/>
              </a:rPr>
              <a:t>t</a:t>
            </a:r>
            <a:r>
              <a:rPr lang="vi-VN" sz="2650" spc="-15">
                <a:solidFill>
                  <a:srgbClr val="FF0000"/>
                </a:solidFill>
                <a:cs typeface="Arial"/>
              </a:rPr>
              <a:t>e</a:t>
            </a:r>
            <a:endParaRPr lang="vi-VN" sz="2650">
              <a:solidFill>
                <a:srgbClr val="FF0000"/>
              </a:solidFill>
              <a:cs typeface="Arial"/>
            </a:endParaRPr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66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L</a:t>
            </a:r>
            <a:r>
              <a:rPr lang="vi-VN" spc="10">
                <a:cs typeface="Arial"/>
              </a:rPr>
              <a:t>ớ</a:t>
            </a:r>
            <a:r>
              <a:rPr lang="vi-VN"/>
              <a:t>p</a:t>
            </a:r>
            <a:r>
              <a:rPr lang="vi-VN" spc="-35"/>
              <a:t> </a:t>
            </a:r>
            <a:r>
              <a:rPr lang="vi-VN" spc="-45"/>
              <a:t>v</a:t>
            </a:r>
            <a:r>
              <a:rPr lang="vi-VN"/>
              <a:t>à</a:t>
            </a:r>
            <a:r>
              <a:rPr lang="vi-VN" spc="40"/>
              <a:t> </a:t>
            </a:r>
            <a:r>
              <a:rPr lang="vi-VN" spc="5"/>
              <a:t>Đ</a:t>
            </a:r>
            <a:r>
              <a:rPr lang="vi-VN">
                <a:cs typeface="Arial"/>
              </a:rPr>
              <a:t>ố</a:t>
            </a:r>
            <a:r>
              <a:rPr lang="vi-VN"/>
              <a:t>i</a:t>
            </a:r>
            <a:r>
              <a:rPr lang="vi-VN" spc="-10"/>
              <a:t> </a:t>
            </a:r>
            <a:r>
              <a:rPr lang="vi-VN"/>
              <a:t>t</a:t>
            </a:r>
            <a:r>
              <a:rPr lang="vi-VN" spc="-15">
                <a:cs typeface="Arial"/>
              </a:rPr>
              <a:t>ư</a:t>
            </a:r>
            <a:r>
              <a:rPr lang="vi-VN" spc="10">
                <a:cs typeface="Arial"/>
              </a:rPr>
              <a:t>ợ</a:t>
            </a:r>
            <a:r>
              <a:rPr lang="vi-VN"/>
              <a:t>ng</a:t>
            </a:r>
            <a:r>
              <a:rPr lang="vi-VN" spc="-35"/>
              <a:t> </a:t>
            </a:r>
            <a:r>
              <a:rPr lang="vi-VN"/>
              <a:t>t</a:t>
            </a:r>
            <a:r>
              <a:rPr lang="vi-VN" spc="-5"/>
              <a:t>r</a:t>
            </a:r>
            <a:r>
              <a:rPr lang="vi-VN"/>
              <a:t>ong</a:t>
            </a:r>
            <a:r>
              <a:rPr lang="vi-VN" spc="-10"/>
              <a:t> </a:t>
            </a:r>
            <a:r>
              <a:rPr lang="vi-VN"/>
              <a:t>j</a:t>
            </a:r>
            <a:r>
              <a:rPr lang="vi-VN" spc="5"/>
              <a:t>a</a:t>
            </a:r>
            <a:r>
              <a:rPr lang="vi-VN" spc="-45"/>
              <a:t>v</a:t>
            </a:r>
            <a:r>
              <a:rPr lang="vi-VN"/>
              <a:t>a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0525" marR="5080" indent="-377825">
              <a:lnSpc>
                <a:spcPct val="120000"/>
              </a:lnSpc>
              <a:buClr>
                <a:srgbClr val="0000FF"/>
              </a:buClr>
              <a:buFont typeface="Wingdings"/>
              <a:buChar char=""/>
              <a:tabLst>
                <a:tab pos="391160" algn="l"/>
                <a:tab pos="1792605" algn="l"/>
                <a:tab pos="2731135" algn="l"/>
                <a:tab pos="3721735" algn="l"/>
                <a:tab pos="4639310" algn="l"/>
                <a:tab pos="5200015" algn="l"/>
                <a:tab pos="5706110" algn="l"/>
                <a:tab pos="6626225" algn="l"/>
                <a:tab pos="7037705" algn="l"/>
                <a:tab pos="7748270" algn="l"/>
                <a:tab pos="8439785" algn="l"/>
              </a:tabLst>
            </a:pPr>
            <a:r>
              <a:rPr lang="vi-VN" spc="-30">
                <a:solidFill>
                  <a:srgbClr val="0000FF"/>
                </a:solidFill>
              </a:rPr>
              <a:t>P</a:t>
            </a:r>
            <a:r>
              <a:rPr lang="vi-VN" spc="-20">
                <a:solidFill>
                  <a:srgbClr val="0000FF"/>
                </a:solidFill>
              </a:rPr>
              <a:t>h</a:t>
            </a:r>
            <a:r>
              <a:rPr lang="vi-VN" spc="10">
                <a:solidFill>
                  <a:srgbClr val="0000FF"/>
                </a:solidFill>
                <a:cs typeface="Arial"/>
              </a:rPr>
              <a:t>ư</a:t>
            </a:r>
            <a:r>
              <a:rPr lang="vi-VN" spc="-25">
                <a:solidFill>
                  <a:srgbClr val="0000FF"/>
                </a:solidFill>
                <a:cs typeface="Arial"/>
              </a:rPr>
              <a:t>ơ</a:t>
            </a:r>
            <a:r>
              <a:rPr lang="vi-VN">
                <a:solidFill>
                  <a:srgbClr val="0000FF"/>
                </a:solidFill>
              </a:rPr>
              <a:t>n</a:t>
            </a:r>
            <a:r>
              <a:rPr lang="vi-VN" spc="-15">
                <a:solidFill>
                  <a:srgbClr val="0000FF"/>
                </a:solidFill>
              </a:rPr>
              <a:t>g</a:t>
            </a:r>
            <a:r>
              <a:rPr lang="vi-VN">
                <a:solidFill>
                  <a:srgbClr val="0000FF"/>
                </a:solidFill>
              </a:rPr>
              <a:t>	t</a:t>
            </a:r>
            <a:r>
              <a:rPr lang="vi-VN" spc="-20">
                <a:solidFill>
                  <a:srgbClr val="0000FF"/>
                </a:solidFill>
              </a:rPr>
              <a:t>h</a:t>
            </a:r>
            <a:r>
              <a:rPr lang="vi-VN" spc="-15">
                <a:solidFill>
                  <a:srgbClr val="0000FF"/>
                </a:solidFill>
                <a:cs typeface="Arial"/>
              </a:rPr>
              <a:t>ứ</a:t>
            </a:r>
            <a:r>
              <a:rPr lang="vi-VN" spc="-15">
                <a:solidFill>
                  <a:srgbClr val="0000FF"/>
                </a:solidFill>
              </a:rPr>
              <a:t>c:</a:t>
            </a:r>
            <a:r>
              <a:rPr lang="vi-VN">
                <a:solidFill>
                  <a:srgbClr val="0000FF"/>
                </a:solidFill>
              </a:rPr>
              <a:t>	</a:t>
            </a:r>
            <a:r>
              <a:rPr lang="vi-VN" spc="-30"/>
              <a:t>C</a:t>
            </a:r>
            <a:r>
              <a:rPr lang="vi-VN" spc="-20"/>
              <a:t>h</a:t>
            </a:r>
            <a:r>
              <a:rPr lang="vi-VN" spc="-15">
                <a:cs typeface="Arial"/>
              </a:rPr>
              <a:t>ứ</a:t>
            </a:r>
            <a:r>
              <a:rPr lang="vi-VN" spc="-15"/>
              <a:t>c</a:t>
            </a:r>
            <a:r>
              <a:rPr lang="vi-VN"/>
              <a:t>	</a:t>
            </a:r>
            <a:r>
              <a:rPr lang="vi-VN" spc="-20"/>
              <a:t>n</a:t>
            </a:r>
            <a:r>
              <a:rPr lang="vi-VN" spc="-20">
                <a:cs typeface="Arial"/>
              </a:rPr>
              <a:t>ă</a:t>
            </a:r>
            <a:r>
              <a:rPr lang="vi-VN" spc="-20"/>
              <a:t>n</a:t>
            </a:r>
            <a:r>
              <a:rPr lang="vi-VN" spc="-15"/>
              <a:t>g</a:t>
            </a:r>
            <a:r>
              <a:rPr lang="vi-VN"/>
              <a:t>	</a:t>
            </a:r>
            <a:r>
              <a:rPr lang="vi-VN" spc="-40"/>
              <a:t>x</a:t>
            </a:r>
            <a:r>
              <a:rPr lang="vi-VN" spc="-20">
                <a:cs typeface="Arial"/>
              </a:rPr>
              <a:t>ử</a:t>
            </a:r>
            <a:r>
              <a:rPr lang="vi-VN">
                <a:cs typeface="Arial"/>
              </a:rPr>
              <a:t>	</a:t>
            </a:r>
            <a:r>
              <a:rPr lang="vi-VN" spc="-20"/>
              <a:t>l</a:t>
            </a:r>
            <a:r>
              <a:rPr lang="vi-VN" spc="-15"/>
              <a:t>ý,</a:t>
            </a:r>
            <a:r>
              <a:rPr lang="vi-VN"/>
              <a:t>	</a:t>
            </a:r>
            <a:r>
              <a:rPr lang="vi-VN" spc="-20"/>
              <a:t>hà</a:t>
            </a:r>
            <a:r>
              <a:rPr lang="vi-VN"/>
              <a:t>n</a:t>
            </a:r>
            <a:r>
              <a:rPr lang="vi-VN" spc="-15"/>
              <a:t>h</a:t>
            </a:r>
            <a:r>
              <a:rPr lang="vi-VN"/>
              <a:t>	</a:t>
            </a:r>
            <a:r>
              <a:rPr lang="vi-VN" spc="-10"/>
              <a:t>vi</a:t>
            </a:r>
            <a:r>
              <a:rPr lang="vi-VN"/>
              <a:t>	</a:t>
            </a:r>
            <a:r>
              <a:rPr lang="vi-VN" spc="-15"/>
              <a:t>c</a:t>
            </a:r>
            <a:r>
              <a:rPr lang="vi-VN" spc="-20">
                <a:cs typeface="Arial"/>
              </a:rPr>
              <a:t>ủ</a:t>
            </a:r>
            <a:r>
              <a:rPr lang="vi-VN" spc="-15"/>
              <a:t>a</a:t>
            </a:r>
            <a:r>
              <a:rPr lang="vi-VN"/>
              <a:t>	</a:t>
            </a:r>
            <a:r>
              <a:rPr lang="vi-VN" spc="-15"/>
              <a:t>c</a:t>
            </a:r>
            <a:r>
              <a:rPr lang="vi-VN" spc="-20"/>
              <a:t>á</a:t>
            </a:r>
            <a:r>
              <a:rPr lang="vi-VN" spc="-15"/>
              <a:t>c</a:t>
            </a:r>
            <a:r>
              <a:rPr lang="vi-VN"/>
              <a:t>	</a:t>
            </a:r>
            <a:r>
              <a:rPr lang="vi-VN" spc="-20"/>
              <a:t>đ</a:t>
            </a:r>
            <a:r>
              <a:rPr lang="vi-VN" spc="-20">
                <a:cs typeface="Arial"/>
              </a:rPr>
              <a:t>ố</a:t>
            </a:r>
            <a:r>
              <a:rPr lang="vi-VN" spc="-10"/>
              <a:t>i </a:t>
            </a:r>
            <a:r>
              <a:rPr lang="vi-VN"/>
              <a:t>t</a:t>
            </a:r>
            <a:r>
              <a:rPr lang="vi-VN" spc="-15">
                <a:cs typeface="Arial"/>
              </a:rPr>
              <a:t>ư</a:t>
            </a:r>
            <a:r>
              <a:rPr lang="vi-VN" spc="-25">
                <a:cs typeface="Arial"/>
              </a:rPr>
              <a:t>ợ</a:t>
            </a:r>
            <a:r>
              <a:rPr lang="vi-VN" spc="-20"/>
              <a:t>ng</a:t>
            </a:r>
            <a:r>
              <a:rPr lang="vi-VN" spc="-10"/>
              <a:t>.</a:t>
            </a:r>
          </a:p>
          <a:p>
            <a:pPr marL="104775" indent="0">
              <a:lnSpc>
                <a:spcPct val="100000"/>
              </a:lnSpc>
              <a:spcBef>
                <a:spcPts val="1260"/>
              </a:spcBef>
              <a:buNone/>
            </a:pPr>
            <a:r>
              <a:rPr lang="vi-VN" i="1" spc="-15">
                <a:solidFill>
                  <a:srgbClr val="0000FF"/>
                </a:solidFill>
                <a:cs typeface="Arial"/>
              </a:rPr>
              <a:t>c</a:t>
            </a:r>
            <a:r>
              <a:rPr lang="vi-VN" i="1" spc="-20">
                <a:solidFill>
                  <a:srgbClr val="0000FF"/>
                </a:solidFill>
                <a:cs typeface="Arial"/>
              </a:rPr>
              <a:t>la</a:t>
            </a:r>
            <a:r>
              <a:rPr lang="vi-VN" i="1" spc="-15">
                <a:solidFill>
                  <a:srgbClr val="0000FF"/>
                </a:solidFill>
                <a:cs typeface="Arial"/>
              </a:rPr>
              <a:t>ss</a:t>
            </a:r>
            <a:r>
              <a:rPr lang="vi-VN" i="1" spc="5">
                <a:solidFill>
                  <a:srgbClr val="0000FF"/>
                </a:solidFill>
                <a:cs typeface="Arial"/>
              </a:rPr>
              <a:t> </a:t>
            </a:r>
            <a:r>
              <a:rPr lang="vi-VN" i="1" spc="-25">
                <a:cs typeface="Arial"/>
              </a:rPr>
              <a:t>&lt;Cl</a:t>
            </a:r>
            <a:r>
              <a:rPr lang="vi-VN" i="1" spc="-20">
                <a:cs typeface="Arial"/>
              </a:rPr>
              <a:t>a</a:t>
            </a:r>
            <a:r>
              <a:rPr lang="vi-VN" i="1" spc="-15">
                <a:cs typeface="Arial"/>
              </a:rPr>
              <a:t>ss</a:t>
            </a:r>
            <a:r>
              <a:rPr lang="vi-VN" i="1" spc="-30">
                <a:cs typeface="Arial"/>
              </a:rPr>
              <a:t>N</a:t>
            </a:r>
            <a:r>
              <a:rPr lang="vi-VN" i="1">
                <a:cs typeface="Arial"/>
              </a:rPr>
              <a:t>a</a:t>
            </a:r>
            <a:r>
              <a:rPr lang="vi-VN" i="1" spc="-20">
                <a:cs typeface="Arial"/>
              </a:rPr>
              <a:t>me</a:t>
            </a:r>
            <a:r>
              <a:rPr lang="vi-VN" i="1" spc="-30">
                <a:cs typeface="Arial"/>
              </a:rPr>
              <a:t>&gt;</a:t>
            </a:r>
            <a:r>
              <a:rPr lang="vi-VN" i="1" spc="-10">
                <a:cs typeface="Arial"/>
              </a:rPr>
              <a:t>{</a:t>
            </a:r>
          </a:p>
          <a:p>
            <a:pPr marL="735330" indent="0">
              <a:lnSpc>
                <a:spcPct val="100000"/>
              </a:lnSpc>
              <a:spcBef>
                <a:spcPts val="1285"/>
              </a:spcBef>
              <a:buNone/>
            </a:pPr>
            <a:r>
              <a:rPr lang="vi-VN" i="1" spc="-30">
                <a:cs typeface="Arial"/>
              </a:rPr>
              <a:t>…</a:t>
            </a:r>
          </a:p>
          <a:p>
            <a:pPr marL="735330" indent="0">
              <a:lnSpc>
                <a:spcPct val="100000"/>
              </a:lnSpc>
              <a:spcBef>
                <a:spcPts val="1510"/>
              </a:spcBef>
              <a:buNone/>
            </a:pPr>
            <a:r>
              <a:rPr lang="vi-VN" sz="2000" i="1" spc="10">
                <a:cs typeface="Arial"/>
              </a:rPr>
              <a:t>&lt;</a:t>
            </a:r>
            <a:r>
              <a:rPr lang="vi-VN" sz="2000" i="1" spc="15">
                <a:cs typeface="Arial"/>
              </a:rPr>
              <a:t>T</a:t>
            </a:r>
            <a:r>
              <a:rPr lang="vi-VN" sz="2000" i="1" spc="-10">
                <a:cs typeface="Arial"/>
              </a:rPr>
              <a:t>i</a:t>
            </a:r>
            <a:r>
              <a:rPr lang="vi-VN" sz="2000" i="1" spc="5">
                <a:cs typeface="Arial"/>
              </a:rPr>
              <a:t>ề</a:t>
            </a:r>
            <a:r>
              <a:rPr lang="vi-VN" sz="2000" i="1" spc="10">
                <a:cs typeface="Arial"/>
              </a:rPr>
              <a:t>n</a:t>
            </a:r>
            <a:r>
              <a:rPr lang="vi-VN" sz="2000" i="1">
                <a:cs typeface="Arial"/>
              </a:rPr>
              <a:t> t</a:t>
            </a:r>
            <a:r>
              <a:rPr lang="vi-VN" sz="2000" i="1" spc="5">
                <a:cs typeface="Arial"/>
              </a:rPr>
              <a:t>ố</a:t>
            </a:r>
            <a:r>
              <a:rPr lang="vi-VN" sz="2000" i="1" spc="10">
                <a:cs typeface="Arial"/>
              </a:rPr>
              <a:t>&gt;</a:t>
            </a:r>
            <a:r>
              <a:rPr lang="vi-VN" sz="2000" i="1" spc="25">
                <a:cs typeface="Arial"/>
              </a:rPr>
              <a:t> </a:t>
            </a:r>
            <a:r>
              <a:rPr lang="vi-VN" sz="2000" i="1" spc="10">
                <a:cs typeface="Arial"/>
              </a:rPr>
              <a:t>&lt;</a:t>
            </a:r>
            <a:r>
              <a:rPr lang="vi-VN" sz="2000" i="1" spc="20">
                <a:cs typeface="Arial"/>
              </a:rPr>
              <a:t>k</a:t>
            </a:r>
            <a:r>
              <a:rPr lang="vi-VN" sz="2000" i="1" spc="-10">
                <a:cs typeface="Arial"/>
              </a:rPr>
              <a:t>i</a:t>
            </a:r>
            <a:r>
              <a:rPr lang="vi-VN" sz="2000" i="1" spc="5">
                <a:cs typeface="Arial"/>
              </a:rPr>
              <a:t>ể</a:t>
            </a:r>
            <a:r>
              <a:rPr lang="vi-VN" sz="2000" i="1" spc="10">
                <a:cs typeface="Arial"/>
              </a:rPr>
              <a:t>u</a:t>
            </a:r>
            <a:r>
              <a:rPr lang="vi-VN" sz="2000" i="1" spc="25">
                <a:cs typeface="Arial"/>
              </a:rPr>
              <a:t> </a:t>
            </a:r>
            <a:r>
              <a:rPr lang="vi-VN" sz="2000" i="1">
                <a:cs typeface="Arial"/>
              </a:rPr>
              <a:t>t</a:t>
            </a:r>
            <a:r>
              <a:rPr lang="vi-VN" sz="2000" i="1" spc="10">
                <a:cs typeface="Arial"/>
              </a:rPr>
              <a:t>rả</a:t>
            </a:r>
            <a:r>
              <a:rPr lang="vi-VN" sz="2000" i="1" spc="20">
                <a:cs typeface="Arial"/>
              </a:rPr>
              <a:t> v</a:t>
            </a:r>
            <a:r>
              <a:rPr lang="vi-VN" sz="2000" i="1" spc="5">
                <a:cs typeface="Arial"/>
              </a:rPr>
              <a:t>ề</a:t>
            </a:r>
            <a:r>
              <a:rPr lang="vi-VN" sz="2000" i="1" spc="10">
                <a:cs typeface="Arial"/>
              </a:rPr>
              <a:t>&gt;</a:t>
            </a:r>
            <a:r>
              <a:rPr lang="vi-VN" sz="2000" i="1" spc="5">
                <a:cs typeface="Arial"/>
              </a:rPr>
              <a:t> </a:t>
            </a:r>
            <a:r>
              <a:rPr lang="vi-VN" sz="2000" i="1" spc="10">
                <a:cs typeface="Arial"/>
              </a:rPr>
              <a:t>&lt;</a:t>
            </a:r>
            <a:r>
              <a:rPr lang="vi-VN" sz="2000" i="1" spc="5">
                <a:cs typeface="Arial"/>
              </a:rPr>
              <a:t>tê</a:t>
            </a:r>
            <a:r>
              <a:rPr lang="vi-VN" sz="2000" i="1" spc="10">
                <a:cs typeface="Arial"/>
              </a:rPr>
              <a:t>n</a:t>
            </a:r>
            <a:r>
              <a:rPr lang="vi-VN" sz="2000" i="1" spc="25">
                <a:cs typeface="Arial"/>
              </a:rPr>
              <a:t> </a:t>
            </a:r>
            <a:r>
              <a:rPr lang="vi-VN" sz="2000" i="1" spc="5">
                <a:cs typeface="Arial"/>
              </a:rPr>
              <a:t>ph</a:t>
            </a:r>
            <a:r>
              <a:rPr lang="vi-VN" sz="2000" i="1">
                <a:cs typeface="Arial"/>
              </a:rPr>
              <a:t>ư</a:t>
            </a:r>
            <a:r>
              <a:rPr lang="vi-VN" sz="2000" i="1" spc="5">
                <a:cs typeface="Arial"/>
              </a:rPr>
              <a:t>ơn</a:t>
            </a:r>
            <a:r>
              <a:rPr lang="vi-VN" sz="2000" i="1" spc="10">
                <a:cs typeface="Arial"/>
              </a:rPr>
              <a:t>g</a:t>
            </a:r>
            <a:r>
              <a:rPr lang="vi-VN" sz="2000" i="1" spc="45">
                <a:cs typeface="Arial"/>
              </a:rPr>
              <a:t> </a:t>
            </a:r>
            <a:r>
              <a:rPr lang="vi-VN" sz="2000" i="1" spc="5">
                <a:cs typeface="Arial"/>
              </a:rPr>
              <a:t>th</a:t>
            </a:r>
            <a:r>
              <a:rPr lang="vi-VN" sz="2000" i="1" spc="-5">
                <a:cs typeface="Arial"/>
              </a:rPr>
              <a:t>ứ</a:t>
            </a:r>
            <a:r>
              <a:rPr lang="vi-VN" sz="2000" i="1" spc="20">
                <a:cs typeface="Arial"/>
              </a:rPr>
              <a:t>c</a:t>
            </a:r>
            <a:r>
              <a:rPr lang="vi-VN" sz="2000" i="1" spc="10">
                <a:cs typeface="Arial"/>
              </a:rPr>
              <a:t>&gt;(&lt;</a:t>
            </a:r>
            <a:r>
              <a:rPr lang="vi-VN" sz="2000" i="1" spc="20">
                <a:cs typeface="Arial"/>
              </a:rPr>
              <a:t>c</a:t>
            </a:r>
            <a:r>
              <a:rPr lang="vi-VN" sz="2000" i="1" spc="5">
                <a:cs typeface="Arial"/>
              </a:rPr>
              <a:t>á</a:t>
            </a:r>
            <a:r>
              <a:rPr lang="vi-VN" sz="2000" i="1" spc="10">
                <a:cs typeface="Arial"/>
              </a:rPr>
              <a:t>c</a:t>
            </a:r>
            <a:r>
              <a:rPr lang="vi-VN" sz="2000" i="1" spc="15">
                <a:cs typeface="Arial"/>
              </a:rPr>
              <a:t> </a:t>
            </a:r>
            <a:r>
              <a:rPr lang="vi-VN" sz="2000" i="1" spc="5"/>
              <a:t>đ</a:t>
            </a:r>
            <a:r>
              <a:rPr lang="vi-VN" sz="2000" i="1" spc="5">
                <a:cs typeface="Arial"/>
              </a:rPr>
              <a:t>ối</a:t>
            </a:r>
            <a:r>
              <a:rPr lang="vi-VN" sz="2000" i="1" spc="15">
                <a:cs typeface="Arial"/>
              </a:rPr>
              <a:t> </a:t>
            </a:r>
            <a:r>
              <a:rPr lang="vi-VN" sz="2000" i="1" spc="20">
                <a:cs typeface="Arial"/>
              </a:rPr>
              <a:t>s</a:t>
            </a:r>
            <a:r>
              <a:rPr lang="vi-VN" sz="2000" i="1" spc="5">
                <a:cs typeface="Arial"/>
              </a:rPr>
              <a:t>ố</a:t>
            </a:r>
            <a:r>
              <a:rPr lang="vi-VN" sz="2000" i="1" spc="10">
                <a:cs typeface="Arial"/>
              </a:rPr>
              <a:t>&gt;)</a:t>
            </a:r>
            <a:endParaRPr lang="vi-VN" sz="2000">
              <a:cs typeface="Arial"/>
            </a:endParaRPr>
          </a:p>
          <a:p>
            <a:pPr marL="735330" indent="0">
              <a:lnSpc>
                <a:spcPct val="100000"/>
              </a:lnSpc>
              <a:spcBef>
                <a:spcPts val="1310"/>
              </a:spcBef>
              <a:buNone/>
            </a:pPr>
            <a:r>
              <a:rPr lang="vi-VN" i="1" spc="-10">
                <a:cs typeface="Arial"/>
              </a:rPr>
              <a:t>{</a:t>
            </a:r>
          </a:p>
          <a:p>
            <a:pPr marL="1744345" indent="0">
              <a:lnSpc>
                <a:spcPct val="100000"/>
              </a:lnSpc>
              <a:spcBef>
                <a:spcPts val="1285"/>
              </a:spcBef>
              <a:buNone/>
            </a:pPr>
            <a:r>
              <a:rPr lang="vi-VN" i="1" spc="-30">
                <a:cs typeface="Arial"/>
              </a:rPr>
              <a:t>…</a:t>
            </a:r>
          </a:p>
          <a:p>
            <a:pPr marL="735330" indent="0">
              <a:lnSpc>
                <a:spcPct val="100000"/>
              </a:lnSpc>
              <a:spcBef>
                <a:spcPts val="1260"/>
              </a:spcBef>
              <a:buNone/>
            </a:pPr>
            <a:r>
              <a:rPr lang="vi-VN" i="1" spc="-10">
                <a:cs typeface="Arial"/>
              </a:rPr>
              <a:t>}</a:t>
            </a:r>
          </a:p>
          <a:p>
            <a:pPr marL="104775" indent="0">
              <a:lnSpc>
                <a:spcPct val="100000"/>
              </a:lnSpc>
              <a:spcBef>
                <a:spcPts val="1285"/>
              </a:spcBef>
              <a:buNone/>
            </a:pPr>
            <a:r>
              <a:rPr lang="vi-VN" i="1" spc="-10">
                <a:cs typeface="Arial"/>
              </a:rPr>
              <a:t>}</a:t>
            </a:r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4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L</a:t>
            </a:r>
            <a:r>
              <a:rPr lang="vi-VN" spc="10">
                <a:cs typeface="Arial"/>
              </a:rPr>
              <a:t>ớ</a:t>
            </a:r>
            <a:r>
              <a:rPr lang="vi-VN"/>
              <a:t>p</a:t>
            </a:r>
            <a:r>
              <a:rPr lang="vi-VN" spc="-35"/>
              <a:t> </a:t>
            </a:r>
            <a:r>
              <a:rPr lang="vi-VN" spc="-45"/>
              <a:t>v</a:t>
            </a:r>
            <a:r>
              <a:rPr lang="vi-VN"/>
              <a:t>à</a:t>
            </a:r>
            <a:r>
              <a:rPr lang="vi-VN" spc="40"/>
              <a:t> </a:t>
            </a:r>
            <a:r>
              <a:rPr lang="vi-VN" spc="5"/>
              <a:t>Đ</a:t>
            </a:r>
            <a:r>
              <a:rPr lang="vi-VN">
                <a:cs typeface="Arial"/>
              </a:rPr>
              <a:t>ố</a:t>
            </a:r>
            <a:r>
              <a:rPr lang="vi-VN"/>
              <a:t>i</a:t>
            </a:r>
            <a:r>
              <a:rPr lang="vi-VN" spc="-10"/>
              <a:t> </a:t>
            </a:r>
            <a:r>
              <a:rPr lang="vi-VN"/>
              <a:t>t</a:t>
            </a:r>
            <a:r>
              <a:rPr lang="vi-VN" spc="-15">
                <a:cs typeface="Arial"/>
              </a:rPr>
              <a:t>ư</a:t>
            </a:r>
            <a:r>
              <a:rPr lang="vi-VN" spc="10">
                <a:cs typeface="Arial"/>
              </a:rPr>
              <a:t>ợ</a:t>
            </a:r>
            <a:r>
              <a:rPr lang="vi-VN"/>
              <a:t>ng</a:t>
            </a:r>
            <a:r>
              <a:rPr lang="vi-VN" spc="-35"/>
              <a:t> </a:t>
            </a:r>
            <a:r>
              <a:rPr lang="vi-VN"/>
              <a:t>t</a:t>
            </a:r>
            <a:r>
              <a:rPr lang="vi-VN" spc="-5"/>
              <a:t>r</a:t>
            </a:r>
            <a:r>
              <a:rPr lang="vi-VN"/>
              <a:t>ong</a:t>
            </a:r>
            <a:r>
              <a:rPr lang="vi-VN" spc="-10"/>
              <a:t> </a:t>
            </a:r>
            <a:r>
              <a:rPr lang="vi-VN"/>
              <a:t>j</a:t>
            </a:r>
            <a:r>
              <a:rPr lang="vi-VN" spc="5"/>
              <a:t>a</a:t>
            </a:r>
            <a:r>
              <a:rPr lang="vi-VN" spc="-45"/>
              <a:t>v</a:t>
            </a:r>
            <a:r>
              <a:rPr lang="vi-VN"/>
              <a:t>a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0525" indent="-377825">
              <a:lnSpc>
                <a:spcPct val="100000"/>
              </a:lnSpc>
              <a:buClr>
                <a:srgbClr val="0000FF"/>
              </a:buClr>
              <a:buFont typeface="Wingdings"/>
              <a:buChar char=""/>
              <a:tabLst>
                <a:tab pos="391160" algn="l"/>
              </a:tabLst>
            </a:pPr>
            <a:r>
              <a:rPr lang="vi-VN" sz="1600" spc="-30">
                <a:solidFill>
                  <a:srgbClr val="0000FF"/>
                </a:solidFill>
                <a:cs typeface="Arial"/>
              </a:rPr>
              <a:t>P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hạ</a:t>
            </a:r>
            <a:r>
              <a:rPr lang="vi-VN" sz="1600" spc="-25">
                <a:solidFill>
                  <a:srgbClr val="0000FF"/>
                </a:solidFill>
                <a:cs typeface="Arial"/>
              </a:rPr>
              <a:t>m</a:t>
            </a:r>
            <a:r>
              <a:rPr lang="vi-VN" sz="1600" spc="15">
                <a:solidFill>
                  <a:srgbClr val="0000FF"/>
                </a:solidFill>
                <a:cs typeface="Arial"/>
              </a:rPr>
              <a:t> </a:t>
            </a:r>
            <a:r>
              <a:rPr lang="vi-VN" sz="1600" spc="-10">
                <a:solidFill>
                  <a:srgbClr val="0000FF"/>
                </a:solidFill>
                <a:cs typeface="Arial"/>
              </a:rPr>
              <a:t>vi</a:t>
            </a:r>
            <a:r>
              <a:rPr lang="vi-VN" sz="1600" spc="-5">
                <a:solidFill>
                  <a:srgbClr val="0000FF"/>
                </a:solidFill>
                <a:cs typeface="Arial"/>
              </a:rPr>
              <a:t> </a:t>
            </a:r>
            <a:r>
              <a:rPr lang="vi-VN" sz="1600">
                <a:solidFill>
                  <a:srgbClr val="0000FF"/>
                </a:solidFill>
                <a:cs typeface="Arial"/>
              </a:rPr>
              <a:t>t</a:t>
            </a:r>
            <a:r>
              <a:rPr lang="vi-VN" sz="1600" spc="-5">
                <a:solidFill>
                  <a:srgbClr val="0000FF"/>
                </a:solidFill>
                <a:cs typeface="Arial"/>
              </a:rPr>
              <a:t>r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u</a:t>
            </a:r>
            <a:r>
              <a:rPr lang="vi-VN" sz="1600" spc="-15">
                <a:solidFill>
                  <a:srgbClr val="0000FF"/>
                </a:solidFill>
                <a:cs typeface="Arial"/>
              </a:rPr>
              <a:t>y</a:t>
            </a:r>
            <a:r>
              <a:rPr lang="vi-VN" sz="1600" spc="5">
                <a:solidFill>
                  <a:srgbClr val="0000FF"/>
                </a:solidFill>
                <a:cs typeface="Arial"/>
              </a:rPr>
              <a:t> </a:t>
            </a:r>
            <a:r>
              <a:rPr lang="vi-VN" sz="1600" spc="-40">
                <a:solidFill>
                  <a:srgbClr val="0000FF"/>
                </a:solidFill>
                <a:cs typeface="Arial"/>
              </a:rPr>
              <a:t>x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uấ</a:t>
            </a:r>
            <a:r>
              <a:rPr lang="vi-VN" sz="1600" spc="-10">
                <a:solidFill>
                  <a:srgbClr val="0000FF"/>
                </a:solidFill>
                <a:cs typeface="Arial"/>
              </a:rPr>
              <a:t>t</a:t>
            </a:r>
            <a:endParaRPr lang="vi-VN" sz="1600">
              <a:cs typeface="Arial"/>
            </a:endParaRPr>
          </a:p>
          <a:p>
            <a:pPr marL="861059" lvl="1">
              <a:spcBef>
                <a:spcPts val="1285"/>
              </a:spcBef>
              <a:tabLst>
                <a:tab pos="832485" algn="l"/>
              </a:tabLst>
            </a:pPr>
            <a:r>
              <a:rPr lang="vi-VN" sz="1600" spc="-20">
                <a:cs typeface="Arial"/>
              </a:rPr>
              <a:t>publi</a:t>
            </a:r>
            <a:r>
              <a:rPr lang="vi-VN" sz="1600" spc="-15">
                <a:cs typeface="Arial"/>
              </a:rPr>
              <a:t>c</a:t>
            </a:r>
            <a:endParaRPr lang="vi-VN" sz="1600">
              <a:cs typeface="Arial"/>
            </a:endParaRPr>
          </a:p>
          <a:p>
            <a:pPr marL="861059" lvl="1">
              <a:spcBef>
                <a:spcPts val="1260"/>
              </a:spcBef>
              <a:tabLst>
                <a:tab pos="832485" algn="l"/>
              </a:tabLst>
            </a:pPr>
            <a:r>
              <a:rPr lang="vi-VN" sz="1600" spc="-20">
                <a:cs typeface="Arial"/>
              </a:rPr>
              <a:t>p</a:t>
            </a:r>
            <a:r>
              <a:rPr lang="vi-VN" sz="1600" spc="-5">
                <a:cs typeface="Arial"/>
              </a:rPr>
              <a:t>r</a:t>
            </a:r>
            <a:r>
              <a:rPr lang="vi-VN" sz="1600" spc="-20">
                <a:cs typeface="Arial"/>
              </a:rPr>
              <a:t>o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e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e</a:t>
            </a:r>
            <a:r>
              <a:rPr lang="vi-VN" sz="1600" spc="-15">
                <a:cs typeface="Arial"/>
              </a:rPr>
              <a:t>d</a:t>
            </a:r>
            <a:endParaRPr lang="vi-VN" sz="1600">
              <a:cs typeface="Arial"/>
            </a:endParaRPr>
          </a:p>
          <a:p>
            <a:pPr marL="861059" lvl="1">
              <a:spcBef>
                <a:spcPts val="1260"/>
              </a:spcBef>
              <a:tabLst>
                <a:tab pos="832485" algn="l"/>
              </a:tabLst>
            </a:pPr>
            <a:r>
              <a:rPr lang="vi-VN" sz="1600" i="1" spc="-20">
                <a:solidFill>
                  <a:srgbClr val="FF0000"/>
                </a:solidFill>
                <a:cs typeface="Arial"/>
              </a:rPr>
              <a:t>de</a:t>
            </a:r>
            <a:r>
              <a:rPr lang="vi-VN" sz="1600" i="1">
                <a:solidFill>
                  <a:srgbClr val="FF0000"/>
                </a:solidFill>
                <a:cs typeface="Arial"/>
              </a:rPr>
              <a:t>f</a:t>
            </a:r>
            <a:r>
              <a:rPr lang="vi-VN" sz="1600" i="1" spc="-20">
                <a:solidFill>
                  <a:srgbClr val="FF0000"/>
                </a:solidFill>
                <a:cs typeface="Arial"/>
              </a:rPr>
              <a:t>aul</a:t>
            </a:r>
            <a:r>
              <a:rPr lang="vi-VN" sz="1600" i="1" spc="-10">
                <a:solidFill>
                  <a:srgbClr val="FF0000"/>
                </a:solidFill>
                <a:cs typeface="Arial"/>
              </a:rPr>
              <a:t>t</a:t>
            </a:r>
            <a:endParaRPr lang="vi-VN" sz="1600">
              <a:cs typeface="Arial"/>
            </a:endParaRPr>
          </a:p>
          <a:p>
            <a:pPr marL="861059" lvl="1">
              <a:spcBef>
                <a:spcPts val="1285"/>
              </a:spcBef>
              <a:tabLst>
                <a:tab pos="832485" algn="l"/>
              </a:tabLst>
            </a:pPr>
            <a:r>
              <a:rPr lang="vi-VN" sz="1600" spc="-20">
                <a:cs typeface="Arial"/>
              </a:rPr>
              <a:t>p</a:t>
            </a:r>
            <a:r>
              <a:rPr lang="vi-VN" sz="1600" spc="-5">
                <a:cs typeface="Arial"/>
              </a:rPr>
              <a:t>r</a:t>
            </a:r>
            <a:r>
              <a:rPr lang="vi-VN" sz="1600" spc="-20">
                <a:cs typeface="Arial"/>
              </a:rPr>
              <a:t>i</a:t>
            </a:r>
            <a:r>
              <a:rPr lang="vi-VN" sz="1600" spc="-15">
                <a:cs typeface="Arial"/>
              </a:rPr>
              <a:t>v</a:t>
            </a:r>
            <a:r>
              <a:rPr lang="vi-VN" sz="1600" spc="-20">
                <a:cs typeface="Arial"/>
              </a:rPr>
              <a:t>a</a:t>
            </a:r>
            <a:r>
              <a:rPr lang="vi-VN" sz="1600">
                <a:cs typeface="Arial"/>
              </a:rPr>
              <a:t>t</a:t>
            </a:r>
            <a:r>
              <a:rPr lang="vi-VN" sz="1600" spc="-15">
                <a:cs typeface="Arial"/>
              </a:rPr>
              <a:t>e</a:t>
            </a:r>
            <a:endParaRPr lang="vi-VN" sz="1600">
              <a:cs typeface="Arial"/>
            </a:endParaRPr>
          </a:p>
          <a:p>
            <a:pPr marL="390525" marR="5080" indent="-377825">
              <a:lnSpc>
                <a:spcPct val="120000"/>
              </a:lnSpc>
              <a:spcBef>
                <a:spcPts val="625"/>
              </a:spcBef>
              <a:buClr>
                <a:srgbClr val="0000FF"/>
              </a:buClr>
              <a:buFont typeface="Wingdings"/>
              <a:buChar char=""/>
              <a:tabLst>
                <a:tab pos="391160" algn="l"/>
                <a:tab pos="1259205" algn="l"/>
                <a:tab pos="2386965" algn="l"/>
                <a:tab pos="3349625" algn="l"/>
                <a:tab pos="4124325" algn="l"/>
                <a:tab pos="4843145" algn="l"/>
                <a:tab pos="5916295" algn="l"/>
                <a:tab pos="6294120" algn="l"/>
                <a:tab pos="6976745" algn="l"/>
                <a:tab pos="7616825" algn="l"/>
                <a:tab pos="8339455" algn="l"/>
              </a:tabLst>
            </a:pPr>
            <a:r>
              <a:rPr lang="vi-VN" sz="1600">
                <a:solidFill>
                  <a:srgbClr val="0000FF"/>
                </a:solidFill>
                <a:cs typeface="Arial"/>
              </a:rPr>
              <a:t>f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in</a:t>
            </a:r>
            <a:r>
              <a:rPr lang="vi-VN" sz="1600">
                <a:solidFill>
                  <a:srgbClr val="0000FF"/>
                </a:solidFill>
                <a:cs typeface="Arial"/>
              </a:rPr>
              <a:t>a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l</a:t>
            </a:r>
            <a:r>
              <a:rPr lang="vi-VN" sz="1600" spc="-10">
                <a:solidFill>
                  <a:srgbClr val="0000FF"/>
                </a:solidFill>
                <a:cs typeface="Arial"/>
              </a:rPr>
              <a:t>:</a:t>
            </a:r>
            <a:r>
              <a:rPr lang="vi-VN" sz="1600">
                <a:solidFill>
                  <a:srgbClr val="0000FF"/>
                </a:solidFill>
                <a:cs typeface="Arial"/>
              </a:rPr>
              <a:t>	</a:t>
            </a:r>
            <a:r>
              <a:rPr lang="vi-VN" sz="1600" spc="-30">
                <a:cs typeface="Arial"/>
              </a:rPr>
              <a:t>K</a:t>
            </a:r>
            <a:r>
              <a:rPr lang="vi-VN" sz="1600" spc="-20">
                <a:cs typeface="Arial"/>
              </a:rPr>
              <a:t>h</a:t>
            </a:r>
            <a:r>
              <a:rPr lang="vi-VN" sz="1600">
                <a:cs typeface="Arial"/>
              </a:rPr>
              <a:t>ô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	</a:t>
            </a:r>
            <a:r>
              <a:rPr lang="vi-VN" sz="1600" spc="-20">
                <a:cs typeface="Arial"/>
              </a:rPr>
              <a:t>đ</a:t>
            </a:r>
            <a:r>
              <a:rPr lang="vi-VN" sz="1600" spc="10">
                <a:cs typeface="Arial"/>
              </a:rPr>
              <a:t>ư</a:t>
            </a:r>
            <a:r>
              <a:rPr lang="vi-VN" sz="1600" spc="-25">
                <a:cs typeface="Arial"/>
              </a:rPr>
              <a:t>ợ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	</a:t>
            </a:r>
            <a:r>
              <a:rPr lang="vi-VN" sz="1600" spc="-15">
                <a:cs typeface="Arial"/>
              </a:rPr>
              <a:t>k</a:t>
            </a:r>
            <a:r>
              <a:rPr lang="vi-VN" sz="1600" spc="-20">
                <a:cs typeface="Arial"/>
              </a:rPr>
              <a:t>h</a:t>
            </a:r>
            <a:r>
              <a:rPr lang="vi-VN" sz="1600">
                <a:cs typeface="Arial"/>
              </a:rPr>
              <a:t>a</a:t>
            </a:r>
            <a:r>
              <a:rPr lang="vi-VN" sz="1600" spc="-10">
                <a:cs typeface="Arial"/>
              </a:rPr>
              <a:t>i</a:t>
            </a:r>
            <a:r>
              <a:rPr lang="vi-VN" sz="1600">
                <a:cs typeface="Arial"/>
              </a:rPr>
              <a:t>	</a:t>
            </a:r>
            <a:r>
              <a:rPr lang="vi-VN" sz="1600" spc="-20">
                <a:cs typeface="Arial"/>
              </a:rPr>
              <a:t>b</a:t>
            </a:r>
            <a:r>
              <a:rPr lang="vi-VN" sz="1600">
                <a:cs typeface="Arial"/>
              </a:rPr>
              <a:t>á</a:t>
            </a:r>
            <a:r>
              <a:rPr lang="vi-VN" sz="1600" spc="-15">
                <a:cs typeface="Arial"/>
              </a:rPr>
              <a:t>o</a:t>
            </a:r>
            <a:r>
              <a:rPr lang="vi-VN" sz="1600">
                <a:cs typeface="Arial"/>
              </a:rPr>
              <a:t>	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h</a:t>
            </a:r>
            <a:r>
              <a:rPr lang="vi-VN" sz="1600" spc="-20">
                <a:cs typeface="Arial"/>
              </a:rPr>
              <a:t>ồn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	</a:t>
            </a:r>
            <a:r>
              <a:rPr lang="en-US" sz="1600" spc="-20">
                <a:cs typeface="Arial"/>
              </a:rPr>
              <a:t>ở</a:t>
            </a:r>
            <a:r>
              <a:rPr lang="vi-VN" sz="1600">
                <a:cs typeface="Arial"/>
              </a:rPr>
              <a:t>	c</a:t>
            </a:r>
            <a:r>
              <a:rPr lang="vi-VN" sz="1600" spc="-20">
                <a:cs typeface="Arial"/>
              </a:rPr>
              <a:t>á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	</a:t>
            </a:r>
            <a:r>
              <a:rPr lang="vi-VN" sz="1600" spc="-20">
                <a:cs typeface="Arial"/>
              </a:rPr>
              <a:t>l</a:t>
            </a:r>
            <a:r>
              <a:rPr lang="vi-VN" sz="1600">
                <a:cs typeface="Arial"/>
              </a:rPr>
              <a:t>ớ</a:t>
            </a:r>
            <a:r>
              <a:rPr lang="vi-VN" sz="1600" spc="-15">
                <a:cs typeface="Arial"/>
              </a:rPr>
              <a:t>p</a:t>
            </a:r>
            <a:r>
              <a:rPr lang="vi-VN" sz="1600">
                <a:cs typeface="Arial"/>
              </a:rPr>
              <a:t>	</a:t>
            </a:r>
            <a:r>
              <a:rPr lang="vi-VN" sz="1600" spc="-20">
                <a:cs typeface="Arial"/>
              </a:rPr>
              <a:t>d</a:t>
            </a:r>
            <a:r>
              <a:rPr lang="vi-VN" sz="1600">
                <a:cs typeface="Arial"/>
              </a:rPr>
              <a:t>ẫ</a:t>
            </a:r>
            <a:r>
              <a:rPr lang="vi-VN" sz="1600" spc="-15">
                <a:cs typeface="Arial"/>
              </a:rPr>
              <a:t>n</a:t>
            </a:r>
            <a:r>
              <a:rPr lang="vi-VN" sz="1600">
                <a:cs typeface="Arial"/>
              </a:rPr>
              <a:t>	</a:t>
            </a:r>
            <a:r>
              <a:rPr lang="vi-VN" sz="1600" spc="-40">
                <a:cs typeface="Arial"/>
              </a:rPr>
              <a:t>x</a:t>
            </a:r>
            <a:r>
              <a:rPr lang="vi-VN" sz="1600">
                <a:cs typeface="Arial"/>
              </a:rPr>
              <a:t>u</a:t>
            </a:r>
            <a:r>
              <a:rPr lang="vi-VN" sz="1600" spc="-20">
                <a:cs typeface="Arial"/>
              </a:rPr>
              <a:t>ấ</a:t>
            </a:r>
            <a:r>
              <a:rPr lang="vi-VN" sz="1600" spc="-10">
                <a:cs typeface="Arial"/>
              </a:rPr>
              <a:t>t </a:t>
            </a:r>
            <a:r>
              <a:rPr lang="vi-VN" sz="1600" spc="-5">
                <a:cs typeface="Arial"/>
              </a:rPr>
              <a:t>(</a:t>
            </a:r>
            <a:r>
              <a:rPr lang="vi-VN" sz="1600" spc="-15">
                <a:cs typeface="Arial"/>
              </a:rPr>
              <a:t>k</a:t>
            </a:r>
            <a:r>
              <a:rPr lang="vi-VN" sz="1600" spc="-20">
                <a:cs typeface="Arial"/>
              </a:rPr>
              <a:t>hôn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ợ</a:t>
            </a:r>
            <a:r>
              <a:rPr lang="vi-VN" sz="1600" spc="-15">
                <a:cs typeface="Arial"/>
              </a:rPr>
              <a:t>c</a:t>
            </a:r>
            <a:r>
              <a:rPr lang="vi-VN" sz="1600" spc="30">
                <a:cs typeface="Arial"/>
              </a:rPr>
              <a:t> </a:t>
            </a:r>
            <a:r>
              <a:rPr lang="vi-VN" sz="1600" spc="-20">
                <a:cs typeface="Arial"/>
              </a:rPr>
              <a:t>gh</a:t>
            </a:r>
            <a:r>
              <a:rPr lang="vi-VN" sz="1600" spc="-10">
                <a:cs typeface="Arial"/>
              </a:rPr>
              <a:t>i</a:t>
            </a:r>
            <a:r>
              <a:rPr lang="vi-VN" sz="1600" spc="20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 spc="-15">
                <a:cs typeface="Arial"/>
              </a:rPr>
              <a:t>è</a:t>
            </a:r>
            <a:r>
              <a:rPr lang="vi-VN" sz="1600" spc="25">
                <a:cs typeface="Arial"/>
              </a:rPr>
              <a:t> </a:t>
            </a:r>
            <a:r>
              <a:rPr lang="vi-VN" sz="1600" spc="-20">
                <a:cs typeface="Arial"/>
              </a:rPr>
              <a:t>ở l</a:t>
            </a:r>
            <a:r>
              <a:rPr lang="vi-VN" sz="1600" spc="-25">
                <a:cs typeface="Arial"/>
              </a:rPr>
              <a:t>ớ</a:t>
            </a:r>
            <a:r>
              <a:rPr lang="vi-VN" sz="1600" spc="-15">
                <a:cs typeface="Arial"/>
              </a:rPr>
              <a:t>p</a:t>
            </a:r>
            <a:r>
              <a:rPr lang="vi-VN" sz="1600" spc="25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 spc="-20">
                <a:cs typeface="Arial"/>
              </a:rPr>
              <a:t>on</a:t>
            </a:r>
            <a:r>
              <a:rPr lang="vi-VN" sz="1600" spc="-10">
                <a:cs typeface="Arial"/>
              </a:rPr>
              <a:t>)</a:t>
            </a:r>
            <a:endParaRPr lang="vi-VN" sz="1600">
              <a:cs typeface="Arial"/>
            </a:endParaRPr>
          </a:p>
          <a:p>
            <a:pPr marL="390525" marR="7620" indent="-377825" algn="just">
              <a:lnSpc>
                <a:spcPct val="120000"/>
              </a:lnSpc>
              <a:spcBef>
                <a:spcPts val="625"/>
              </a:spcBef>
              <a:buClr>
                <a:srgbClr val="0000FF"/>
              </a:buClr>
              <a:buFont typeface="Wingdings"/>
              <a:buChar char=""/>
              <a:tabLst>
                <a:tab pos="391160" algn="l"/>
                <a:tab pos="1828800" algn="l"/>
                <a:tab pos="2947670" algn="l"/>
                <a:tab pos="3450590" algn="l"/>
                <a:tab pos="4346575" algn="l"/>
                <a:tab pos="5504815" algn="l"/>
                <a:tab pos="6473825" algn="l"/>
                <a:tab pos="6976745" algn="l"/>
                <a:tab pos="7924800" algn="l"/>
                <a:tab pos="8503920" algn="l"/>
              </a:tabLst>
            </a:pPr>
            <a:r>
              <a:rPr lang="vi-VN" sz="1600" spc="-20">
                <a:solidFill>
                  <a:srgbClr val="0000FF"/>
                </a:solidFill>
                <a:cs typeface="Arial"/>
              </a:rPr>
              <a:t>ab</a:t>
            </a:r>
            <a:r>
              <a:rPr lang="vi-VN" sz="1600" spc="-15">
                <a:solidFill>
                  <a:srgbClr val="0000FF"/>
                </a:solidFill>
                <a:cs typeface="Arial"/>
              </a:rPr>
              <a:t>s</a:t>
            </a:r>
            <a:r>
              <a:rPr lang="vi-VN" sz="1600">
                <a:solidFill>
                  <a:srgbClr val="0000FF"/>
                </a:solidFill>
                <a:cs typeface="Arial"/>
              </a:rPr>
              <a:t>t</a:t>
            </a:r>
            <a:r>
              <a:rPr lang="vi-VN" sz="1600" spc="-5">
                <a:solidFill>
                  <a:srgbClr val="0000FF"/>
                </a:solidFill>
                <a:cs typeface="Arial"/>
              </a:rPr>
              <a:t>r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a</a:t>
            </a:r>
            <a:r>
              <a:rPr lang="vi-VN" sz="1600" spc="-15">
                <a:solidFill>
                  <a:srgbClr val="0000FF"/>
                </a:solidFill>
                <a:cs typeface="Arial"/>
              </a:rPr>
              <a:t>c</a:t>
            </a:r>
            <a:r>
              <a:rPr lang="vi-VN" sz="1600">
                <a:solidFill>
                  <a:srgbClr val="0000FF"/>
                </a:solidFill>
                <a:cs typeface="Arial"/>
              </a:rPr>
              <a:t>t</a:t>
            </a:r>
            <a:r>
              <a:rPr lang="vi-VN" sz="1600" spc="-10">
                <a:solidFill>
                  <a:srgbClr val="0000FF"/>
                </a:solidFill>
                <a:cs typeface="Arial"/>
              </a:rPr>
              <a:t>:</a:t>
            </a:r>
            <a:r>
              <a:rPr lang="vi-VN" sz="1600">
                <a:solidFill>
                  <a:srgbClr val="0000FF"/>
                </a:solidFill>
                <a:cs typeface="Arial"/>
              </a:rPr>
              <a:t>	</a:t>
            </a:r>
            <a:r>
              <a:rPr lang="vi-VN" sz="1600" spc="-30">
                <a:cs typeface="Arial"/>
              </a:rPr>
              <a:t>K</a:t>
            </a:r>
            <a:r>
              <a:rPr lang="vi-VN" sz="1600" spc="-20">
                <a:cs typeface="Arial"/>
              </a:rPr>
              <a:t>hô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	</a:t>
            </a:r>
            <a:r>
              <a:rPr lang="vi-VN" sz="1600" spc="-15">
                <a:cs typeface="Arial"/>
              </a:rPr>
              <a:t>có</a:t>
            </a:r>
            <a:r>
              <a:rPr lang="vi-VN" sz="1600">
                <a:cs typeface="Arial"/>
              </a:rPr>
              <a:t>	</a:t>
            </a:r>
            <a:r>
              <a:rPr lang="vi-VN" sz="1600" spc="-20">
                <a:cs typeface="Arial"/>
              </a:rPr>
              <a:t>ph</a:t>
            </a:r>
            <a:r>
              <a:rPr lang="vi-VN" sz="1600">
                <a:cs typeface="Arial"/>
              </a:rPr>
              <a:t>ầ</a:t>
            </a:r>
            <a:r>
              <a:rPr lang="vi-VN" sz="1600" spc="-15">
                <a:cs typeface="Arial"/>
              </a:rPr>
              <a:t>n</a:t>
            </a:r>
            <a:r>
              <a:rPr lang="vi-VN" sz="1600">
                <a:cs typeface="Arial"/>
              </a:rPr>
              <a:t>	</a:t>
            </a:r>
            <a:r>
              <a:rPr lang="vi-VN" sz="1600" spc="-15">
                <a:cs typeface="Arial"/>
              </a:rPr>
              <a:t>s</a:t>
            </a:r>
            <a:r>
              <a:rPr lang="vi-VN" sz="1600" spc="-20">
                <a:cs typeface="Arial"/>
              </a:rPr>
              <a:t>ou</a:t>
            </a:r>
            <a:r>
              <a:rPr lang="vi-VN" sz="1600" spc="-5">
                <a:cs typeface="Arial"/>
              </a:rPr>
              <a:t>r</a:t>
            </a:r>
            <a:r>
              <a:rPr lang="vi-VN" sz="1600">
                <a:cs typeface="Arial"/>
              </a:rPr>
              <a:t>c</a:t>
            </a:r>
            <a:r>
              <a:rPr lang="vi-VN" sz="1600" spc="-15">
                <a:cs typeface="Arial"/>
              </a:rPr>
              <a:t>e</a:t>
            </a:r>
            <a:r>
              <a:rPr lang="vi-VN" sz="1600">
                <a:cs typeface="Arial"/>
              </a:rPr>
              <a:t>	</a:t>
            </a:r>
            <a:r>
              <a:rPr lang="vi-VN" sz="1600" spc="-15">
                <a:cs typeface="Arial"/>
              </a:rPr>
              <a:t>c</a:t>
            </a:r>
            <a:r>
              <a:rPr lang="vi-VN" sz="1600" spc="-20">
                <a:cs typeface="Arial"/>
              </a:rPr>
              <a:t>o</a:t>
            </a:r>
            <a:r>
              <a:rPr lang="vi-VN" sz="1600">
                <a:cs typeface="Arial"/>
              </a:rPr>
              <a:t>d</a:t>
            </a:r>
            <a:r>
              <a:rPr lang="vi-VN" sz="1600" spc="-20">
                <a:cs typeface="Arial"/>
              </a:rPr>
              <a:t>e</a:t>
            </a:r>
            <a:r>
              <a:rPr lang="vi-VN" sz="1600" spc="-10">
                <a:cs typeface="Arial"/>
              </a:rPr>
              <a:t>,</a:t>
            </a:r>
            <a:r>
              <a:rPr lang="vi-VN" sz="1600">
                <a:cs typeface="Arial"/>
              </a:rPr>
              <a:t>	</a:t>
            </a:r>
            <a:r>
              <a:rPr lang="vi-VN" sz="1600" spc="-15">
                <a:cs typeface="Arial"/>
              </a:rPr>
              <a:t>sẽ</a:t>
            </a:r>
            <a:r>
              <a:rPr lang="vi-VN" sz="1600">
                <a:cs typeface="Arial"/>
              </a:rPr>
              <a:t>	</a:t>
            </a:r>
            <a:r>
              <a:rPr lang="vi-VN" sz="1600" spc="-20">
                <a:cs typeface="Arial"/>
              </a:rPr>
              <a:t>đ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ợ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	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à</a:t>
            </a:r>
            <a:r>
              <a:rPr lang="vi-VN" sz="1600" spc="-10">
                <a:cs typeface="Arial"/>
              </a:rPr>
              <a:t>i</a:t>
            </a:r>
            <a:r>
              <a:rPr lang="vi-VN" sz="1600">
                <a:cs typeface="Arial"/>
              </a:rPr>
              <a:t>	</a:t>
            </a:r>
            <a:r>
              <a:rPr lang="vi-VN" sz="1600" spc="-20">
                <a:cs typeface="Arial"/>
              </a:rPr>
              <a:t>đặ</a:t>
            </a:r>
            <a:r>
              <a:rPr lang="vi-VN" sz="1600" spc="-10">
                <a:cs typeface="Arial"/>
              </a:rPr>
              <a:t>t </a:t>
            </a:r>
            <a:r>
              <a:rPr lang="vi-VN" sz="1600">
                <a:cs typeface="Arial"/>
              </a:rPr>
              <a:t>t</a:t>
            </a:r>
            <a:r>
              <a:rPr lang="vi-VN" sz="1600" spc="-5">
                <a:cs typeface="Arial"/>
              </a:rPr>
              <a:t>r</a:t>
            </a:r>
            <a:r>
              <a:rPr lang="vi-VN" sz="1600" spc="-20">
                <a:cs typeface="Arial"/>
              </a:rPr>
              <a:t>on</a:t>
            </a:r>
            <a:r>
              <a:rPr lang="vi-VN" sz="1600" spc="-15">
                <a:cs typeface="Arial"/>
              </a:rPr>
              <a:t>g</a:t>
            </a:r>
            <a:r>
              <a:rPr lang="vi-VN" sz="1600" spc="-25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 spc="-20">
                <a:cs typeface="Arial"/>
              </a:rPr>
              <a:t>á</a:t>
            </a:r>
            <a:r>
              <a:rPr lang="vi-VN" sz="1600" spc="-15">
                <a:cs typeface="Arial"/>
              </a:rPr>
              <a:t>c</a:t>
            </a:r>
            <a:r>
              <a:rPr lang="vi-VN" sz="1600" spc="5">
                <a:cs typeface="Arial"/>
              </a:rPr>
              <a:t> </a:t>
            </a:r>
            <a:r>
              <a:rPr lang="vi-VN" sz="1600" spc="-20">
                <a:cs typeface="Arial"/>
              </a:rPr>
              <a:t>l</a:t>
            </a:r>
            <a:r>
              <a:rPr lang="vi-VN" sz="1600" spc="-25">
                <a:cs typeface="Arial"/>
              </a:rPr>
              <a:t>ớ</a:t>
            </a:r>
            <a:r>
              <a:rPr lang="vi-VN" sz="1600" spc="-15">
                <a:cs typeface="Arial"/>
              </a:rPr>
              <a:t>p</a:t>
            </a:r>
            <a:r>
              <a:rPr lang="vi-VN" sz="1600" spc="25">
                <a:cs typeface="Arial"/>
              </a:rPr>
              <a:t> </a:t>
            </a:r>
            <a:r>
              <a:rPr lang="vi-VN" sz="1600" spc="-20">
                <a:cs typeface="Arial"/>
              </a:rPr>
              <a:t>dẫ</a:t>
            </a:r>
            <a:r>
              <a:rPr lang="vi-VN" sz="1600" spc="-15">
                <a:cs typeface="Arial"/>
              </a:rPr>
              <a:t>n</a:t>
            </a:r>
            <a:r>
              <a:rPr lang="vi-VN" sz="1600" spc="25">
                <a:cs typeface="Arial"/>
              </a:rPr>
              <a:t> </a:t>
            </a:r>
            <a:r>
              <a:rPr lang="vi-VN" sz="1600" spc="-40">
                <a:cs typeface="Arial"/>
              </a:rPr>
              <a:t>x</a:t>
            </a:r>
            <a:r>
              <a:rPr lang="vi-VN" sz="1600" spc="-20">
                <a:cs typeface="Arial"/>
              </a:rPr>
              <a:t>uấ</a:t>
            </a:r>
            <a:r>
              <a:rPr lang="vi-VN" sz="1600">
                <a:cs typeface="Arial"/>
              </a:rPr>
              <a:t>t</a:t>
            </a:r>
            <a:r>
              <a:rPr lang="vi-VN" sz="1600" spc="-10">
                <a:cs typeface="Arial"/>
              </a:rPr>
              <a:t>.</a:t>
            </a:r>
            <a:endParaRPr lang="en-US" sz="1600" spc="-10">
              <a:cs typeface="Arial"/>
            </a:endParaRPr>
          </a:p>
          <a:p>
            <a:pPr marL="390525" marR="5080" indent="-377825" algn="just">
              <a:lnSpc>
                <a:spcPct val="120000"/>
              </a:lnSpc>
              <a:buClr>
                <a:srgbClr val="0000FF"/>
              </a:buClr>
              <a:buFont typeface="Wingdings"/>
              <a:buChar char=""/>
              <a:tabLst>
                <a:tab pos="391160" algn="l"/>
              </a:tabLst>
            </a:pPr>
            <a:r>
              <a:rPr lang="vi-VN" sz="1600" spc="-15">
                <a:solidFill>
                  <a:srgbClr val="0000FF"/>
                </a:solidFill>
                <a:cs typeface="Arial"/>
              </a:rPr>
              <a:t>s</a:t>
            </a:r>
            <a:r>
              <a:rPr lang="vi-VN" sz="1600">
                <a:solidFill>
                  <a:srgbClr val="0000FF"/>
                </a:solidFill>
                <a:cs typeface="Arial"/>
              </a:rPr>
              <a:t>t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a</a:t>
            </a:r>
            <a:r>
              <a:rPr lang="vi-VN" sz="1600">
                <a:solidFill>
                  <a:srgbClr val="0000FF"/>
                </a:solidFill>
                <a:cs typeface="Arial"/>
              </a:rPr>
              <a:t>t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i</a:t>
            </a:r>
            <a:r>
              <a:rPr lang="vi-VN" sz="1600" spc="-15">
                <a:solidFill>
                  <a:srgbClr val="0000FF"/>
                </a:solidFill>
                <a:cs typeface="Arial"/>
              </a:rPr>
              <a:t>c:</a:t>
            </a:r>
            <a:r>
              <a:rPr lang="vi-VN" sz="1600">
                <a:solidFill>
                  <a:srgbClr val="0000FF"/>
                </a:solidFill>
                <a:cs typeface="Arial"/>
              </a:rPr>
              <a:t> </a:t>
            </a:r>
            <a:r>
              <a:rPr lang="vi-VN" sz="1600" spc="-360">
                <a:solidFill>
                  <a:srgbClr val="0000FF"/>
                </a:solidFill>
                <a:cs typeface="Arial"/>
              </a:rPr>
              <a:t> </a:t>
            </a:r>
            <a:r>
              <a:rPr lang="vi-VN" sz="1600" spc="-30">
                <a:cs typeface="Arial"/>
              </a:rPr>
              <a:t>P</a:t>
            </a:r>
            <a:r>
              <a:rPr lang="vi-VN" sz="1600" spc="-20">
                <a:cs typeface="Arial"/>
              </a:rPr>
              <a:t>h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ơ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 spc="360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h</a:t>
            </a:r>
            <a:r>
              <a:rPr lang="vi-VN" sz="1600" spc="-15">
                <a:cs typeface="Arial"/>
              </a:rPr>
              <a:t>ức</a:t>
            </a:r>
            <a:r>
              <a:rPr lang="vi-VN" sz="1600" spc="365">
                <a:cs typeface="Arial"/>
              </a:rPr>
              <a:t> </a:t>
            </a:r>
            <a:r>
              <a:rPr lang="vi-VN" sz="1600" spc="-20">
                <a:cs typeface="Arial"/>
              </a:rPr>
              <a:t>l</a:t>
            </a:r>
            <a:r>
              <a:rPr lang="vi-VN" sz="1600" spc="-25">
                <a:cs typeface="Arial"/>
              </a:rPr>
              <a:t>ớ</a:t>
            </a:r>
            <a:r>
              <a:rPr lang="vi-VN" sz="1600" spc="-15">
                <a:cs typeface="Arial"/>
              </a:rPr>
              <a:t>p</a:t>
            </a:r>
            <a:r>
              <a:rPr lang="vi-VN" sz="1600" spc="360">
                <a:cs typeface="Arial"/>
              </a:rPr>
              <a:t> </a:t>
            </a:r>
            <a:r>
              <a:rPr lang="vi-VN" sz="1600" spc="-20">
                <a:cs typeface="Arial"/>
              </a:rPr>
              <a:t>d</a:t>
            </a:r>
            <a:r>
              <a:rPr lang="vi-VN" sz="1600">
                <a:cs typeface="Arial"/>
              </a:rPr>
              <a:t>ù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 spc="360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h</a:t>
            </a:r>
            <a:r>
              <a:rPr lang="vi-VN" sz="1600" spc="-20">
                <a:cs typeface="Arial"/>
              </a:rPr>
              <a:t>u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 spc="360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h</a:t>
            </a:r>
            <a:r>
              <a:rPr lang="vi-VN" sz="1600" spc="-15">
                <a:cs typeface="Arial"/>
              </a:rPr>
              <a:t>o</a:t>
            </a:r>
            <a:r>
              <a:rPr lang="vi-VN" sz="1600" spc="360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ấ</a:t>
            </a:r>
            <a:r>
              <a:rPr lang="vi-VN" sz="1600" spc="-10">
                <a:cs typeface="Arial"/>
              </a:rPr>
              <a:t>t</a:t>
            </a:r>
            <a:r>
              <a:rPr lang="vi-VN" sz="1600">
                <a:cs typeface="Arial"/>
              </a:rPr>
              <a:t> </a:t>
            </a:r>
            <a:r>
              <a:rPr lang="vi-VN" sz="1600" spc="-360">
                <a:cs typeface="Arial"/>
              </a:rPr>
              <a:t> </a:t>
            </a:r>
            <a:r>
              <a:rPr lang="vi-VN" sz="1600" spc="-15">
                <a:cs typeface="Arial"/>
              </a:rPr>
              <a:t>cả</a:t>
            </a:r>
            <a:r>
              <a:rPr lang="vi-VN" sz="1600" spc="360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 spc="-20">
                <a:cs typeface="Arial"/>
              </a:rPr>
              <a:t>á</a:t>
            </a:r>
            <a:r>
              <a:rPr lang="vi-VN" sz="1600" spc="-15">
                <a:cs typeface="Arial"/>
              </a:rPr>
              <a:t>c</a:t>
            </a:r>
            <a:r>
              <a:rPr lang="vi-VN" sz="1600" spc="340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h</a:t>
            </a:r>
            <a:r>
              <a:rPr lang="vi-VN" sz="1600" spc="-15">
                <a:cs typeface="Arial"/>
              </a:rPr>
              <a:t>ể</a:t>
            </a:r>
            <a:r>
              <a:rPr lang="vi-VN" sz="1600" spc="-10">
                <a:cs typeface="Arial"/>
              </a:rPr>
              <a:t> </a:t>
            </a:r>
            <a:r>
              <a:rPr lang="vi-VN" sz="1600" spc="-20">
                <a:cs typeface="Arial"/>
              </a:rPr>
              <a:t>h</a:t>
            </a:r>
            <a:r>
              <a:rPr lang="vi-VN" sz="1600">
                <a:cs typeface="Arial"/>
              </a:rPr>
              <a:t>i</a:t>
            </a:r>
            <a:r>
              <a:rPr lang="vi-VN" sz="1600" spc="-20">
                <a:cs typeface="Arial"/>
              </a:rPr>
              <a:t>ệ</a:t>
            </a:r>
            <a:r>
              <a:rPr lang="vi-VN" sz="1600" spc="-15">
                <a:cs typeface="Arial"/>
              </a:rPr>
              <a:t>n</a:t>
            </a:r>
            <a:r>
              <a:rPr lang="vi-VN" sz="1600" spc="170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ủ</a:t>
            </a:r>
            <a:r>
              <a:rPr lang="vi-VN" sz="1600" spc="-15">
                <a:cs typeface="Arial"/>
              </a:rPr>
              <a:t>a</a:t>
            </a:r>
            <a:r>
              <a:rPr lang="vi-VN" sz="1600" spc="170">
                <a:cs typeface="Arial"/>
              </a:rPr>
              <a:t> </a:t>
            </a:r>
            <a:r>
              <a:rPr lang="vi-VN" sz="1600">
                <a:cs typeface="Arial"/>
              </a:rPr>
              <a:t>l</a:t>
            </a:r>
            <a:r>
              <a:rPr lang="vi-VN" sz="1600" spc="-25">
                <a:cs typeface="Arial"/>
              </a:rPr>
              <a:t>ớ</a:t>
            </a:r>
            <a:r>
              <a:rPr lang="vi-VN" sz="1600" spc="-20">
                <a:cs typeface="Arial"/>
              </a:rPr>
              <a:t>p</a:t>
            </a:r>
            <a:r>
              <a:rPr lang="vi-VN" sz="1600" spc="-10">
                <a:cs typeface="Arial"/>
              </a:rPr>
              <a:t>,</a:t>
            </a:r>
            <a:r>
              <a:rPr lang="vi-VN" sz="1600" spc="185">
                <a:cs typeface="Arial"/>
              </a:rPr>
              <a:t> </a:t>
            </a:r>
            <a:r>
              <a:rPr lang="vi-VN" sz="1600" spc="-15">
                <a:cs typeface="Arial"/>
              </a:rPr>
              <a:t>có</a:t>
            </a:r>
            <a:r>
              <a:rPr lang="vi-VN" sz="1600" spc="170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h</a:t>
            </a:r>
            <a:r>
              <a:rPr lang="vi-VN" sz="1600" spc="-15">
                <a:cs typeface="Arial"/>
              </a:rPr>
              <a:t>ể</a:t>
            </a:r>
            <a:r>
              <a:rPr lang="vi-VN" sz="1600" spc="190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ợ</a:t>
            </a:r>
            <a:r>
              <a:rPr lang="vi-VN" sz="1600" spc="-15">
                <a:cs typeface="Arial"/>
              </a:rPr>
              <a:t>c</a:t>
            </a:r>
            <a:r>
              <a:rPr lang="vi-VN" sz="1600" spc="175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h</a:t>
            </a:r>
            <a:r>
              <a:rPr lang="vi-VN" sz="1600" spc="-15">
                <a:cs typeface="Arial"/>
              </a:rPr>
              <a:t>ực</a:t>
            </a:r>
            <a:r>
              <a:rPr lang="vi-VN" sz="1600" spc="175">
                <a:cs typeface="Arial"/>
              </a:rPr>
              <a:t> </a:t>
            </a:r>
            <a:r>
              <a:rPr lang="vi-VN" sz="1600">
                <a:cs typeface="Arial"/>
              </a:rPr>
              <a:t>h</a:t>
            </a:r>
            <a:r>
              <a:rPr lang="vi-VN" sz="1600" spc="-20">
                <a:cs typeface="Arial"/>
              </a:rPr>
              <a:t>i</a:t>
            </a:r>
            <a:r>
              <a:rPr lang="vi-VN" sz="1600">
                <a:cs typeface="Arial"/>
              </a:rPr>
              <a:t>ệ</a:t>
            </a:r>
            <a:r>
              <a:rPr lang="vi-VN" sz="1600" spc="-15">
                <a:cs typeface="Arial"/>
              </a:rPr>
              <a:t>n</a:t>
            </a:r>
            <a:r>
              <a:rPr lang="vi-VN" sz="1600" spc="170">
                <a:cs typeface="Arial"/>
              </a:rPr>
              <a:t> </a:t>
            </a:r>
            <a:r>
              <a:rPr lang="vi-VN" sz="1600" spc="-15">
                <a:cs typeface="Arial"/>
              </a:rPr>
              <a:t>cả</a:t>
            </a:r>
            <a:r>
              <a:rPr lang="vi-VN" sz="1600" spc="195">
                <a:cs typeface="Arial"/>
              </a:rPr>
              <a:t> </a:t>
            </a:r>
            <a:r>
              <a:rPr lang="vi-VN" sz="1600" spc="-15">
                <a:cs typeface="Arial"/>
              </a:rPr>
              <a:t>k</a:t>
            </a:r>
            <a:r>
              <a:rPr lang="vi-VN" sz="1600" spc="-20">
                <a:cs typeface="Arial"/>
              </a:rPr>
              <a:t>h</a:t>
            </a:r>
            <a:r>
              <a:rPr lang="vi-VN" sz="1600" spc="-10">
                <a:cs typeface="Arial"/>
              </a:rPr>
              <a:t>i</a:t>
            </a:r>
            <a:r>
              <a:rPr lang="vi-VN" sz="1600" spc="165">
                <a:cs typeface="Arial"/>
              </a:rPr>
              <a:t> </a:t>
            </a:r>
            <a:r>
              <a:rPr lang="vi-VN" sz="1600">
                <a:cs typeface="Arial"/>
              </a:rPr>
              <a:t>k</a:t>
            </a:r>
            <a:r>
              <a:rPr lang="vi-VN" sz="1600" spc="-20">
                <a:cs typeface="Arial"/>
              </a:rPr>
              <a:t>h</a:t>
            </a:r>
            <a:r>
              <a:rPr lang="vi-VN" sz="1600">
                <a:cs typeface="Arial"/>
              </a:rPr>
              <a:t>ô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 spc="170">
                <a:cs typeface="Arial"/>
              </a:rPr>
              <a:t> </a:t>
            </a:r>
            <a:r>
              <a:rPr lang="vi-VN" sz="1600">
                <a:cs typeface="Arial"/>
              </a:rPr>
              <a:t>c</a:t>
            </a:r>
            <a:r>
              <a:rPr lang="vi-VN" sz="1600" spc="-15">
                <a:cs typeface="Arial"/>
              </a:rPr>
              <a:t>ó</a:t>
            </a:r>
            <a:r>
              <a:rPr lang="vi-VN" sz="1600" spc="170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>
                <a:cs typeface="Arial"/>
              </a:rPr>
              <a:t>ố</a:t>
            </a:r>
            <a:r>
              <a:rPr lang="vi-VN" sz="1600" spc="-10">
                <a:cs typeface="Arial"/>
              </a:rPr>
              <a:t>i </a:t>
            </a:r>
            <a:r>
              <a:rPr lang="vi-VN" sz="1600">
                <a:cs typeface="Arial"/>
              </a:rPr>
              <a:t>t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ợ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 spc="-25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 spc="-20">
                <a:cs typeface="Arial"/>
              </a:rPr>
              <a:t>ủ</a:t>
            </a:r>
            <a:r>
              <a:rPr lang="vi-VN" sz="1600" spc="-15">
                <a:cs typeface="Arial"/>
              </a:rPr>
              <a:t>a</a:t>
            </a:r>
            <a:r>
              <a:rPr lang="vi-VN" sz="1600" spc="25">
                <a:cs typeface="Arial"/>
              </a:rPr>
              <a:t> </a:t>
            </a:r>
            <a:r>
              <a:rPr lang="vi-VN" sz="1600" spc="-20">
                <a:cs typeface="Arial"/>
              </a:rPr>
              <a:t>l</a:t>
            </a:r>
            <a:r>
              <a:rPr lang="vi-VN" sz="1600" spc="-25">
                <a:cs typeface="Arial"/>
              </a:rPr>
              <a:t>ớ</a:t>
            </a:r>
            <a:r>
              <a:rPr lang="vi-VN" sz="1600" spc="-20">
                <a:cs typeface="Arial"/>
              </a:rPr>
              <a:t>p</a:t>
            </a:r>
            <a:r>
              <a:rPr lang="vi-VN" sz="1600" spc="-10">
                <a:cs typeface="Arial"/>
              </a:rPr>
              <a:t>.</a:t>
            </a:r>
            <a:endParaRPr lang="vi-VN" sz="1600">
              <a:cs typeface="Arial"/>
            </a:endParaRPr>
          </a:p>
          <a:p>
            <a:pPr marL="390525" marR="5715" indent="-377825" algn="just">
              <a:lnSpc>
                <a:spcPct val="120000"/>
              </a:lnSpc>
              <a:spcBef>
                <a:spcPts val="625"/>
              </a:spcBef>
              <a:buClr>
                <a:srgbClr val="0000FF"/>
              </a:buClr>
              <a:buFont typeface="Wingdings"/>
              <a:buChar char=""/>
              <a:tabLst>
                <a:tab pos="391160" algn="l"/>
              </a:tabLst>
            </a:pPr>
            <a:r>
              <a:rPr lang="vi-VN" sz="1600" spc="-20">
                <a:solidFill>
                  <a:srgbClr val="0000FF"/>
                </a:solidFill>
                <a:cs typeface="Arial"/>
              </a:rPr>
              <a:t>na</a:t>
            </a:r>
            <a:r>
              <a:rPr lang="vi-VN" sz="1600">
                <a:solidFill>
                  <a:srgbClr val="0000FF"/>
                </a:solidFill>
                <a:cs typeface="Arial"/>
              </a:rPr>
              <a:t>t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i</a:t>
            </a:r>
            <a:r>
              <a:rPr lang="vi-VN" sz="1600">
                <a:solidFill>
                  <a:srgbClr val="0000FF"/>
                </a:solidFill>
                <a:cs typeface="Arial"/>
              </a:rPr>
              <a:t>v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e</a:t>
            </a:r>
            <a:r>
              <a:rPr lang="vi-VN" sz="1600" spc="-10">
                <a:cs typeface="Arial"/>
              </a:rPr>
              <a:t>:</a:t>
            </a:r>
            <a:r>
              <a:rPr lang="vi-VN" sz="1600">
                <a:cs typeface="Arial"/>
              </a:rPr>
              <a:t> </a:t>
            </a:r>
            <a:r>
              <a:rPr lang="vi-VN" sz="1600" spc="-240">
                <a:cs typeface="Arial"/>
              </a:rPr>
              <a:t> </a:t>
            </a:r>
            <a:r>
              <a:rPr lang="vi-VN" sz="1600" spc="409">
                <a:cs typeface="Arial"/>
              </a:rPr>
              <a:t>đ</a:t>
            </a:r>
            <a:r>
              <a:rPr lang="vi-VN" sz="1600">
                <a:cs typeface="Arial"/>
              </a:rPr>
              <a:t>â</a:t>
            </a:r>
            <a:r>
              <a:rPr lang="vi-VN" sz="1600" spc="-15">
                <a:cs typeface="Arial"/>
              </a:rPr>
              <a:t>y</a:t>
            </a:r>
            <a:r>
              <a:rPr lang="vi-VN" sz="1600">
                <a:cs typeface="Arial"/>
              </a:rPr>
              <a:t> </a:t>
            </a:r>
            <a:r>
              <a:rPr lang="vi-VN" sz="1600" spc="-250">
                <a:cs typeface="Arial"/>
              </a:rPr>
              <a:t> </a:t>
            </a:r>
            <a:r>
              <a:rPr lang="vi-VN" sz="1600" spc="-20">
                <a:cs typeface="Arial"/>
              </a:rPr>
              <a:t>l</a:t>
            </a:r>
            <a:r>
              <a:rPr lang="vi-VN" sz="1600" spc="-15">
                <a:cs typeface="Arial"/>
              </a:rPr>
              <a:t>à</a:t>
            </a:r>
            <a:r>
              <a:rPr lang="vi-VN" sz="1600">
                <a:cs typeface="Arial"/>
              </a:rPr>
              <a:t> </a:t>
            </a:r>
            <a:r>
              <a:rPr lang="vi-VN" sz="1600" spc="-254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ừ</a:t>
            </a:r>
            <a:r>
              <a:rPr lang="vi-VN" sz="1600">
                <a:cs typeface="Arial"/>
              </a:rPr>
              <a:t> </a:t>
            </a:r>
            <a:r>
              <a:rPr lang="vi-VN" sz="1600" spc="-245">
                <a:cs typeface="Arial"/>
              </a:rPr>
              <a:t> </a:t>
            </a:r>
            <a:r>
              <a:rPr lang="vi-VN" sz="1600" spc="-15">
                <a:cs typeface="Arial"/>
              </a:rPr>
              <a:t>k</a:t>
            </a:r>
            <a:r>
              <a:rPr lang="vi-VN" sz="1600" spc="-20">
                <a:cs typeface="Arial"/>
              </a:rPr>
              <a:t>ho</a:t>
            </a:r>
            <a:r>
              <a:rPr lang="vi-VN" sz="1600" spc="-15">
                <a:cs typeface="Arial"/>
              </a:rPr>
              <a:t>á</a:t>
            </a:r>
            <a:r>
              <a:rPr lang="vi-VN" sz="1600">
                <a:cs typeface="Arial"/>
              </a:rPr>
              <a:t> </a:t>
            </a:r>
            <a:r>
              <a:rPr lang="vi-VN" sz="1600" spc="-229">
                <a:cs typeface="Arial"/>
              </a:rPr>
              <a:t> </a:t>
            </a:r>
            <a:r>
              <a:rPr lang="vi-VN" sz="1600" spc="-20">
                <a:cs typeface="Arial"/>
              </a:rPr>
              <a:t>b</a:t>
            </a:r>
            <a:r>
              <a:rPr lang="vi-VN" sz="1600">
                <a:cs typeface="Arial"/>
              </a:rPr>
              <a:t>á</a:t>
            </a:r>
            <a:r>
              <a:rPr lang="vi-VN" sz="1600" spc="-15">
                <a:cs typeface="Arial"/>
              </a:rPr>
              <a:t>o</a:t>
            </a:r>
            <a:r>
              <a:rPr lang="vi-VN" sz="1600">
                <a:cs typeface="Arial"/>
              </a:rPr>
              <a:t> </a:t>
            </a:r>
            <a:r>
              <a:rPr lang="vi-VN" sz="1600" spc="-254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 spc="-20">
                <a:cs typeface="Arial"/>
              </a:rPr>
              <a:t>h</a:t>
            </a:r>
            <a:r>
              <a:rPr lang="vi-VN" sz="1600" spc="-15">
                <a:cs typeface="Arial"/>
              </a:rPr>
              <a:t>o</a:t>
            </a:r>
            <a:r>
              <a:rPr lang="vi-VN" sz="1600">
                <a:cs typeface="Arial"/>
              </a:rPr>
              <a:t> </a:t>
            </a:r>
            <a:r>
              <a:rPr lang="vi-VN" sz="1600" spc="-229">
                <a:cs typeface="Arial"/>
              </a:rPr>
              <a:t> </a:t>
            </a:r>
            <a:r>
              <a:rPr lang="vi-VN" sz="1600" spc="-20">
                <a:cs typeface="Arial"/>
              </a:rPr>
              <a:t>ja</a:t>
            </a:r>
            <a:r>
              <a:rPr lang="vi-VN" sz="1600">
                <a:cs typeface="Arial"/>
              </a:rPr>
              <a:t>v</a:t>
            </a:r>
            <a:r>
              <a:rPr lang="vi-VN" sz="1600" spc="-15">
                <a:cs typeface="Arial"/>
              </a:rPr>
              <a:t>a</a:t>
            </a:r>
            <a:r>
              <a:rPr lang="vi-VN" sz="1600">
                <a:cs typeface="Arial"/>
              </a:rPr>
              <a:t> </a:t>
            </a:r>
            <a:r>
              <a:rPr lang="vi-VN" sz="1600" spc="-254">
                <a:cs typeface="Arial"/>
              </a:rPr>
              <a:t> </a:t>
            </a:r>
            <a:r>
              <a:rPr lang="vi-VN" sz="1600">
                <a:cs typeface="Arial"/>
              </a:rPr>
              <a:t>b</a:t>
            </a:r>
            <a:r>
              <a:rPr lang="vi-VN" sz="1600" spc="-20">
                <a:cs typeface="Arial"/>
              </a:rPr>
              <a:t>iế</a:t>
            </a:r>
            <a:r>
              <a:rPr lang="vi-VN" sz="1600" spc="-10">
                <a:cs typeface="Arial"/>
              </a:rPr>
              <a:t>t</a:t>
            </a:r>
            <a:r>
              <a:rPr lang="vi-VN" sz="1600">
                <a:cs typeface="Arial"/>
              </a:rPr>
              <a:t> </a:t>
            </a:r>
            <a:r>
              <a:rPr lang="vi-VN" sz="1600" spc="-240">
                <a:cs typeface="Arial"/>
              </a:rPr>
              <a:t> </a:t>
            </a:r>
            <a:r>
              <a:rPr lang="vi-VN" sz="1600" spc="-20">
                <a:cs typeface="Arial"/>
              </a:rPr>
              <a:t>ph</a:t>
            </a:r>
            <a:r>
              <a:rPr lang="vi-VN" sz="1600" spc="10">
                <a:cs typeface="Arial"/>
              </a:rPr>
              <a:t>ư</a:t>
            </a:r>
            <a:r>
              <a:rPr lang="vi-VN" sz="1600" spc="-25">
                <a:cs typeface="Arial"/>
              </a:rPr>
              <a:t>ơ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254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h</a:t>
            </a:r>
            <a:r>
              <a:rPr lang="vi-VN" sz="1600" spc="-15">
                <a:cs typeface="Arial"/>
              </a:rPr>
              <a:t>ức</a:t>
            </a:r>
            <a:r>
              <a:rPr lang="vi-VN" sz="1600" spc="-10">
                <a:cs typeface="Arial"/>
              </a:rPr>
              <a:t> </a:t>
            </a:r>
            <a:r>
              <a:rPr lang="vi-VN" sz="1600" spc="-20">
                <a:cs typeface="Arial"/>
              </a:rPr>
              <a:t>n</a:t>
            </a:r>
            <a:r>
              <a:rPr lang="vi-VN" sz="1600">
                <a:cs typeface="Arial"/>
              </a:rPr>
              <a:t>à</a:t>
            </a:r>
            <a:r>
              <a:rPr lang="vi-VN" sz="1600" spc="-15">
                <a:cs typeface="Arial"/>
              </a:rPr>
              <a:t>y</a:t>
            </a:r>
            <a:r>
              <a:rPr lang="vi-VN" sz="1600" spc="30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ợ</a:t>
            </a:r>
            <a:r>
              <a:rPr lang="vi-VN" sz="1600" spc="-15">
                <a:cs typeface="Arial"/>
              </a:rPr>
              <a:t>c</a:t>
            </a:r>
            <a:r>
              <a:rPr lang="vi-VN" sz="1600" spc="55">
                <a:cs typeface="Arial"/>
              </a:rPr>
              <a:t> </a:t>
            </a:r>
            <a:r>
              <a:rPr lang="vi-VN" sz="1600" spc="-15">
                <a:cs typeface="Arial"/>
              </a:rPr>
              <a:t>v</a:t>
            </a:r>
            <a:r>
              <a:rPr lang="vi-VN" sz="1600">
                <a:cs typeface="Arial"/>
              </a:rPr>
              <a:t>i</a:t>
            </a:r>
            <a:r>
              <a:rPr lang="vi-VN" sz="1600" spc="-20">
                <a:cs typeface="Arial"/>
              </a:rPr>
              <a:t>ế</a:t>
            </a:r>
            <a:r>
              <a:rPr lang="vi-VN" sz="1600" spc="-10">
                <a:cs typeface="Arial"/>
              </a:rPr>
              <a:t>t</a:t>
            </a:r>
            <a:r>
              <a:rPr lang="vi-VN" sz="1600" spc="65">
                <a:cs typeface="Arial"/>
              </a:rPr>
              <a:t> </a:t>
            </a:r>
            <a:r>
              <a:rPr lang="vi-VN" sz="1600" spc="-20">
                <a:cs typeface="Arial"/>
              </a:rPr>
              <a:t>bằn</a:t>
            </a:r>
            <a:r>
              <a:rPr lang="vi-VN" sz="1600" spc="-15">
                <a:cs typeface="Arial"/>
              </a:rPr>
              <a:t>g</a:t>
            </a:r>
            <a:r>
              <a:rPr lang="vi-VN" sz="1600" spc="50">
                <a:cs typeface="Arial"/>
              </a:rPr>
              <a:t> </a:t>
            </a:r>
            <a:r>
              <a:rPr lang="vi-VN" sz="1600" spc="-20">
                <a:cs typeface="Arial"/>
              </a:rPr>
              <a:t>mộ</a:t>
            </a:r>
            <a:r>
              <a:rPr lang="vi-VN" sz="1600" spc="-10">
                <a:cs typeface="Arial"/>
              </a:rPr>
              <a:t>t</a:t>
            </a:r>
            <a:r>
              <a:rPr lang="vi-VN" sz="1600" spc="65">
                <a:cs typeface="Arial"/>
              </a:rPr>
              <a:t> </a:t>
            </a:r>
            <a:r>
              <a:rPr lang="vi-VN" sz="1600" spc="-20">
                <a:cs typeface="Arial"/>
              </a:rPr>
              <a:t>ngô</a:t>
            </a:r>
            <a:r>
              <a:rPr lang="vi-VN" sz="1600" spc="-15">
                <a:cs typeface="Arial"/>
              </a:rPr>
              <a:t>n</a:t>
            </a:r>
            <a:r>
              <a:rPr lang="vi-VN" sz="1600" spc="50">
                <a:cs typeface="Arial"/>
              </a:rPr>
              <a:t> </a:t>
            </a:r>
            <a:r>
              <a:rPr lang="vi-VN" sz="1600" spc="-20">
                <a:cs typeface="Arial"/>
              </a:rPr>
              <a:t>ngữ</a:t>
            </a:r>
            <a:r>
              <a:rPr lang="vi-VN" sz="1600" spc="60">
                <a:cs typeface="Arial"/>
              </a:rPr>
              <a:t> </a:t>
            </a:r>
            <a:r>
              <a:rPr lang="vi-VN" sz="1600" spc="-20">
                <a:cs typeface="Arial"/>
              </a:rPr>
              <a:t>l</a:t>
            </a:r>
            <a:r>
              <a:rPr lang="vi-VN" sz="1600">
                <a:cs typeface="Arial"/>
              </a:rPr>
              <a:t>ậ</a:t>
            </a:r>
            <a:r>
              <a:rPr lang="vi-VN" sz="1600" spc="-15">
                <a:cs typeface="Arial"/>
              </a:rPr>
              <a:t>p</a:t>
            </a:r>
            <a:r>
              <a:rPr lang="vi-VN" sz="1600" spc="50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5">
                <a:cs typeface="Arial"/>
              </a:rPr>
              <a:t>r</a:t>
            </a:r>
            <a:r>
              <a:rPr lang="vi-VN" sz="1600" spc="-25">
                <a:cs typeface="Arial"/>
              </a:rPr>
              <a:t>ì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h</a:t>
            </a:r>
            <a:r>
              <a:rPr lang="vi-VN" sz="1600" spc="50">
                <a:cs typeface="Arial"/>
              </a:rPr>
              <a:t> </a:t>
            </a:r>
            <a:r>
              <a:rPr lang="vi-VN" sz="1600" spc="-20">
                <a:cs typeface="Arial"/>
              </a:rPr>
              <a:t>n</a:t>
            </a:r>
            <a:r>
              <a:rPr lang="vi-VN" sz="1600">
                <a:cs typeface="Arial"/>
              </a:rPr>
              <a:t>à</a:t>
            </a:r>
            <a:r>
              <a:rPr lang="vi-VN" sz="1600" spc="-15">
                <a:cs typeface="Arial"/>
              </a:rPr>
              <a:t>o</a:t>
            </a:r>
            <a:r>
              <a:rPr lang="vi-VN" sz="1600" spc="50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 spc="-15">
                <a:cs typeface="Arial"/>
              </a:rPr>
              <a:t>ó</a:t>
            </a:r>
            <a:r>
              <a:rPr lang="vi-VN" sz="1600" spc="50">
                <a:cs typeface="Arial"/>
              </a:rPr>
              <a:t> </a:t>
            </a:r>
            <a:r>
              <a:rPr lang="vi-VN" sz="1600" spc="-15">
                <a:cs typeface="Arial"/>
              </a:rPr>
              <a:t>k</a:t>
            </a:r>
            <a:r>
              <a:rPr lang="vi-VN" sz="1600" spc="-20">
                <a:cs typeface="Arial"/>
              </a:rPr>
              <a:t>hô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 spc="-10">
                <a:cs typeface="Arial"/>
              </a:rPr>
              <a:t> </a:t>
            </a:r>
            <a:r>
              <a:rPr lang="vi-VN" sz="1600" spc="-20">
                <a:cs typeface="Arial"/>
              </a:rPr>
              <a:t>phả</a:t>
            </a:r>
            <a:r>
              <a:rPr lang="vi-VN" sz="1600" spc="-10">
                <a:cs typeface="Arial"/>
              </a:rPr>
              <a:t>i</a:t>
            </a:r>
            <a:r>
              <a:rPr lang="vi-VN" sz="1600" spc="20">
                <a:cs typeface="Arial"/>
              </a:rPr>
              <a:t> </a:t>
            </a:r>
            <a:r>
              <a:rPr lang="vi-VN" sz="1600" spc="-20">
                <a:cs typeface="Arial"/>
              </a:rPr>
              <a:t>l</a:t>
            </a:r>
            <a:r>
              <a:rPr lang="vi-VN" sz="1600" spc="-15">
                <a:cs typeface="Arial"/>
              </a:rPr>
              <a:t>à</a:t>
            </a:r>
            <a:r>
              <a:rPr lang="vi-VN" sz="1600">
                <a:cs typeface="Arial"/>
              </a:rPr>
              <a:t> </a:t>
            </a:r>
            <a:r>
              <a:rPr lang="vi-VN" sz="1600" spc="-20">
                <a:cs typeface="Arial"/>
              </a:rPr>
              <a:t>ja</a:t>
            </a:r>
            <a:r>
              <a:rPr lang="vi-VN" sz="1600" spc="-15">
                <a:cs typeface="Arial"/>
              </a:rPr>
              <a:t>va</a:t>
            </a:r>
            <a:r>
              <a:rPr lang="vi-VN" sz="1600" spc="50">
                <a:cs typeface="Arial"/>
              </a:rPr>
              <a:t> </a:t>
            </a:r>
            <a:r>
              <a:rPr lang="vi-VN" sz="1600" spc="-10">
                <a:cs typeface="Arial"/>
              </a:rPr>
              <a:t>( 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h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ờ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 spc="25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ợ</a:t>
            </a:r>
            <a:r>
              <a:rPr lang="vi-VN" sz="1600" spc="-15">
                <a:cs typeface="Arial"/>
              </a:rPr>
              <a:t>c</a:t>
            </a:r>
            <a:r>
              <a:rPr lang="vi-VN" sz="1600" spc="5">
                <a:cs typeface="Arial"/>
              </a:rPr>
              <a:t> </a:t>
            </a:r>
            <a:r>
              <a:rPr lang="vi-VN" sz="1600" spc="-15">
                <a:cs typeface="Arial"/>
              </a:rPr>
              <a:t>v</a:t>
            </a:r>
            <a:r>
              <a:rPr lang="vi-VN" sz="1600" spc="-20">
                <a:cs typeface="Arial"/>
              </a:rPr>
              <a:t>iế</a:t>
            </a:r>
            <a:r>
              <a:rPr lang="vi-VN" sz="1600" spc="-10">
                <a:cs typeface="Arial"/>
              </a:rPr>
              <a:t>t</a:t>
            </a:r>
            <a:r>
              <a:rPr lang="vi-VN" sz="1600" spc="40">
                <a:cs typeface="Arial"/>
              </a:rPr>
              <a:t> </a:t>
            </a:r>
            <a:r>
              <a:rPr lang="vi-VN" sz="1600" spc="-20">
                <a:cs typeface="Arial"/>
              </a:rPr>
              <a:t>bằn</a:t>
            </a:r>
            <a:r>
              <a:rPr lang="vi-VN" sz="1600" spc="-15">
                <a:cs typeface="Arial"/>
              </a:rPr>
              <a:t>g</a:t>
            </a:r>
            <a:r>
              <a:rPr lang="vi-VN" sz="1600" spc="25">
                <a:cs typeface="Arial"/>
              </a:rPr>
              <a:t> </a:t>
            </a:r>
            <a:r>
              <a:rPr lang="vi-VN" sz="1600" spc="-30">
                <a:cs typeface="Arial"/>
              </a:rPr>
              <a:t>C</a:t>
            </a:r>
            <a:r>
              <a:rPr lang="vi-VN" sz="1600">
                <a:cs typeface="Arial"/>
              </a:rPr>
              <a:t>/</a:t>
            </a:r>
            <a:r>
              <a:rPr lang="vi-VN" sz="1600" spc="-30">
                <a:cs typeface="Arial"/>
              </a:rPr>
              <a:t>C++</a:t>
            </a:r>
            <a:r>
              <a:rPr lang="vi-VN" sz="1600" spc="-10">
                <a:cs typeface="Arial"/>
              </a:rPr>
              <a:t>)</a:t>
            </a:r>
            <a:endParaRPr lang="vi-VN" sz="1600">
              <a:cs typeface="Arial"/>
            </a:endParaRPr>
          </a:p>
          <a:p>
            <a:pPr marL="390525" marR="5715" indent="-377825" algn="just">
              <a:lnSpc>
                <a:spcPct val="120000"/>
              </a:lnSpc>
              <a:spcBef>
                <a:spcPts val="625"/>
              </a:spcBef>
              <a:buClr>
                <a:srgbClr val="0000FF"/>
              </a:buClr>
              <a:buFont typeface="Wingdings"/>
              <a:buChar char=""/>
              <a:tabLst>
                <a:tab pos="391160" algn="l"/>
              </a:tabLst>
            </a:pPr>
            <a:r>
              <a:rPr lang="vi-VN" sz="1600">
                <a:solidFill>
                  <a:srgbClr val="0000FF"/>
                </a:solidFill>
                <a:cs typeface="Arial"/>
              </a:rPr>
              <a:t>s</a:t>
            </a:r>
            <a:r>
              <a:rPr lang="vi-VN" sz="1600" spc="-40">
                <a:solidFill>
                  <a:srgbClr val="0000FF"/>
                </a:solidFill>
                <a:cs typeface="Arial"/>
              </a:rPr>
              <a:t>y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n</a:t>
            </a:r>
            <a:r>
              <a:rPr lang="vi-VN" sz="1600" spc="-15">
                <a:solidFill>
                  <a:srgbClr val="0000FF"/>
                </a:solidFill>
                <a:cs typeface="Arial"/>
              </a:rPr>
              <a:t>c</a:t>
            </a:r>
            <a:r>
              <a:rPr lang="vi-VN" sz="1600">
                <a:solidFill>
                  <a:srgbClr val="0000FF"/>
                </a:solidFill>
                <a:cs typeface="Arial"/>
              </a:rPr>
              <a:t>h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o</a:t>
            </a:r>
            <a:r>
              <a:rPr lang="vi-VN" sz="1600" spc="-5">
                <a:solidFill>
                  <a:srgbClr val="0000FF"/>
                </a:solidFill>
                <a:cs typeface="Arial"/>
              </a:rPr>
              <a:t>r</a:t>
            </a:r>
            <a:r>
              <a:rPr lang="vi-VN" sz="1600">
                <a:solidFill>
                  <a:srgbClr val="0000FF"/>
                </a:solidFill>
                <a:cs typeface="Arial"/>
              </a:rPr>
              <a:t>o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n</a:t>
            </a:r>
            <a:r>
              <a:rPr lang="vi-VN" sz="1600">
                <a:solidFill>
                  <a:srgbClr val="0000FF"/>
                </a:solidFill>
                <a:cs typeface="Arial"/>
              </a:rPr>
              <a:t>i</a:t>
            </a:r>
            <a:r>
              <a:rPr lang="vi-VN" sz="1600" spc="-15">
                <a:solidFill>
                  <a:srgbClr val="0000FF"/>
                </a:solidFill>
                <a:cs typeface="Arial"/>
              </a:rPr>
              <a:t>z</a:t>
            </a:r>
            <a:r>
              <a:rPr lang="vi-VN" sz="1600">
                <a:solidFill>
                  <a:srgbClr val="0000FF"/>
                </a:solidFill>
                <a:cs typeface="Arial"/>
              </a:rPr>
              <a:t>e</a:t>
            </a:r>
            <a:r>
              <a:rPr lang="vi-VN" sz="1600" spc="-20">
                <a:solidFill>
                  <a:srgbClr val="0000FF"/>
                </a:solidFill>
                <a:cs typeface="Arial"/>
              </a:rPr>
              <a:t>d</a:t>
            </a:r>
            <a:r>
              <a:rPr lang="vi-VN" sz="1600" spc="-10">
                <a:solidFill>
                  <a:srgbClr val="0000FF"/>
                </a:solidFill>
                <a:cs typeface="Arial"/>
              </a:rPr>
              <a:t>:</a:t>
            </a:r>
            <a:r>
              <a:rPr lang="vi-VN" sz="1600">
                <a:solidFill>
                  <a:srgbClr val="0000FF"/>
                </a:solidFill>
                <a:cs typeface="Arial"/>
              </a:rPr>
              <a:t> </a:t>
            </a:r>
            <a:r>
              <a:rPr lang="vi-VN" sz="1600" spc="-315">
                <a:solidFill>
                  <a:srgbClr val="0000FF"/>
                </a:solidFill>
                <a:cs typeface="Arial"/>
              </a:rPr>
              <a:t> </a:t>
            </a:r>
            <a:r>
              <a:rPr lang="vi-VN" sz="1600" spc="-30">
                <a:cs typeface="Arial"/>
              </a:rPr>
              <a:t>D</a:t>
            </a:r>
            <a:r>
              <a:rPr lang="vi-VN" sz="1600" spc="-20">
                <a:cs typeface="Arial"/>
              </a:rPr>
              <a:t>ù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330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 spc="-15">
                <a:cs typeface="Arial"/>
              </a:rPr>
              <a:t>ể</a:t>
            </a:r>
            <a:r>
              <a:rPr lang="vi-VN" sz="1600">
                <a:cs typeface="Arial"/>
              </a:rPr>
              <a:t> </a:t>
            </a:r>
            <a:r>
              <a:rPr lang="vi-VN" sz="1600" spc="-330">
                <a:cs typeface="Arial"/>
              </a:rPr>
              <a:t> </a:t>
            </a:r>
            <a:r>
              <a:rPr lang="vi-VN" sz="1600" spc="-20">
                <a:cs typeface="Arial"/>
              </a:rPr>
              <a:t>ng</a:t>
            </a:r>
            <a:r>
              <a:rPr lang="vi-VN" sz="1600">
                <a:cs typeface="Arial"/>
              </a:rPr>
              <a:t>ă</a:t>
            </a:r>
            <a:r>
              <a:rPr lang="vi-VN" sz="1600" spc="-15">
                <a:cs typeface="Arial"/>
              </a:rPr>
              <a:t>n</a:t>
            </a:r>
            <a:r>
              <a:rPr lang="vi-VN" sz="1600">
                <a:cs typeface="Arial"/>
              </a:rPr>
              <a:t> </a:t>
            </a:r>
            <a:r>
              <a:rPr lang="vi-VN" sz="1600" spc="-330">
                <a:cs typeface="Arial"/>
              </a:rPr>
              <a:t> </a:t>
            </a:r>
            <a:r>
              <a:rPr lang="vi-VN" sz="1600" spc="-20">
                <a:cs typeface="Arial"/>
              </a:rPr>
              <a:t>nh</a:t>
            </a:r>
            <a:r>
              <a:rPr lang="vi-VN" sz="1600" spc="-15">
                <a:cs typeface="Arial"/>
              </a:rPr>
              <a:t>ữ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330">
                <a:cs typeface="Arial"/>
              </a:rPr>
              <a:t> </a:t>
            </a:r>
            <a:r>
              <a:rPr lang="vi-VN" sz="1600" spc="-25">
                <a:cs typeface="Arial"/>
              </a:rPr>
              <a:t>t</a:t>
            </a:r>
            <a:r>
              <a:rPr lang="vi-VN" sz="1600" spc="-20">
                <a:cs typeface="Arial"/>
              </a:rPr>
              <a:t>á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 </a:t>
            </a:r>
            <a:r>
              <a:rPr lang="vi-VN" sz="1600" spc="-325">
                <a:cs typeface="Arial"/>
              </a:rPr>
              <a:t> </a:t>
            </a:r>
            <a:r>
              <a:rPr lang="vi-VN" sz="1600" spc="-20">
                <a:cs typeface="Arial"/>
              </a:rPr>
              <a:t>độ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330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 spc="-20">
                <a:cs typeface="Arial"/>
              </a:rPr>
              <a:t>ủ</a:t>
            </a:r>
            <a:r>
              <a:rPr lang="vi-VN" sz="1600" spc="-15">
                <a:cs typeface="Arial"/>
              </a:rPr>
              <a:t>a</a:t>
            </a:r>
            <a:r>
              <a:rPr lang="vi-VN" sz="1600">
                <a:cs typeface="Arial"/>
              </a:rPr>
              <a:t> </a:t>
            </a:r>
            <a:r>
              <a:rPr lang="vi-VN" sz="1600" spc="-330">
                <a:cs typeface="Arial"/>
              </a:rPr>
              <a:t> </a:t>
            </a:r>
            <a:r>
              <a:rPr lang="vi-VN" sz="1600" spc="-15">
                <a:cs typeface="Arial"/>
              </a:rPr>
              <a:t>c</a:t>
            </a:r>
            <a:r>
              <a:rPr lang="vi-VN" sz="1600" spc="-20">
                <a:cs typeface="Arial"/>
              </a:rPr>
              <a:t>á</a:t>
            </a:r>
            <a:r>
              <a:rPr lang="vi-VN" sz="1600" spc="-15">
                <a:cs typeface="Arial"/>
              </a:rPr>
              <a:t>c</a:t>
            </a:r>
            <a:r>
              <a:rPr lang="vi-VN" sz="1600" spc="-10">
                <a:cs typeface="Arial"/>
              </a:rPr>
              <a:t> </a:t>
            </a:r>
            <a:r>
              <a:rPr lang="vi-VN" sz="1600" spc="-20">
                <a:cs typeface="Arial"/>
              </a:rPr>
              <a:t>đ</a:t>
            </a:r>
            <a:r>
              <a:rPr lang="vi-VN" sz="1600">
                <a:cs typeface="Arial"/>
              </a:rPr>
              <a:t>ố</a:t>
            </a:r>
            <a:r>
              <a:rPr lang="vi-VN" sz="1600" spc="-10">
                <a:cs typeface="Arial"/>
              </a:rPr>
              <a:t>i</a:t>
            </a:r>
            <a:r>
              <a:rPr lang="vi-VN" sz="1600">
                <a:cs typeface="Arial"/>
              </a:rPr>
              <a:t> </a:t>
            </a:r>
            <a:r>
              <a:rPr lang="vi-VN" sz="1600" spc="-260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15">
                <a:cs typeface="Arial"/>
              </a:rPr>
              <a:t>ư</a:t>
            </a:r>
            <a:r>
              <a:rPr lang="vi-VN" sz="1600" spc="-25">
                <a:cs typeface="Arial"/>
              </a:rPr>
              <a:t>ợ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254">
                <a:cs typeface="Arial"/>
              </a:rPr>
              <a:t> </a:t>
            </a:r>
            <a:r>
              <a:rPr lang="vi-VN" sz="1600">
                <a:cs typeface="Arial"/>
              </a:rPr>
              <a:t>k</a:t>
            </a:r>
            <a:r>
              <a:rPr lang="vi-VN" sz="1600" spc="-20">
                <a:cs typeface="Arial"/>
              </a:rPr>
              <a:t>há</a:t>
            </a:r>
            <a:r>
              <a:rPr lang="vi-VN" sz="1600" spc="-15">
                <a:cs typeface="Arial"/>
              </a:rPr>
              <a:t>c</a:t>
            </a:r>
            <a:r>
              <a:rPr lang="vi-VN" sz="1600">
                <a:cs typeface="Arial"/>
              </a:rPr>
              <a:t> </a:t>
            </a:r>
            <a:r>
              <a:rPr lang="vi-VN" sz="1600" spc="-229">
                <a:cs typeface="Arial"/>
              </a:rPr>
              <a:t> </a:t>
            </a:r>
            <a:r>
              <a:rPr lang="vi-VN" sz="1600" spc="-20">
                <a:cs typeface="Arial"/>
              </a:rPr>
              <a:t>l</a:t>
            </a:r>
            <a:r>
              <a:rPr lang="vi-VN" sz="1600">
                <a:cs typeface="Arial"/>
              </a:rPr>
              <a:t>ê</a:t>
            </a:r>
            <a:r>
              <a:rPr lang="vi-VN" sz="1600" spc="-15">
                <a:cs typeface="Arial"/>
              </a:rPr>
              <a:t>n</a:t>
            </a:r>
            <a:r>
              <a:rPr lang="vi-VN" sz="1600">
                <a:cs typeface="Arial"/>
              </a:rPr>
              <a:t> </a:t>
            </a:r>
            <a:r>
              <a:rPr lang="vi-VN" sz="1600" spc="-229">
                <a:cs typeface="Arial"/>
              </a:rPr>
              <a:t> </a:t>
            </a:r>
            <a:r>
              <a:rPr lang="vi-VN" sz="1600" spc="-20">
                <a:cs typeface="Arial"/>
              </a:rPr>
              <a:t>đố</a:t>
            </a:r>
            <a:r>
              <a:rPr lang="vi-VN" sz="1600" spc="-10">
                <a:cs typeface="Arial"/>
              </a:rPr>
              <a:t>i</a:t>
            </a:r>
            <a:r>
              <a:rPr lang="vi-VN" sz="1600">
                <a:cs typeface="Arial"/>
              </a:rPr>
              <a:t> </a:t>
            </a:r>
            <a:r>
              <a:rPr lang="vi-VN" sz="1600" spc="-260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15">
                <a:cs typeface="Arial"/>
              </a:rPr>
              <a:t>ư</a:t>
            </a:r>
            <a:r>
              <a:rPr lang="vi-VN" sz="1600">
                <a:cs typeface="Arial"/>
              </a:rPr>
              <a:t>ợ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254">
                <a:cs typeface="Arial"/>
              </a:rPr>
              <a:t> </a:t>
            </a:r>
            <a:r>
              <a:rPr lang="vi-VN" sz="1600">
                <a:cs typeface="Arial"/>
              </a:rPr>
              <a:t>đ</a:t>
            </a:r>
            <a:r>
              <a:rPr lang="vi-VN" sz="1600" spc="-20">
                <a:cs typeface="Arial"/>
              </a:rPr>
              <a:t>a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229">
                <a:cs typeface="Arial"/>
              </a:rPr>
              <a:t> </a:t>
            </a:r>
            <a:r>
              <a:rPr lang="vi-VN" sz="1600" spc="-40">
                <a:cs typeface="Arial"/>
              </a:rPr>
              <a:t>x</a:t>
            </a:r>
            <a:r>
              <a:rPr lang="vi-VN" sz="1600">
                <a:cs typeface="Arial"/>
              </a:rPr>
              <a:t>é</a:t>
            </a:r>
            <a:r>
              <a:rPr lang="vi-VN" sz="1600" spc="-10">
                <a:cs typeface="Arial"/>
              </a:rPr>
              <a:t>t</a:t>
            </a:r>
            <a:r>
              <a:rPr lang="vi-VN" sz="1600">
                <a:cs typeface="Arial"/>
              </a:rPr>
              <a:t> </a:t>
            </a:r>
            <a:r>
              <a:rPr lang="vi-VN" sz="1600" spc="-240">
                <a:cs typeface="Arial"/>
              </a:rPr>
              <a:t> </a:t>
            </a:r>
            <a:r>
              <a:rPr lang="vi-VN" sz="1600" spc="-25">
                <a:cs typeface="Arial"/>
              </a:rPr>
              <a:t>t</a:t>
            </a:r>
            <a:r>
              <a:rPr lang="vi-VN" sz="1600" spc="-5">
                <a:cs typeface="Arial"/>
              </a:rPr>
              <a:t>r</a:t>
            </a:r>
            <a:r>
              <a:rPr lang="vi-VN" sz="1600" spc="-20">
                <a:cs typeface="Arial"/>
              </a:rPr>
              <a:t>on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254">
                <a:cs typeface="Arial"/>
              </a:rPr>
              <a:t> </a:t>
            </a:r>
            <a:r>
              <a:rPr lang="vi-VN" sz="1600" spc="-15">
                <a:cs typeface="Arial"/>
              </a:rPr>
              <a:t>k</a:t>
            </a:r>
            <a:r>
              <a:rPr lang="vi-VN" sz="1600">
                <a:cs typeface="Arial"/>
              </a:rPr>
              <a:t>h</a:t>
            </a:r>
            <a:r>
              <a:rPr lang="vi-VN" sz="1600" spc="-10">
                <a:cs typeface="Arial"/>
              </a:rPr>
              <a:t>i</a:t>
            </a:r>
            <a:r>
              <a:rPr lang="vi-VN" sz="1600">
                <a:cs typeface="Arial"/>
              </a:rPr>
              <a:t> </a:t>
            </a:r>
            <a:r>
              <a:rPr lang="vi-VN" sz="1600" spc="-260">
                <a:cs typeface="Arial"/>
              </a:rPr>
              <a:t> </a:t>
            </a:r>
            <a:r>
              <a:rPr lang="vi-VN" sz="1600">
                <a:cs typeface="Arial"/>
              </a:rPr>
              <a:t>đ</a:t>
            </a:r>
            <a:r>
              <a:rPr lang="vi-VN" sz="1600" spc="-20">
                <a:cs typeface="Arial"/>
              </a:rPr>
              <a:t>a</a:t>
            </a:r>
            <a:r>
              <a:rPr lang="vi-VN" sz="1600">
                <a:cs typeface="Arial"/>
              </a:rPr>
              <a:t>n</a:t>
            </a:r>
            <a:r>
              <a:rPr lang="vi-VN" sz="1600" spc="-15">
                <a:cs typeface="Arial"/>
              </a:rPr>
              <a:t>g</a:t>
            </a:r>
            <a:r>
              <a:rPr lang="vi-VN" sz="1600" spc="-10">
                <a:cs typeface="Arial"/>
              </a:rPr>
              <a:t> </a:t>
            </a:r>
            <a:r>
              <a:rPr lang="vi-VN" sz="1600" spc="-20">
                <a:cs typeface="Arial"/>
              </a:rPr>
              <a:t>đồn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20">
                <a:cs typeface="Arial"/>
              </a:rPr>
              <a:t>b</a:t>
            </a:r>
            <a:r>
              <a:rPr lang="vi-VN" sz="1600" spc="-15">
                <a:cs typeface="Arial"/>
              </a:rPr>
              <a:t>ộ</a:t>
            </a:r>
            <a:r>
              <a:rPr lang="vi-VN" sz="1600" spc="25">
                <a:cs typeface="Arial"/>
              </a:rPr>
              <a:t> </a:t>
            </a:r>
            <a:r>
              <a:rPr lang="vi-VN" sz="1600" spc="-20">
                <a:cs typeface="Arial"/>
              </a:rPr>
              <a:t>hóa</a:t>
            </a:r>
            <a:r>
              <a:rPr lang="vi-VN" sz="1600" spc="-10">
                <a:cs typeface="Arial"/>
              </a:rPr>
              <a:t>.</a:t>
            </a:r>
            <a:r>
              <a:rPr lang="vi-VN" sz="1600" spc="15">
                <a:cs typeface="Arial"/>
              </a:rPr>
              <a:t> </a:t>
            </a:r>
            <a:r>
              <a:rPr lang="vi-VN" sz="1600" spc="-30">
                <a:cs typeface="Arial"/>
              </a:rPr>
              <a:t>D</a:t>
            </a:r>
            <a:r>
              <a:rPr lang="vi-VN" sz="1600" spc="-20">
                <a:cs typeface="Arial"/>
              </a:rPr>
              <a:t>ùn</a:t>
            </a:r>
            <a:r>
              <a:rPr lang="vi-VN" sz="1600" spc="-15">
                <a:cs typeface="Arial"/>
              </a:rPr>
              <a:t>g</a:t>
            </a:r>
            <a:r>
              <a:rPr lang="vi-VN" sz="1600" spc="50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5">
                <a:cs typeface="Arial"/>
              </a:rPr>
              <a:t>r</a:t>
            </a:r>
            <a:r>
              <a:rPr lang="vi-VN" sz="1600" spc="-20">
                <a:cs typeface="Arial"/>
              </a:rPr>
              <a:t>on</a:t>
            </a:r>
            <a:r>
              <a:rPr lang="vi-VN" sz="1600" spc="-15">
                <a:cs typeface="Arial"/>
              </a:rPr>
              <a:t>g</a:t>
            </a:r>
            <a:r>
              <a:rPr lang="vi-VN" sz="1600">
                <a:cs typeface="Arial"/>
              </a:rPr>
              <a:t> </a:t>
            </a:r>
            <a:r>
              <a:rPr lang="vi-VN" sz="1600" spc="-20">
                <a:cs typeface="Arial"/>
              </a:rPr>
              <a:t>lậ</a:t>
            </a:r>
            <a:r>
              <a:rPr lang="vi-VN" sz="1600" spc="-15">
                <a:cs typeface="Arial"/>
              </a:rPr>
              <a:t>p</a:t>
            </a:r>
            <a:r>
              <a:rPr lang="vi-VN" sz="1600" spc="25">
                <a:cs typeface="Arial"/>
              </a:rPr>
              <a:t> </a:t>
            </a:r>
            <a:r>
              <a:rPr lang="vi-VN" sz="1600">
                <a:cs typeface="Arial"/>
              </a:rPr>
              <a:t>t</a:t>
            </a:r>
            <a:r>
              <a:rPr lang="vi-VN" sz="1600" spc="-5">
                <a:cs typeface="Arial"/>
              </a:rPr>
              <a:t>r</a:t>
            </a:r>
            <a:r>
              <a:rPr lang="vi-VN" sz="1600">
                <a:cs typeface="Arial"/>
              </a:rPr>
              <a:t>ì</a:t>
            </a:r>
            <a:r>
              <a:rPr lang="vi-VN" sz="1600" spc="-20">
                <a:cs typeface="Arial"/>
              </a:rPr>
              <a:t>n</a:t>
            </a:r>
            <a:r>
              <a:rPr lang="vi-VN" sz="1600" spc="-15">
                <a:cs typeface="Arial"/>
              </a:rPr>
              <a:t>h</a:t>
            </a:r>
            <a:r>
              <a:rPr lang="vi-VN" sz="1600" spc="-25">
                <a:cs typeface="Arial"/>
              </a:rPr>
              <a:t> </a:t>
            </a:r>
            <a:r>
              <a:rPr lang="vi-VN" sz="1600" spc="-20">
                <a:cs typeface="Arial"/>
              </a:rPr>
              <a:t>mul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i</a:t>
            </a:r>
            <a:r>
              <a:rPr lang="vi-VN" sz="1600">
                <a:cs typeface="Arial"/>
              </a:rPr>
              <a:t>t</a:t>
            </a:r>
            <a:r>
              <a:rPr lang="vi-VN" sz="1600" spc="-20">
                <a:cs typeface="Arial"/>
              </a:rPr>
              <a:t>h</a:t>
            </a:r>
            <a:r>
              <a:rPr lang="vi-VN" sz="1600" spc="-5">
                <a:cs typeface="Arial"/>
              </a:rPr>
              <a:t>r</a:t>
            </a:r>
            <a:r>
              <a:rPr lang="vi-VN" sz="1600" spc="-20">
                <a:cs typeface="Arial"/>
              </a:rPr>
              <a:t>ead</a:t>
            </a:r>
            <a:r>
              <a:rPr lang="vi-VN" sz="1600" spc="-15">
                <a:cs typeface="Arial"/>
              </a:rPr>
              <a:t>s.</a:t>
            </a:r>
            <a:endParaRPr lang="vi-VN" sz="1600">
              <a:cs typeface="Arial"/>
            </a:endParaRPr>
          </a:p>
          <a:p>
            <a:pPr marL="390525" marR="7620" indent="-377825">
              <a:lnSpc>
                <a:spcPct val="120000"/>
              </a:lnSpc>
              <a:spcBef>
                <a:spcPts val="625"/>
              </a:spcBef>
              <a:buClr>
                <a:srgbClr val="0000FF"/>
              </a:buClr>
              <a:buFont typeface="Wingdings"/>
              <a:buChar char=""/>
              <a:tabLst>
                <a:tab pos="391160" algn="l"/>
                <a:tab pos="1828800" algn="l"/>
                <a:tab pos="2947670" algn="l"/>
                <a:tab pos="3450590" algn="l"/>
                <a:tab pos="4346575" algn="l"/>
                <a:tab pos="5504815" algn="l"/>
                <a:tab pos="6473825" algn="l"/>
                <a:tab pos="6976745" algn="l"/>
                <a:tab pos="7924800" algn="l"/>
                <a:tab pos="8503920" algn="l"/>
              </a:tabLst>
            </a:pPr>
            <a:endParaRPr lang="vi-VN" sz="1600">
              <a:cs typeface="Arial"/>
            </a:endParaRPr>
          </a:p>
          <a:p>
            <a:endParaRPr lang="en-GB" sz="16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2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Phương thức khởi dựng (contructor)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Là một phương thức đặc biệt của class , dùng để khởi dựng một đối tượng (tạo mới</a:t>
            </a:r>
            <a:r>
              <a:rPr lang="en-US"/>
              <a:t>-object type</a:t>
            </a:r>
            <a:r>
              <a:rPr lang="vi-VN"/>
              <a:t>)</a:t>
            </a:r>
          </a:p>
          <a:p>
            <a:r>
              <a:rPr lang="vi-VN"/>
              <a:t>Cung cấp các giá trị cho các </a:t>
            </a:r>
            <a:r>
              <a:rPr lang="vi-VN" b="1">
                <a:solidFill>
                  <a:srgbClr val="FF0000"/>
                </a:solidFill>
              </a:rPr>
              <a:t>thuộc tính </a:t>
            </a:r>
            <a:r>
              <a:rPr lang="vi-VN"/>
              <a:t>của đối tượng</a:t>
            </a:r>
          </a:p>
          <a:p>
            <a:r>
              <a:rPr lang="vi-VN"/>
              <a:t>Cùng tên với tên class</a:t>
            </a:r>
          </a:p>
          <a:p>
            <a:r>
              <a:rPr lang="vi-VN"/>
              <a:t>Không có giá trị trả về</a:t>
            </a:r>
          </a:p>
          <a:p>
            <a:r>
              <a:rPr lang="vi-VN"/>
              <a:t>Có thể có hoặc không tham số</a:t>
            </a:r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2228" y="3376889"/>
            <a:ext cx="3483429" cy="230832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1800" b="1">
                <a:latin typeface="Arial" charset="0"/>
              </a:rPr>
              <a:t>class </a:t>
            </a:r>
            <a:r>
              <a:rPr lang="en-US" sz="1800" b="1">
                <a:solidFill>
                  <a:srgbClr val="FF0000"/>
                </a:solidFill>
                <a:latin typeface="Arial" charset="0"/>
              </a:rPr>
              <a:t>Student</a:t>
            </a:r>
            <a:r>
              <a:rPr lang="en-US" sz="1800" b="1">
                <a:latin typeface="Arial" charset="0"/>
              </a:rPr>
              <a:t> {</a:t>
            </a:r>
          </a:p>
          <a:p>
            <a:r>
              <a:rPr lang="en-US" sz="1800" b="1">
                <a:latin typeface="Arial" charset="0"/>
              </a:rPr>
              <a:t>//Không có định nghĩa khởi dựng nào</a:t>
            </a:r>
          </a:p>
          <a:p>
            <a:r>
              <a:rPr lang="en-US" sz="1800" b="1">
                <a:latin typeface="Arial" charset="0"/>
              </a:rPr>
              <a:t>}</a:t>
            </a:r>
          </a:p>
          <a:p>
            <a:r>
              <a:rPr lang="en-US" sz="1800" b="1">
                <a:latin typeface="Arial" charset="0"/>
              </a:rPr>
              <a:t>------</a:t>
            </a:r>
          </a:p>
          <a:p>
            <a:r>
              <a:rPr lang="en-US" sz="1800" b="1">
                <a:latin typeface="Arial" charset="0"/>
              </a:rPr>
              <a:t>Student stu1=new  Student();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947885" y="3376889"/>
            <a:ext cx="4595983" cy="244682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1800" b="1">
                <a:latin typeface="Arial" charset="0"/>
              </a:rPr>
              <a:t>class </a:t>
            </a:r>
            <a:r>
              <a:rPr lang="en-US" sz="1800" b="1">
                <a:solidFill>
                  <a:srgbClr val="FF0000"/>
                </a:solidFill>
                <a:latin typeface="Arial" charset="0"/>
              </a:rPr>
              <a:t>Student</a:t>
            </a:r>
            <a:r>
              <a:rPr lang="en-US" sz="1800" b="1">
                <a:latin typeface="Arial" charset="0"/>
              </a:rPr>
              <a:t> {</a:t>
            </a:r>
          </a:p>
          <a:p>
            <a:r>
              <a:rPr lang="en-US" sz="1800" b="1">
                <a:latin typeface="Arial" charset="0"/>
              </a:rPr>
              <a:t>//Không định nghĩa khởi dựng mặc định</a:t>
            </a:r>
          </a:p>
          <a:p>
            <a:r>
              <a:rPr lang="en-US" sz="1800" b="1">
                <a:latin typeface="Arial" charset="0"/>
              </a:rPr>
              <a:t>	Student(&lt;đối số&gt;();</a:t>
            </a:r>
          </a:p>
          <a:p>
            <a:r>
              <a:rPr lang="en-US" sz="1800" b="1">
                <a:latin typeface="Arial" charset="0"/>
              </a:rPr>
              <a:t>}</a:t>
            </a:r>
          </a:p>
          <a:p>
            <a:r>
              <a:rPr lang="en-US" sz="1800" b="1">
                <a:latin typeface="Arial" charset="0"/>
              </a:rPr>
              <a:t>------</a:t>
            </a:r>
          </a:p>
          <a:p>
            <a:r>
              <a:rPr lang="en-US" sz="1800" b="1">
                <a:latin typeface="Arial" charset="0"/>
              </a:rPr>
              <a:t>Student stu1=new  Student();</a:t>
            </a:r>
          </a:p>
        </p:txBody>
      </p:sp>
      <p:sp>
        <p:nvSpPr>
          <p:cNvPr id="7" name="Action Button: Help 6">
            <a:hlinkClick r:id="" action="ppaction://noaction" highlightClick="1"/>
          </p:cNvPr>
          <p:cNvSpPr/>
          <p:nvPr/>
        </p:nvSpPr>
        <p:spPr bwMode="auto">
          <a:xfrm>
            <a:off x="7503886" y="4368800"/>
            <a:ext cx="522514" cy="1001486"/>
          </a:xfrm>
          <a:prstGeom prst="actionButtonHelp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430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Khối vô danh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Không static</a:t>
            </a:r>
          </a:p>
          <a:p>
            <a:pPr lvl="1"/>
            <a:r>
              <a:rPr lang="vi-VN"/>
              <a:t>Là một khối không thuộc một phương thức nào</a:t>
            </a:r>
          </a:p>
          <a:p>
            <a:pPr lvl="1"/>
            <a:r>
              <a:rPr lang="vi-VN"/>
              <a:t>Được java thực thi khi đối tượng được  tạo ra (trước cả hàm khởi dựng)</a:t>
            </a:r>
          </a:p>
          <a:p>
            <a:pPr lvl="1"/>
            <a:r>
              <a:rPr lang="vi-VN"/>
              <a:t>Được đặt trong cặp { ---- }</a:t>
            </a:r>
            <a:endParaRPr lang="en-US"/>
          </a:p>
          <a:p>
            <a:r>
              <a:rPr lang="en-US"/>
              <a:t>Static</a:t>
            </a:r>
          </a:p>
          <a:p>
            <a:pPr lvl="1"/>
            <a:r>
              <a:rPr lang="vi-VN"/>
              <a:t>Là một khối không thuộc một phương thức nào</a:t>
            </a:r>
          </a:p>
          <a:p>
            <a:pPr lvl="1"/>
            <a:r>
              <a:rPr lang="vi-VN" b="1">
                <a:solidFill>
                  <a:srgbClr val="FF0000"/>
                </a:solidFill>
              </a:rPr>
              <a:t>Chỉ được gọi một lần </a:t>
            </a:r>
            <a:r>
              <a:rPr lang="vi-VN"/>
              <a:t>khi đối tượng đầu tiên của class này được tạo.</a:t>
            </a:r>
          </a:p>
          <a:p>
            <a:pPr lvl="1"/>
            <a:r>
              <a:rPr lang="vi-VN"/>
              <a:t>Trước khối lệnh đặt từ khóa  static: </a:t>
            </a:r>
            <a:r>
              <a:rPr lang="vi-VN" b="1">
                <a:solidFill>
                  <a:srgbClr val="FF0000"/>
                </a:solidFill>
              </a:rPr>
              <a:t>static</a:t>
            </a:r>
            <a:r>
              <a:rPr lang="vi-VN"/>
              <a:t> { ---- }</a:t>
            </a:r>
          </a:p>
          <a:p>
            <a:pPr lvl="1"/>
            <a:r>
              <a:rPr lang="vi-VN"/>
              <a:t>Thông thường để khởi tạo các thành phần static</a:t>
            </a:r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64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Nạp chồng phương thức (overloading)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Khai báo các phương thức trùng tên, nhưng có đối số khác nhau trong cùng một lớp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72341" y="1827203"/>
            <a:ext cx="4920344" cy="36317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2000" b="1">
                <a:latin typeface="Arial" charset="0"/>
              </a:rPr>
              <a:t>class </a:t>
            </a:r>
            <a:r>
              <a:rPr lang="en-US" sz="2000" b="1">
                <a:solidFill>
                  <a:srgbClr val="FF0000"/>
                </a:solidFill>
                <a:latin typeface="Arial" charset="0"/>
              </a:rPr>
              <a:t>Student</a:t>
            </a:r>
            <a:r>
              <a:rPr lang="en-US" sz="2000" b="1">
                <a:latin typeface="Arial" charset="0"/>
              </a:rPr>
              <a:t> {</a:t>
            </a:r>
          </a:p>
          <a:p>
            <a:r>
              <a:rPr lang="en-US" sz="2000" b="1">
                <a:latin typeface="Arial" charset="0"/>
              </a:rPr>
              <a:t>//các khởi dựng</a:t>
            </a:r>
          </a:p>
          <a:p>
            <a:r>
              <a:rPr lang="en-US" sz="2000" b="1">
                <a:latin typeface="Arial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Arial" charset="0"/>
              </a:rPr>
              <a:t>Student</a:t>
            </a:r>
            <a:r>
              <a:rPr lang="en-US" sz="2000" b="1">
                <a:latin typeface="Arial" charset="0"/>
              </a:rPr>
              <a:t>() {  }</a:t>
            </a:r>
          </a:p>
          <a:p>
            <a:r>
              <a:rPr lang="en-US" sz="2000" b="1">
                <a:latin typeface="Arial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Arial" charset="0"/>
              </a:rPr>
              <a:t>Student</a:t>
            </a:r>
            <a:r>
              <a:rPr lang="en-US" sz="2000" b="1">
                <a:latin typeface="Arial" charset="0"/>
              </a:rPr>
              <a:t>(..) {  }</a:t>
            </a:r>
          </a:p>
          <a:p>
            <a:r>
              <a:rPr lang="en-US" sz="2000" b="1">
                <a:latin typeface="Arial" charset="0"/>
              </a:rPr>
              <a:t>//các phương thức</a:t>
            </a:r>
          </a:p>
          <a:p>
            <a:r>
              <a:rPr lang="en-US" sz="2000" b="1">
                <a:latin typeface="Arial" charset="0"/>
              </a:rPr>
              <a:t>    public void </a:t>
            </a:r>
            <a:r>
              <a:rPr lang="en-US" sz="2000" b="1">
                <a:solidFill>
                  <a:srgbClr val="FF0000"/>
                </a:solidFill>
                <a:latin typeface="Arial" charset="0"/>
              </a:rPr>
              <a:t>getData()</a:t>
            </a:r>
            <a:r>
              <a:rPr lang="en-US" sz="2000" b="1">
                <a:latin typeface="Arial" charset="0"/>
              </a:rPr>
              <a:t> {....}    </a:t>
            </a:r>
          </a:p>
          <a:p>
            <a:r>
              <a:rPr lang="en-US" sz="2000" b="1">
                <a:latin typeface="Arial" charset="0"/>
              </a:rPr>
              <a:t>    public void </a:t>
            </a:r>
            <a:r>
              <a:rPr lang="en-US" sz="2000" b="1">
                <a:solidFill>
                  <a:srgbClr val="FF0000"/>
                </a:solidFill>
                <a:latin typeface="Arial" charset="0"/>
              </a:rPr>
              <a:t>getData</a:t>
            </a:r>
            <a:r>
              <a:rPr lang="en-US" sz="2000" b="1">
                <a:latin typeface="Arial" charset="0"/>
              </a:rPr>
              <a:t>(String id) {…..}</a:t>
            </a:r>
          </a:p>
          <a:p>
            <a:r>
              <a:rPr lang="en-US" sz="2000" b="1">
                <a:latin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128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US"/>
              <a:t>Tham chiếu this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942975"/>
          </a:xfrm>
        </p:spPr>
        <p:txBody>
          <a:bodyPr/>
          <a:lstStyle/>
          <a:p>
            <a:pPr eaLnBrk="1" hangingPunct="1"/>
            <a:r>
              <a:rPr lang="vi-VN"/>
              <a:t>Một biến ẩn, tồn tại trong tất cả các class, tham khảo đến bản thân của class chứa nó</a:t>
            </a:r>
            <a:r>
              <a:rPr lang="en-US"/>
              <a:t> (run time))</a:t>
            </a:r>
            <a:endParaRPr lang="vi-VN"/>
          </a:p>
          <a:p>
            <a:pPr eaLnBrk="1" hangingPunct="1"/>
            <a:r>
              <a:rPr lang="en-US"/>
              <a:t>this được dùng trong các tình huống sau:</a:t>
            </a:r>
          </a:p>
          <a:p>
            <a:pPr lvl="1" eaLnBrk="1" hangingPunct="1"/>
            <a:r>
              <a:rPr lang="en-US"/>
              <a:t>Phân biệt tuộc tính cục bộ từ một biến </a:t>
            </a:r>
            <a:br>
              <a:rPr lang="en-US"/>
            </a:br>
            <a:r>
              <a:rPr lang="en-US"/>
              <a:t>cục bộ</a:t>
            </a:r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5653314" y="1228942"/>
            <a:ext cx="2642070" cy="1815882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/>
              <a:t>class ThisDemo1 {</a:t>
            </a:r>
          </a:p>
          <a:p>
            <a:r>
              <a:rPr lang="en-US" b="1"/>
              <a:t>    int data;</a:t>
            </a:r>
          </a:p>
          <a:p>
            <a:r>
              <a:rPr lang="en-US" b="1"/>
              <a:t>    void method(int data) {</a:t>
            </a:r>
          </a:p>
          <a:p>
            <a:r>
              <a:rPr lang="en-US" b="1"/>
              <a:t>       </a:t>
            </a:r>
            <a:r>
              <a:rPr lang="en-US" b="1">
                <a:solidFill>
                  <a:srgbClr val="FF0000"/>
                </a:solidFill>
              </a:rPr>
              <a:t>this</a:t>
            </a:r>
            <a:r>
              <a:rPr lang="en-US" b="1"/>
              <a:t>.data = data;</a:t>
            </a:r>
          </a:p>
          <a:p>
            <a:r>
              <a:rPr lang="en-US" b="1"/>
              <a:t>    } </a:t>
            </a: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0" y="2573337"/>
            <a:ext cx="494982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28650" lvl="1" indent="-228600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¡"/>
            </a:pPr>
            <a:r>
              <a:rPr lang="en-US" sz="2200">
                <a:latin typeface="Arial" charset="0"/>
              </a:rPr>
              <a:t>Tham khảo thành phần từ một phương thức không static 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2760890" y="3508072"/>
            <a:ext cx="3843111" cy="2185214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b="1"/>
              <a:t>class ThisDemo2 {</a:t>
            </a:r>
          </a:p>
          <a:p>
            <a:r>
              <a:rPr lang="en-US" b="1"/>
              <a:t>    int data;</a:t>
            </a:r>
          </a:p>
          <a:p>
            <a:r>
              <a:rPr lang="en-US" b="1"/>
              <a:t>    void method() {</a:t>
            </a:r>
          </a:p>
          <a:p>
            <a:r>
              <a:rPr lang="en-US" b="1"/>
              <a:t>       System.out.println(data); }</a:t>
            </a:r>
          </a:p>
          <a:p>
            <a:r>
              <a:rPr lang="en-US" b="1"/>
              <a:t>    void method2() {</a:t>
            </a:r>
          </a:p>
          <a:p>
            <a:r>
              <a:rPr lang="en-US" b="1"/>
              <a:t>       </a:t>
            </a:r>
            <a:r>
              <a:rPr lang="en-US" b="1">
                <a:solidFill>
                  <a:srgbClr val="FF0000"/>
                </a:solidFill>
              </a:rPr>
              <a:t>this</a:t>
            </a:r>
            <a:r>
              <a:rPr lang="en-US" b="1"/>
              <a:t>.method(); } }</a:t>
            </a:r>
          </a:p>
        </p:txBody>
      </p:sp>
    </p:spTree>
    <p:extLst>
      <p:ext uri="{BB962C8B-B14F-4D97-AF65-F5344CB8AC3E}">
        <p14:creationId xmlns:p14="http://schemas.microsoft.com/office/powerpoint/2010/main" val="1306928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Từ Khóa This (tt)</a:t>
            </a:r>
          </a:p>
        </p:txBody>
      </p:sp>
      <p:sp>
        <p:nvSpPr>
          <p:cNvPr id="3072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508000"/>
          </a:xfrm>
          <a:noFill/>
        </p:spPr>
        <p:txBody>
          <a:bodyPr/>
          <a:lstStyle/>
          <a:p>
            <a:pPr eaLnBrk="1" hangingPunct="1"/>
            <a:r>
              <a:rPr lang="en-US"/>
              <a:t>Dùng cho các khởi dựng khác (là lệnh đầu tiên) </a:t>
            </a:r>
          </a:p>
        </p:txBody>
      </p:sp>
      <p:sp>
        <p:nvSpPr>
          <p:cNvPr id="30725" name="Rectangle 7"/>
          <p:cNvSpPr>
            <a:spLocks noChangeArrowheads="1"/>
          </p:cNvSpPr>
          <p:nvPr/>
        </p:nvSpPr>
        <p:spPr bwMode="auto">
          <a:xfrm>
            <a:off x="1195388" y="1498600"/>
            <a:ext cx="4422775" cy="3693319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sz="1800" b="1" dirty="0">
                <a:latin typeface="Arial" charset="0"/>
              </a:rPr>
              <a:t>class ThisDemo3 {</a:t>
            </a:r>
          </a:p>
          <a:p>
            <a:r>
              <a:rPr lang="en-US" sz="1800" b="1" dirty="0">
                <a:latin typeface="Arial" charset="0"/>
              </a:rPr>
              <a:t>    </a:t>
            </a:r>
            <a:r>
              <a:rPr lang="en-US" sz="1800" b="1" dirty="0" err="1">
                <a:latin typeface="Arial" charset="0"/>
              </a:rPr>
              <a:t>int</a:t>
            </a:r>
            <a:r>
              <a:rPr lang="en-US" sz="1800" b="1" dirty="0">
                <a:latin typeface="Arial" charset="0"/>
              </a:rPr>
              <a:t> data;</a:t>
            </a:r>
          </a:p>
          <a:p>
            <a:r>
              <a:rPr lang="en-US" sz="1800" b="1" dirty="0">
                <a:latin typeface="Arial" charset="0"/>
              </a:rPr>
              <a:t>    ThisDemo3() {</a:t>
            </a:r>
          </a:p>
          <a:p>
            <a:r>
              <a:rPr lang="en-US" sz="1800" b="1" dirty="0">
                <a:latin typeface="Arial" charset="0"/>
              </a:rPr>
              <a:t>	this(100);</a:t>
            </a:r>
          </a:p>
          <a:p>
            <a:r>
              <a:rPr lang="en-US" sz="1800" b="1" dirty="0">
                <a:latin typeface="Arial" charset="0"/>
              </a:rPr>
              <a:t>    }</a:t>
            </a:r>
          </a:p>
          <a:p>
            <a:r>
              <a:rPr lang="en-US" sz="1800" b="1" dirty="0">
                <a:latin typeface="Arial" charset="0"/>
              </a:rPr>
              <a:t>    ThisDemo3(</a:t>
            </a:r>
            <a:r>
              <a:rPr lang="en-US" sz="1800" b="1" dirty="0" err="1">
                <a:latin typeface="Arial" charset="0"/>
              </a:rPr>
              <a:t>int</a:t>
            </a:r>
            <a:r>
              <a:rPr lang="en-US" sz="1800" b="1" dirty="0">
                <a:latin typeface="Arial" charset="0"/>
              </a:rPr>
              <a:t> data) {</a:t>
            </a:r>
          </a:p>
          <a:p>
            <a:r>
              <a:rPr lang="en-US" sz="1800" b="1" dirty="0">
                <a:latin typeface="Arial" charset="0"/>
              </a:rPr>
              <a:t>       </a:t>
            </a:r>
            <a:r>
              <a:rPr lang="en-US" sz="1800" b="1" dirty="0" err="1">
                <a:solidFill>
                  <a:srgbClr val="FF0000"/>
                </a:solidFill>
                <a:latin typeface="Arial" charset="0"/>
              </a:rPr>
              <a:t>this</a:t>
            </a:r>
            <a:r>
              <a:rPr lang="en-US" sz="1800" b="1" dirty="0" err="1">
                <a:latin typeface="Arial" charset="0"/>
              </a:rPr>
              <a:t>.data</a:t>
            </a:r>
            <a:r>
              <a:rPr lang="en-US" sz="1800" b="1" dirty="0">
                <a:latin typeface="Arial" charset="0"/>
              </a:rPr>
              <a:t> = data;</a:t>
            </a:r>
          </a:p>
          <a:p>
            <a:r>
              <a:rPr lang="en-US" sz="1800" b="1" dirty="0">
                <a:latin typeface="Arial" charset="0"/>
              </a:rPr>
              <a:t>    } </a:t>
            </a:r>
          </a:p>
          <a:p>
            <a:r>
              <a:rPr lang="en-US" sz="1800" b="1" dirty="0">
                <a:latin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7163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Tính đóng gói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Nhóm những gì có liên quan với nhau vào thành một, và có thể sử dụng một tên để gọi</a:t>
            </a:r>
          </a:p>
          <a:p>
            <a:r>
              <a:rPr lang="vi-VN"/>
              <a:t>Ví dụ:</a:t>
            </a:r>
          </a:p>
          <a:p>
            <a:pPr lvl="1"/>
            <a:r>
              <a:rPr lang="vi-VN"/>
              <a:t>Các phương thức đóng gói các câu lệnh</a:t>
            </a:r>
          </a:p>
          <a:p>
            <a:pPr lvl="1"/>
            <a:r>
              <a:rPr lang="vi-VN"/>
              <a:t>Đối tượng đóng gói dữ liệu và các phương thức</a:t>
            </a:r>
          </a:p>
          <a:p>
            <a:r>
              <a:rPr lang="vi-VN"/>
              <a:t>Đóng gói để che dấu một phần hoặc tất cả thông tin, chi tiết cài đặt bên trong với bên ngoài</a:t>
            </a:r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82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0070C0"/>
                </a:solidFill>
              </a:rPr>
              <a:t>Tính đóng gói</a:t>
            </a:r>
            <a:endParaRPr lang="en-US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213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Class </a:t>
            </a:r>
            <a:r>
              <a:rPr lang="en-US" sz="2000" dirty="0" err="1"/>
              <a:t>lại</a:t>
            </a:r>
            <a:r>
              <a:rPr lang="en-US" sz="2000" dirty="0"/>
              <a:t> </a:t>
            </a:r>
            <a:r>
              <a:rPr lang="en-US" sz="2000" dirty="0" err="1"/>
              <a:t>nhằm</a:t>
            </a:r>
            <a:r>
              <a:rPr lang="en-US" sz="2000" dirty="0"/>
              <a:t> </a:t>
            </a:r>
            <a:r>
              <a:rPr lang="en-US" sz="2000" dirty="0" err="1"/>
              <a:t>tăng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bao </a:t>
            </a:r>
            <a:r>
              <a:rPr lang="en-US" sz="2000" dirty="0" err="1"/>
              <a:t>đóng</a:t>
            </a: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 err="1"/>
              <a:t>Cú</a:t>
            </a:r>
            <a:r>
              <a:rPr lang="en-US" sz="2000" dirty="0"/>
              <a:t> </a:t>
            </a:r>
            <a:r>
              <a:rPr lang="en-US" sz="2000" dirty="0" err="1"/>
              <a:t>pháp</a:t>
            </a:r>
            <a:r>
              <a:rPr lang="en-US" sz="20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/>
              <a:t>Khai</a:t>
            </a:r>
            <a:r>
              <a:rPr lang="en-US" sz="2000" dirty="0"/>
              <a:t>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gói</a:t>
            </a:r>
            <a:r>
              <a:rPr lang="en-US" sz="2000" dirty="0"/>
              <a:t> </a:t>
            </a:r>
            <a:r>
              <a:rPr lang="en-US" sz="2000" dirty="0" err="1"/>
              <a:t>chứa</a:t>
            </a:r>
            <a:r>
              <a:rPr lang="en-US" sz="2000" dirty="0"/>
              <a:t> class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package &lt;</a:t>
            </a:r>
            <a:r>
              <a:rPr lang="en-US" sz="2000" dirty="0" err="1"/>
              <a:t>packageName</a:t>
            </a:r>
            <a:r>
              <a:rPr lang="en-US" sz="2000" dirty="0"/>
              <a:t>&gt;;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/>
              <a:t>Khai</a:t>
            </a:r>
            <a:r>
              <a:rPr lang="en-US" sz="2000" dirty="0"/>
              <a:t>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Gói</a:t>
            </a:r>
            <a:r>
              <a:rPr lang="en-US" sz="2000" dirty="0"/>
              <a:t> </a:t>
            </a:r>
            <a:r>
              <a:rPr lang="en-US" sz="2000" dirty="0" err="1"/>
              <a:t>cần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chương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endParaRPr lang="en-US" sz="2000" dirty="0"/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import &lt;</a:t>
            </a:r>
            <a:r>
              <a:rPr lang="en-US" sz="2000" dirty="0" err="1"/>
              <a:t>packageName.elementAccessed</a:t>
            </a:r>
            <a:r>
              <a:rPr lang="en-US" sz="2000" dirty="0"/>
              <a:t>&gt;;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543340" y="3124200"/>
            <a:ext cx="7696200" cy="25463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</a:rPr>
              <a:t>package</a:t>
            </a:r>
            <a:r>
              <a:rPr lang="en-US" b="1"/>
              <a:t> registration.reports;//Tên gói chứa class MyClass</a:t>
            </a:r>
          </a:p>
          <a:p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</a:rPr>
              <a:t>import</a:t>
            </a:r>
            <a:r>
              <a:rPr lang="en-US" b="1"/>
              <a:t> registration.processing.*; //khai báo thư viện </a:t>
            </a:r>
          </a:p>
          <a:p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</a:rPr>
              <a:t>import</a:t>
            </a:r>
            <a:r>
              <a:rPr lang="en-US" b="1"/>
              <a:t> java.util.List;</a:t>
            </a:r>
          </a:p>
          <a:p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</a:rPr>
              <a:t>import</a:t>
            </a:r>
            <a:r>
              <a:rPr lang="en-US" b="1"/>
              <a:t> java.lang.*;</a:t>
            </a:r>
          </a:p>
          <a:p>
            <a:r>
              <a:rPr lang="en-US" b="1"/>
              <a:t>class MyClass {</a:t>
            </a:r>
          </a:p>
          <a:p>
            <a:r>
              <a:rPr lang="en-US" b="1"/>
              <a:t>    /* */</a:t>
            </a:r>
          </a:p>
          <a:p>
            <a:r>
              <a:rPr lang="en-US" b="1"/>
              <a:t> 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22CE29-96DF-7662-04A4-220D632DBC2F}"/>
              </a:ext>
            </a:extLst>
          </p:cNvPr>
          <p:cNvSpPr/>
          <p:nvPr/>
        </p:nvSpPr>
        <p:spPr bwMode="auto">
          <a:xfrm>
            <a:off x="3738769" y="5921716"/>
            <a:ext cx="1666461" cy="3385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  <a:cs typeface="Times New Roman" pitchFamily="64" charset="0"/>
              </a:rPr>
              <a:t>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276600" y="6477000"/>
            <a:ext cx="5257800" cy="38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1440" rIns="91440"/>
          <a:lstStyle/>
          <a:p>
            <a:pPr algn="r">
              <a:defRPr/>
            </a:pPr>
            <a:fld id="{F9B5C678-BEB4-4BDC-950C-52E60BE61F6E}" type="slidenum">
              <a:rPr lang="en-US" sz="1200"/>
              <a:pPr algn="r">
                <a:defRPr/>
              </a:pPr>
              <a:t>16</a:t>
            </a:fld>
            <a:endParaRPr lang="en-US" sz="12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839200" cy="9144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r>
              <a:rPr lang="en-US" sz="3200">
                <a:solidFill>
                  <a:srgbClr val="333399"/>
                </a:solidFill>
              </a:rPr>
              <a:t> </a:t>
            </a:r>
            <a:endParaRPr lang="en-US" sz="3200">
              <a:solidFill>
                <a:srgbClr val="006666"/>
              </a:solidFill>
            </a:endParaRP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434975" y="1593850"/>
            <a:ext cx="8001000" cy="3581400"/>
          </a:xfrm>
          <a:prstGeom prst="ellipse">
            <a:avLst/>
          </a:prstGeom>
          <a:solidFill>
            <a:srgbClr val="33CC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400" b="1">
              <a:latin typeface="Times New Roman" pitchFamily="64" charset="0"/>
            </a:endParaRPr>
          </a:p>
        </p:txBody>
      </p:sp>
      <p:sp>
        <p:nvSpPr>
          <p:cNvPr id="15365" name="Oval 5"/>
          <p:cNvSpPr>
            <a:spLocks noChangeAspect="1" noChangeArrowheads="1"/>
          </p:cNvSpPr>
          <p:nvPr/>
        </p:nvSpPr>
        <p:spPr bwMode="auto">
          <a:xfrm>
            <a:off x="1828800" y="2028825"/>
            <a:ext cx="5867400" cy="2424113"/>
          </a:xfrm>
          <a:prstGeom prst="ellipse">
            <a:avLst/>
          </a:prstGeom>
          <a:solidFill>
            <a:srgbClr val="99FF99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Oval 6"/>
          <p:cNvSpPr>
            <a:spLocks noChangeAspect="1" noChangeArrowheads="1"/>
          </p:cNvSpPr>
          <p:nvPr/>
        </p:nvSpPr>
        <p:spPr bwMode="auto">
          <a:xfrm>
            <a:off x="3849912" y="2308227"/>
            <a:ext cx="3843903" cy="1886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Oval 7"/>
          <p:cNvSpPr>
            <a:spLocks noChangeAspect="1" noChangeArrowheads="1"/>
          </p:cNvSpPr>
          <p:nvPr/>
        </p:nvSpPr>
        <p:spPr bwMode="auto">
          <a:xfrm>
            <a:off x="5098140" y="2777672"/>
            <a:ext cx="2495550" cy="9906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1219200" y="2409825"/>
            <a:ext cx="1098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pPr algn="ctr"/>
            <a:r>
              <a:rPr lang="en-US" sz="2000" b="1">
                <a:latin typeface="Courier New" pitchFamily="64" charset="0"/>
              </a:rPr>
              <a:t>public</a:t>
            </a:r>
            <a:endParaRPr lang="en-US" sz="1400" b="1">
              <a:latin typeface="Times New Roman" pitchFamily="64" charset="0"/>
            </a:endParaRP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5720440" y="3186112"/>
            <a:ext cx="1250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pPr algn="ctr"/>
            <a:r>
              <a:rPr lang="en-US" sz="2000" b="1">
                <a:latin typeface="Courier New" pitchFamily="64" charset="0"/>
              </a:rPr>
              <a:t>private</a:t>
            </a:r>
            <a:endParaRPr lang="en-US" sz="1400" b="1">
              <a:latin typeface="Times New Roman" pitchFamily="64" charset="0"/>
            </a:endParaRP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1995714" y="2917144"/>
            <a:ext cx="1555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pPr algn="ctr"/>
            <a:r>
              <a:rPr lang="en-US" sz="2000" b="1">
                <a:latin typeface="Courier New" pitchFamily="64" charset="0"/>
              </a:rPr>
              <a:t>protected</a:t>
            </a:r>
            <a:endParaRPr lang="en-US" sz="1400" b="1">
              <a:latin typeface="Times New Roman" pitchFamily="64" charset="0"/>
            </a:endParaRP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3804533" y="3094008"/>
            <a:ext cx="12618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pPr algn="ctr"/>
            <a:r>
              <a:rPr lang="en-US" sz="2000" b="1">
                <a:latin typeface="Courier New" pitchFamily="64" charset="0"/>
              </a:rPr>
              <a:t>default</a:t>
            </a:r>
            <a:endParaRPr lang="en-US" sz="1400" b="1">
              <a:latin typeface="Times New Roman" pitchFamily="64" charset="0"/>
            </a:endParaRPr>
          </a:p>
        </p:txBody>
      </p:sp>
      <p:sp>
        <p:nvSpPr>
          <p:cNvPr id="15372" name="Rectangle 2"/>
          <p:cNvSpPr txBox="1">
            <a:spLocks noChangeArrowheads="1"/>
          </p:cNvSpPr>
          <p:nvPr/>
        </p:nvSpPr>
        <p:spPr bwMode="auto">
          <a:xfrm>
            <a:off x="0" y="34925"/>
            <a:ext cx="914400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800" b="1">
                <a:solidFill>
                  <a:schemeClr val="tx2"/>
                </a:solidFill>
                <a:latin typeface="Times New Roman" pitchFamily="64" charset="0"/>
              </a:rPr>
              <a:t>Phạm vi truy xuất (Modifier)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276600" y="6477000"/>
            <a:ext cx="5257800" cy="38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1440" rIns="91440"/>
          <a:lstStyle/>
          <a:p>
            <a:pPr algn="r">
              <a:defRPr/>
            </a:pPr>
            <a:fld id="{5ABE987E-D764-4DD4-B9E1-00847824E5C2}" type="slidenum">
              <a:rPr lang="en-US" sz="1200"/>
              <a:pPr algn="r">
                <a:defRPr/>
              </a:pPr>
              <a:t>17</a:t>
            </a:fld>
            <a:endParaRPr lang="en-US" sz="1200"/>
          </a:p>
        </p:txBody>
      </p:sp>
      <p:pic>
        <p:nvPicPr>
          <p:cNvPr id="16387" name="Picture 4" descr="34020_CH10_FIG1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65263"/>
            <a:ext cx="6022975" cy="402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7620000" y="2286000"/>
            <a:ext cx="1143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i="1"/>
              <a:t>Public</a:t>
            </a:r>
          </a:p>
          <a:p>
            <a:pPr algn="ctr"/>
            <a:r>
              <a:rPr lang="en-US" i="1"/>
              <a:t>access</a:t>
            </a: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Phạm vi truy xuất (Modifier)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276600" y="6477000"/>
            <a:ext cx="5257800" cy="38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1440" rIns="91440"/>
          <a:lstStyle/>
          <a:p>
            <a:pPr algn="r">
              <a:defRPr/>
            </a:pPr>
            <a:fld id="{327DCBAD-267B-4450-B7A7-E3F75601075C}" type="slidenum">
              <a:rPr lang="en-US" sz="1200"/>
              <a:pPr algn="r">
                <a:defRPr/>
              </a:pPr>
              <a:t>18</a:t>
            </a:fld>
            <a:endParaRPr lang="en-US" sz="1200"/>
          </a:p>
        </p:txBody>
      </p:sp>
      <p:pic>
        <p:nvPicPr>
          <p:cNvPr id="17411" name="Picture 4" descr="34020_CH10_FIG1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60991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6"/>
          <p:cNvSpPr>
            <a:spLocks noChangeArrowheads="1"/>
          </p:cNvSpPr>
          <p:nvPr/>
        </p:nvSpPr>
        <p:spPr bwMode="auto">
          <a:xfrm>
            <a:off x="4191000" y="5562600"/>
            <a:ext cx="3581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i="1"/>
              <a:t>Protected assess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Phạm vi truy xuất (Modifier)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276600" y="6477000"/>
            <a:ext cx="5257800" cy="38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1440" rIns="91440"/>
          <a:lstStyle/>
          <a:p>
            <a:pPr algn="r">
              <a:defRPr/>
            </a:pPr>
            <a:fld id="{D07C2A07-F66D-4E72-992E-DF83E0AFAD98}" type="slidenum">
              <a:rPr lang="en-US" sz="1200"/>
              <a:pPr algn="r">
                <a:defRPr/>
              </a:pPr>
              <a:t>19</a:t>
            </a:fld>
            <a:endParaRPr lang="en-US" sz="1200"/>
          </a:p>
        </p:txBody>
      </p:sp>
      <p:pic>
        <p:nvPicPr>
          <p:cNvPr id="18435" name="Picture 4" descr="34020_CH10_FIG1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543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3556000" y="5646738"/>
            <a:ext cx="3392488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i="1"/>
              <a:t>default</a:t>
            </a: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Phạm vi truy xuất (Modifier)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276600" y="6477000"/>
            <a:ext cx="5257800" cy="38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1440" rIns="91440"/>
          <a:lstStyle/>
          <a:p>
            <a:pPr algn="r">
              <a:defRPr/>
            </a:pPr>
            <a:fld id="{CF7D8D14-A9CD-419D-A7B7-F395EEF5AB99}" type="slidenum">
              <a:rPr lang="en-US" sz="1200"/>
              <a:pPr algn="r">
                <a:defRPr/>
              </a:pPr>
              <a:t>20</a:t>
            </a:fld>
            <a:endParaRPr lang="en-US" sz="1200"/>
          </a:p>
        </p:txBody>
      </p:sp>
      <p:pic>
        <p:nvPicPr>
          <p:cNvPr id="19459" name="Picture 4" descr="34020_CH10_FIG10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632777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7620000" y="2667000"/>
            <a:ext cx="12192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i="1"/>
              <a:t>Private</a:t>
            </a:r>
          </a:p>
          <a:p>
            <a:pPr algn="ctr"/>
            <a:r>
              <a:rPr lang="en-US" i="1"/>
              <a:t>access</a:t>
            </a: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Phạm vi truy xuất (Modifier)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Phạm vi truy xuất (Modifier)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83820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FF0000"/>
                </a:solidFill>
              </a:rPr>
              <a:t>BAO ĐÓNG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838200"/>
          </a:xfrm>
        </p:spPr>
        <p:txBody>
          <a:bodyPr/>
          <a:lstStyle/>
          <a:p>
            <a:pPr eaLnBrk="1" hangingPunct="1"/>
            <a:r>
              <a:rPr lang="en-US"/>
              <a:t>Khai báo private cho các thành phần cần che dấu</a:t>
            </a:r>
          </a:p>
          <a:p>
            <a:pPr eaLnBrk="1" hangingPunct="1"/>
            <a:r>
              <a:rPr lang="en-US"/>
              <a:t>Khai báo protected cho các thành phần (thừa kế và khác gói) </a:t>
            </a: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7696200" cy="47466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r>
              <a:rPr lang="en-US" b="1"/>
              <a:t>class Encapsulation {</a:t>
            </a:r>
          </a:p>
          <a:p>
            <a:r>
              <a:rPr lang="en-US" b="1"/>
              <a:t>    </a:t>
            </a:r>
            <a:r>
              <a:rPr lang="en-US" b="1">
                <a:solidFill>
                  <a:srgbClr val="FF0000"/>
                </a:solidFill>
              </a:rPr>
              <a:t>private</a:t>
            </a:r>
            <a:r>
              <a:rPr lang="en-US" b="1"/>
              <a:t> int secret; //che dấu field</a:t>
            </a:r>
          </a:p>
          <a:p>
            <a:r>
              <a:rPr lang="en-US" b="1"/>
              <a:t>    public boolean </a:t>
            </a:r>
            <a:r>
              <a:rPr lang="en-US" b="1">
                <a:solidFill>
                  <a:srgbClr val="FF0000"/>
                </a:solidFill>
              </a:rPr>
              <a:t>setSecret</a:t>
            </a:r>
            <a:r>
              <a:rPr lang="en-US" b="1"/>
              <a:t>(int secret) {//phương thức truy xuất gián tiếp</a:t>
            </a:r>
          </a:p>
          <a:p>
            <a:r>
              <a:rPr lang="en-US" b="1"/>
              <a:t>       if (secret &lt; 1 || secret &gt; 100) {</a:t>
            </a:r>
          </a:p>
          <a:p>
            <a:r>
              <a:rPr lang="en-US" b="1"/>
              <a:t>          return false;</a:t>
            </a:r>
          </a:p>
          <a:p>
            <a:r>
              <a:rPr lang="en-US" b="1"/>
              <a:t>       }</a:t>
            </a:r>
          </a:p>
          <a:p>
            <a:r>
              <a:rPr lang="en-US" b="1"/>
              <a:t>       this.secret = secret;</a:t>
            </a:r>
          </a:p>
          <a:p>
            <a:r>
              <a:rPr lang="en-US" b="1"/>
              <a:t>       return true;</a:t>
            </a:r>
          </a:p>
          <a:p>
            <a:r>
              <a:rPr lang="en-US" b="1"/>
              <a:t>    }</a:t>
            </a:r>
          </a:p>
          <a:p>
            <a:r>
              <a:rPr lang="en-US" b="1"/>
              <a:t>   public </a:t>
            </a:r>
            <a:r>
              <a:rPr lang="en-US" b="1">
                <a:solidFill>
                  <a:srgbClr val="FF0000"/>
                </a:solidFill>
              </a:rPr>
              <a:t>getSecret()</a:t>
            </a:r>
            <a:r>
              <a:rPr lang="en-US" b="1"/>
              <a:t> { //phương thức truy xuất gián tiếp</a:t>
            </a:r>
          </a:p>
          <a:p>
            <a:r>
              <a:rPr lang="en-US" b="1"/>
              <a:t>       return secret;</a:t>
            </a:r>
          </a:p>
          <a:p>
            <a:r>
              <a:rPr lang="en-US" b="1"/>
              <a:t>    } </a:t>
            </a:r>
          </a:p>
          <a:p>
            <a:r>
              <a:rPr lang="en-US" b="1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Thừa kế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199"/>
            <a:ext cx="9144000" cy="2485571"/>
          </a:xfrm>
        </p:spPr>
        <p:txBody>
          <a:bodyPr/>
          <a:lstStyle/>
          <a:p>
            <a:pPr eaLnBrk="1" hangingPunct="1"/>
            <a:r>
              <a:rPr lang="vi-VN"/>
              <a:t>Thừa hưởng các thuộc tính và phương thức sẵn có</a:t>
            </a:r>
          </a:p>
          <a:p>
            <a:pPr eaLnBrk="1" hangingPunct="1"/>
            <a:r>
              <a:rPr lang="vi-VN"/>
              <a:t>Bổ xung, chi tiết hóa cho phù hợp với mục đích sử dụng mới</a:t>
            </a:r>
          </a:p>
          <a:p>
            <a:pPr eaLnBrk="1" hangingPunct="1"/>
            <a:r>
              <a:rPr lang="vi-VN"/>
              <a:t>Thuôc tính: thêm mới</a:t>
            </a:r>
          </a:p>
          <a:p>
            <a:pPr eaLnBrk="1" hangingPunct="1"/>
            <a:r>
              <a:rPr lang="vi-VN"/>
              <a:t>Phương thức:</a:t>
            </a:r>
          </a:p>
          <a:p>
            <a:pPr lvl="1" eaLnBrk="1" hangingPunct="1"/>
            <a:r>
              <a:rPr lang="vi-VN"/>
              <a:t>Thêm mới</a:t>
            </a:r>
          </a:p>
          <a:p>
            <a:pPr lvl="1" eaLnBrk="1" hangingPunct="1"/>
            <a:r>
              <a:rPr lang="vi-VN"/>
              <a:t>Hiệu chỉnh (Overiding)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72" y="3457491"/>
            <a:ext cx="7439025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Thừa kế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Subclass: lớp dẫn xuất/lớp con</a:t>
            </a:r>
          </a:p>
          <a:p>
            <a:r>
              <a:rPr lang="vi-VN"/>
              <a:t>SuperClass: lớp cơ sở/lớp cha</a:t>
            </a:r>
          </a:p>
          <a:p>
            <a:r>
              <a:rPr lang="vi-VN"/>
              <a:t>Lớp con có thể kế thừa một hay tất cả các thành phần dữ liệu (thuộc tính), phương thức của lớp cha (public,default,protected)</a:t>
            </a:r>
          </a:p>
          <a:p>
            <a:r>
              <a:rPr lang="vi-VN"/>
              <a:t>Dùng từ khó</a:t>
            </a:r>
            <a:r>
              <a:rPr lang="en-US"/>
              <a:t>a</a:t>
            </a:r>
            <a:r>
              <a:rPr lang="vi-VN"/>
              <a:t> extends</a:t>
            </a:r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480458" y="3205585"/>
            <a:ext cx="4891314" cy="255454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cs typeface="Times New Roman" pitchFamily="64" charset="0"/>
              </a:defRPr>
            </a:lvl9pPr>
          </a:lstStyle>
          <a:p>
            <a:r>
              <a:rPr lang="en-US" b="1"/>
              <a:t>import java.awt.*;</a:t>
            </a:r>
          </a:p>
          <a:p>
            <a:r>
              <a:rPr lang="en-US" b="1"/>
              <a:t> class Point {</a:t>
            </a:r>
          </a:p>
          <a:p>
            <a:r>
              <a:rPr lang="en-US" b="1"/>
              <a:t>	---- </a:t>
            </a:r>
          </a:p>
          <a:p>
            <a:r>
              <a:rPr lang="en-US" b="1"/>
              <a:t>}</a:t>
            </a:r>
          </a:p>
          <a:p>
            <a:r>
              <a:rPr lang="en-US" b="1"/>
              <a:t>class ColoredPoint </a:t>
            </a:r>
            <a:r>
              <a:rPr lang="en-US" b="1">
                <a:solidFill>
                  <a:srgbClr val="FF0000"/>
                </a:solidFill>
              </a:rPr>
              <a:t>extends</a:t>
            </a:r>
            <a:r>
              <a:rPr lang="en-US" b="1"/>
              <a:t> Point { </a:t>
            </a:r>
          </a:p>
          <a:p>
            <a:r>
              <a:rPr lang="en-US" b="1"/>
              <a:t>	-------</a:t>
            </a:r>
          </a:p>
          <a:p>
            <a:r>
              <a:rPr lang="en-US" b="1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9126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FF0000"/>
                </a:solidFill>
              </a:rPr>
              <a:t>Phương thức Overriding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>
                <a:latin typeface="+mj-lt"/>
              </a:rPr>
              <a:t>Là một phương thức ở class con định nghĩa lại từ phương thức có sẵn ở class cha.</a:t>
            </a:r>
          </a:p>
          <a:p>
            <a:pPr eaLnBrk="1" hangingPunct="1">
              <a:lnSpc>
                <a:spcPct val="80000"/>
              </a:lnSpc>
            </a:pPr>
            <a:r>
              <a:rPr lang="vi-VN" sz="2800">
                <a:latin typeface="+mj-lt"/>
              </a:rPr>
              <a:t>Có tên , kiểu trả về và các đối số giống với phương thức của lớp cha</a:t>
            </a:r>
          </a:p>
          <a:p>
            <a:pPr eaLnBrk="1" hangingPunct="1">
              <a:lnSpc>
                <a:spcPct val="80000"/>
              </a:lnSpc>
            </a:pPr>
            <a:r>
              <a:rPr lang="en-US" sz="2800">
                <a:latin typeface="+mj-lt"/>
              </a:rPr>
              <a:t>Nạp chồng là một </a:t>
            </a:r>
            <a:r>
              <a:rPr lang="en-US" sz="2800">
                <a:solidFill>
                  <a:srgbClr val="FF0000"/>
                </a:solidFill>
                <a:latin typeface="+mj-lt"/>
              </a:rPr>
              <a:t>kỷ thuật đa hình</a:t>
            </a:r>
          </a:p>
          <a:p>
            <a:pPr eaLnBrk="1" hangingPunct="1">
              <a:lnSpc>
                <a:spcPct val="80000"/>
              </a:lnSpc>
            </a:pPr>
            <a:r>
              <a:rPr lang="en-US" sz="2800">
                <a:latin typeface="+mj-lt"/>
              </a:rPr>
              <a:t>class không được nạp chồng các phương thức khai báo final</a:t>
            </a:r>
          </a:p>
          <a:p>
            <a:pPr eaLnBrk="1" hangingPunct="1">
              <a:lnSpc>
                <a:spcPct val="80000"/>
              </a:lnSpc>
            </a:pPr>
            <a:r>
              <a:rPr lang="vi-VN" sz="2800">
                <a:latin typeface="+mj-lt"/>
              </a:rPr>
              <a:t>Có phạm vi truy cập lớn hơn lớp cha</a:t>
            </a:r>
          </a:p>
          <a:p>
            <a:pPr eaLnBrk="1" hangingPunct="1">
              <a:lnSpc>
                <a:spcPct val="80000"/>
              </a:lnSpc>
            </a:pPr>
            <a:endParaRPr lang="en-US" sz="280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43" y="4307568"/>
            <a:ext cx="68389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US"/>
              <a:t>Từ khóa super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1668463"/>
          </a:xfrm>
        </p:spPr>
        <p:txBody>
          <a:bodyPr/>
          <a:lstStyle/>
          <a:p>
            <a:pPr eaLnBrk="1" hangingPunct="1"/>
            <a:r>
              <a:rPr lang="vi-VN"/>
              <a:t>Tham chiếu đến đối tượng là class cha của class hiện tại.</a:t>
            </a:r>
          </a:p>
          <a:p>
            <a:pPr eaLnBrk="1" hangingPunct="1"/>
            <a:r>
              <a:rPr lang="vi-VN"/>
              <a:t>super được dùng truy cập đến các thành viên của class cha đã bị che bởi class con và phương thức khởi dựng cùa class cha</a:t>
            </a:r>
          </a:p>
          <a:p>
            <a:pPr eaLnBrk="1" hangingPunct="1"/>
            <a:r>
              <a:rPr lang="en-US"/>
              <a:t>Sử dụng từ khóa </a:t>
            </a:r>
            <a:r>
              <a:rPr lang="en-US" i="1"/>
              <a:t>super</a:t>
            </a:r>
            <a:r>
              <a:rPr lang="en-US"/>
              <a:t> khi quan hệ tới thừa kế. </a:t>
            </a:r>
          </a:p>
          <a:p>
            <a:pPr eaLnBrk="1" hangingPunct="1"/>
            <a:r>
              <a:rPr lang="en-US"/>
              <a:t>Dùng viện dẫn các phương thức khởi dựng của cha từ khởi dựng của con. </a:t>
            </a: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0" y="3122612"/>
            <a:ext cx="4422775" cy="2913062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b="1"/>
              <a:t>class Person {</a:t>
            </a:r>
          </a:p>
          <a:p>
            <a:r>
              <a:rPr lang="en-US" b="1"/>
              <a:t>    String fName;</a:t>
            </a:r>
          </a:p>
          <a:p>
            <a:r>
              <a:rPr lang="en-US" b="1"/>
              <a:t>    String lName;</a:t>
            </a:r>
          </a:p>
          <a:p>
            <a:r>
              <a:rPr lang="en-US" b="1"/>
              <a:t>    Person(String fname, String lname) {</a:t>
            </a:r>
          </a:p>
          <a:p>
            <a:r>
              <a:rPr lang="en-US" b="1"/>
              <a:t>       this.fName = fname;</a:t>
            </a:r>
          </a:p>
          <a:p>
            <a:r>
              <a:rPr lang="en-US" b="1"/>
              <a:t>       this.lName = lname;</a:t>
            </a:r>
          </a:p>
          <a:p>
            <a:r>
              <a:rPr lang="en-US" b="1"/>
              <a:t>    }</a:t>
            </a:r>
          </a:p>
          <a:p>
            <a:r>
              <a:rPr lang="en-US" b="1"/>
              <a:t>}</a:t>
            </a: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3781425" y="2797970"/>
            <a:ext cx="5362575" cy="25463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1"/>
              <a:t>class Student extends Person {</a:t>
            </a:r>
          </a:p>
          <a:p>
            <a:r>
              <a:rPr lang="en-US" b="1"/>
              <a:t>    String studNum;</a:t>
            </a:r>
          </a:p>
          <a:p>
            <a:r>
              <a:rPr lang="en-US" b="1"/>
              <a:t>    Student(String fname, String lname, String sNum) {</a:t>
            </a:r>
          </a:p>
          <a:p>
            <a:r>
              <a:rPr lang="en-US" b="1"/>
              <a:t>       </a:t>
            </a:r>
            <a:r>
              <a:rPr lang="en-US" b="1">
                <a:solidFill>
                  <a:srgbClr val="FF0000"/>
                </a:solidFill>
              </a:rPr>
              <a:t>super</a:t>
            </a:r>
            <a:r>
              <a:rPr lang="en-US" b="1"/>
              <a:t>(fname, lname);</a:t>
            </a:r>
          </a:p>
          <a:p>
            <a:r>
              <a:rPr lang="en-US" b="1"/>
              <a:t>       studNum = sNum;</a:t>
            </a:r>
          </a:p>
          <a:p>
            <a:r>
              <a:rPr lang="en-US" b="1"/>
              <a:t>    } }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168007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Tính đa hình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42" y="1404710"/>
            <a:ext cx="7754952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0794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US"/>
              <a:t>Từ Khóa static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Áp dụng tới các thành phần của class .</a:t>
            </a:r>
          </a:p>
          <a:p>
            <a:pPr eaLnBrk="1" hangingPunct="1"/>
            <a:r>
              <a:rPr lang="en-US"/>
              <a:t>Có thể xem như một khai báo toàn cục-&gt; có thể được truy xuất bởi tất cả các thể hiện của class. </a:t>
            </a:r>
          </a:p>
          <a:p>
            <a:pPr eaLnBrk="1" hangingPunct="1"/>
            <a:r>
              <a:rPr lang="en-US"/>
              <a:t>Các phương thức static được viện dẫn mà không cần tạo đối tượng của class </a:t>
            </a:r>
          </a:p>
          <a:p>
            <a:pPr eaLnBrk="1" hangingPunct="1"/>
            <a:r>
              <a:rPr lang="en-US"/>
              <a:t>Không tham khảo tới “this” hoặc “super”.</a:t>
            </a:r>
          </a:p>
          <a:p>
            <a:pPr eaLnBrk="1" hangingPunct="1"/>
            <a:r>
              <a:rPr lang="en-US"/>
              <a:t>Có thể áp dụng khai báo khối vô danh { } , và khối chỉ được thực thi một lần khi khối được nạp (khối thường dùng để khởi tạo các biến class).</a:t>
            </a:r>
          </a:p>
          <a:p>
            <a:pPr eaLnBrk="1" hangingPunct="1"/>
            <a:r>
              <a:rPr lang="en-US"/>
              <a:t>Thuộc tính và phương thức static được gọi là class variable, class method.</a:t>
            </a:r>
          </a:p>
          <a:p>
            <a:pPr eaLnBrk="1" hangingPunct="1"/>
            <a:r>
              <a:rPr lang="en-US" b="1" i="1">
                <a:solidFill>
                  <a:srgbClr val="FF0000"/>
                </a:solidFill>
              </a:rPr>
              <a:t>Lưu ý: Trong thân phương thức static, không được phép truy xuất các thành phần không static</a:t>
            </a:r>
            <a:r>
              <a:rPr lang="en-US"/>
              <a:t>.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5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Lớp nội (inner class)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Là lớp được khai báo trong một class khác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1328508"/>
            <a:ext cx="5943600" cy="4538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8378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Từ khóa final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Được áp dụng khi khai báo biến, phương thức và class.</a:t>
            </a:r>
          </a:p>
          <a:p>
            <a:r>
              <a:rPr lang="vi-VN"/>
              <a:t>Khai báo hằng số: </a:t>
            </a:r>
          </a:p>
          <a:p>
            <a:pPr lvl="1"/>
            <a:r>
              <a:rPr lang="vi-VN"/>
              <a:t>final int data = 10;</a:t>
            </a:r>
          </a:p>
          <a:p>
            <a:r>
              <a:rPr lang="vi-VN"/>
              <a:t>Phương thức khai báo final không thể nạp chồng ở class con.</a:t>
            </a:r>
          </a:p>
          <a:p>
            <a:pPr lvl="1"/>
            <a:r>
              <a:rPr lang="vi-VN"/>
              <a:t>final void myMethod() {//trong class cha }</a:t>
            </a:r>
          </a:p>
          <a:p>
            <a:r>
              <a:rPr lang="vi-VN"/>
              <a:t>Một class final không được thừa kế</a:t>
            </a:r>
          </a:p>
          <a:p>
            <a:pPr lvl="1"/>
            <a:r>
              <a:rPr lang="vi-VN"/>
              <a:t>final public class MyClass {    }</a:t>
            </a:r>
          </a:p>
          <a:p>
            <a:r>
              <a:rPr lang="vi-VN"/>
              <a:t>Phương thức không thay đổi giá trị đối số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686" y="2750910"/>
            <a:ext cx="28956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29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Lớp trừu tượng (abstract)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Lớp trừu tượng chỉ được dùng làm lớp cha cho các lớp khác, nó không có thể hiện</a:t>
            </a:r>
          </a:p>
          <a:p>
            <a:r>
              <a:rPr lang="vi-VN" dirty="0"/>
              <a:t>Định nghĩa các thuộc tính chung cho các lớp con</a:t>
            </a:r>
          </a:p>
          <a:p>
            <a:r>
              <a:rPr lang="vi-VN" dirty="0"/>
              <a:t>Có ít nhất một phương thức trừu tượng (không có phần thân): </a:t>
            </a:r>
            <a:r>
              <a:rPr lang="vi-VN" dirty="0">
                <a:highlight>
                  <a:srgbClr val="FFFF00"/>
                </a:highlight>
              </a:rPr>
              <a:t>public abstract void draw();</a:t>
            </a:r>
          </a:p>
          <a:p>
            <a:r>
              <a:rPr lang="vi-VN" dirty="0"/>
              <a:t>Khai báo class trừu tượng: public </a:t>
            </a:r>
            <a:r>
              <a:rPr lang="vi-VN" dirty="0">
                <a:solidFill>
                  <a:srgbClr val="FF0000"/>
                </a:solidFill>
                <a:highlight>
                  <a:srgbClr val="FFFF00"/>
                </a:highlight>
              </a:rPr>
              <a:t>abstract</a:t>
            </a:r>
            <a:r>
              <a:rPr lang="vi-VN" dirty="0"/>
              <a:t> class name{}</a:t>
            </a:r>
          </a:p>
          <a:p>
            <a:r>
              <a:rPr lang="vi-VN" dirty="0">
                <a:highlight>
                  <a:srgbClr val="FFFF00"/>
                </a:highlight>
              </a:rPr>
              <a:t>Các class con phải cài đặt tất cả phương thức trừu tượng</a:t>
            </a:r>
          </a:p>
          <a:p>
            <a:r>
              <a:rPr lang="vi-VN" dirty="0"/>
              <a:t>Không thể tạo đối tượng của class trừu tượng. Nhưng có thể khai báo biến thuộc class trừu tượng để tham chiếu đến class con của chúng.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36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Interface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73" y="628689"/>
            <a:ext cx="9144000" cy="4685433"/>
          </a:xfrm>
        </p:spPr>
        <p:txBody>
          <a:bodyPr/>
          <a:lstStyle/>
          <a:p>
            <a:r>
              <a:rPr lang="vi-VN" sz="1800" dirty="0"/>
              <a:t>Interface có 2 mục đích</a:t>
            </a:r>
          </a:p>
          <a:p>
            <a:pPr lvl="1"/>
            <a:r>
              <a:rPr lang="vi-VN" sz="1800" dirty="0"/>
              <a:t>Để tạo ra class c</a:t>
            </a:r>
            <a:r>
              <a:rPr lang="en-US" sz="1800" dirty="0"/>
              <a:t>ơ</a:t>
            </a:r>
            <a:r>
              <a:rPr lang="vi-VN" sz="1800" dirty="0"/>
              <a:t> sở thuần ảo</a:t>
            </a:r>
          </a:p>
          <a:p>
            <a:pPr lvl="1"/>
            <a:r>
              <a:rPr lang="vi-VN" sz="1800" dirty="0"/>
              <a:t>Thực hiện hành vi kế tửa bội</a:t>
            </a:r>
          </a:p>
          <a:p>
            <a:r>
              <a:rPr lang="vi-VN" sz="1800" dirty="0"/>
              <a:t>Dùng từ khóa interface để tạo ra interface</a:t>
            </a:r>
          </a:p>
          <a:p>
            <a:r>
              <a:rPr lang="vi-VN" sz="1800" dirty="0"/>
              <a:t>Để triển khai interface dùng từ khóa implements</a:t>
            </a:r>
          </a:p>
          <a:p>
            <a:r>
              <a:rPr lang="vi-VN" sz="1800" dirty="0"/>
              <a:t>Một class có thể triển khai nhiều interface</a:t>
            </a:r>
          </a:p>
          <a:p>
            <a:r>
              <a:rPr lang="vi-VN" sz="1800" dirty="0"/>
              <a:t>Lưu ý:</a:t>
            </a:r>
          </a:p>
          <a:p>
            <a:pPr lvl="1"/>
            <a:r>
              <a:rPr lang="vi-VN" sz="1800" dirty="0"/>
              <a:t>Các thuộc tính trong interface là static và final</a:t>
            </a:r>
          </a:p>
          <a:p>
            <a:pPr lvl="1"/>
            <a:r>
              <a:rPr lang="vi-VN" sz="1800" dirty="0"/>
              <a:t>Mặc định các thành phần là public</a:t>
            </a:r>
          </a:p>
          <a:p>
            <a:pPr lvl="1"/>
            <a:r>
              <a:rPr lang="vi-VN" sz="1800" dirty="0"/>
              <a:t>Interface có thể thừa kế interface khác</a:t>
            </a:r>
          </a:p>
          <a:p>
            <a:pPr lvl="1"/>
            <a:r>
              <a:rPr lang="vi-VN" sz="1800" dirty="0"/>
              <a:t>Một class có thể cài đặt một hay nhiều interface nhưng chỉ có thể thừa kế 1</a:t>
            </a:r>
          </a:p>
          <a:p>
            <a:pPr lvl="1"/>
            <a:r>
              <a:rPr lang="vi-VN" sz="1800" dirty="0"/>
              <a:t>Class triển khai phải khai báo tất cả phương thức trong interface, nếu </a:t>
            </a:r>
            <a:r>
              <a:rPr lang="en-US" sz="1800" dirty="0" err="1"/>
              <a:t>khô</a:t>
            </a:r>
            <a:r>
              <a:rPr lang="vi-VN" sz="1800" dirty="0"/>
              <a:t>ng phải khai báo là abstract</a:t>
            </a:r>
          </a:p>
          <a:p>
            <a:pPr lvl="1"/>
            <a:r>
              <a:rPr lang="vi-VN" sz="1800" dirty="0"/>
              <a:t>Interface không có thể hiện</a:t>
            </a:r>
          </a:p>
          <a:p>
            <a:endParaRPr lang="en-GB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99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Xây dựng cadidate gồm các thuộc tính : mả, ngày sinh, điểm toán , văn, anh và các phương thức cần thiết </a:t>
            </a:r>
          </a:p>
          <a:p>
            <a:pPr lvl="1"/>
            <a:r>
              <a:rPr lang="en-US"/>
              <a:t>Xây dựng chương trình test :</a:t>
            </a:r>
          </a:p>
          <a:p>
            <a:pPr lvl="2"/>
            <a:r>
              <a:rPr lang="en-US"/>
              <a:t>Nhập n thí sinh ( n do người dùng nhập) q </a:t>
            </a:r>
          </a:p>
          <a:p>
            <a:pPr lvl="2"/>
            <a:r>
              <a:rPr lang="en-US"/>
              <a:t>In thông tin thí sinh có tổng điểm &gt; 15</a:t>
            </a:r>
          </a:p>
          <a:p>
            <a:r>
              <a:rPr lang="en-US"/>
              <a:t>Xét phần mềm quản lý nhân sự. Công ty có 2 lọai nhân viên : văn phòng và sản xuất. Viết chương trình tính lương cho từng nhân viên</a:t>
            </a:r>
          </a:p>
          <a:p>
            <a:pPr lvl="1"/>
            <a:r>
              <a:rPr lang="en-US"/>
              <a:t>Thông tin nhân viên: họ tên, năm sinh, lương</a:t>
            </a:r>
          </a:p>
          <a:p>
            <a:pPr lvl="1"/>
            <a:r>
              <a:rPr lang="en-US"/>
              <a:t>Nhân viên sản xuất: lương=LCB + số sản phẩm*10000</a:t>
            </a:r>
          </a:p>
          <a:p>
            <a:pPr lvl="1"/>
            <a:r>
              <a:rPr lang="en-US"/>
              <a:t>Nhân viên văn phòng: lương=số ngày làm việc*10000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97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tập: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07574"/>
            <a:ext cx="9144000" cy="5486400"/>
          </a:xfrm>
        </p:spPr>
        <p:txBody>
          <a:bodyPr/>
          <a:lstStyle/>
          <a:p>
            <a:r>
              <a:rPr lang="en-US"/>
              <a:t>Cần lưu trữ thông tin cho tài khoản ngân hàng</a:t>
            </a:r>
          </a:p>
          <a:p>
            <a:r>
              <a:rPr lang="en-US"/>
              <a:t>Giả sử chì cần lưu trữ số dư và tồng số lần giao dịch của tài khoản</a:t>
            </a:r>
          </a:p>
          <a:p>
            <a:r>
              <a:rPr lang="en-US"/>
              <a:t>Tránh lập lại mã giữa 3 dạng tài khoản</a:t>
            </a:r>
          </a:p>
          <a:p>
            <a:r>
              <a:rPr lang="en-US"/>
              <a:t>Một tài khoản cần đáp ứng các thông điệp sau</a:t>
            </a:r>
          </a:p>
          <a:p>
            <a:pPr lvl="1"/>
            <a:r>
              <a:rPr lang="en-US" sz="2400"/>
              <a:t>constructor(initialBalance)</a:t>
            </a:r>
          </a:p>
          <a:p>
            <a:pPr lvl="1"/>
            <a:r>
              <a:rPr lang="en-US" sz="2400"/>
              <a:t>deposit(amount)</a:t>
            </a:r>
          </a:p>
          <a:p>
            <a:pPr lvl="1"/>
            <a:r>
              <a:rPr lang="en-US" sz="2400"/>
              <a:t>withdraw(amount)</a:t>
            </a:r>
          </a:p>
          <a:p>
            <a:pPr lvl="1"/>
            <a:r>
              <a:rPr lang="en-US" sz="2400"/>
              <a:t>endMonth()</a:t>
            </a:r>
          </a:p>
          <a:p>
            <a:r>
              <a:rPr lang="en-US"/>
              <a:t>Các dạng tài khoản</a:t>
            </a:r>
          </a:p>
          <a:p>
            <a:pPr lvl="1"/>
            <a:r>
              <a:rPr lang="en-US"/>
              <a:t>Normal: Cố định 50000 cuối mỗi tháng</a:t>
            </a:r>
          </a:p>
          <a:p>
            <a:pPr lvl="1"/>
            <a:r>
              <a:rPr lang="en-US"/>
              <a:t>Dime: 5000 cho mỗi lần withdraw</a:t>
            </a:r>
          </a:p>
          <a:p>
            <a:pPr lvl="1"/>
            <a:r>
              <a:rPr lang="en-US"/>
              <a:t>Gamber: </a:t>
            </a:r>
          </a:p>
          <a:p>
            <a:pPr lvl="2"/>
            <a:r>
              <a:rPr lang="en-US"/>
              <a:t>4900 cuối mội tháng nếu không withdraw</a:t>
            </a:r>
          </a:p>
          <a:p>
            <a:pPr lvl="2"/>
            <a:r>
              <a:rPr lang="en-US"/>
              <a:t>5100 cho hai lần withdraw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71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50" y="1329881"/>
            <a:ext cx="7219392" cy="376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6003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Bài tập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19100" indent="-419100" eaLnBrk="1" hangingPunct="1"/>
            <a:r>
              <a:rPr lang="en-US"/>
              <a:t>Case Study 1: Giả sử chúng ta có một class human. Hãy cho biết sự liên quan của class human với các khái niệm bên dưới:</a:t>
            </a:r>
          </a:p>
          <a:p>
            <a:pPr marL="1162050" lvl="2" indent="-419100" eaLnBrk="1" hangingPunct="1"/>
            <a:r>
              <a:rPr lang="en-US"/>
              <a:t>Properties</a:t>
            </a:r>
          </a:p>
          <a:p>
            <a:pPr marL="1162050" lvl="2" indent="-419100" eaLnBrk="1" hangingPunct="1"/>
            <a:r>
              <a:rPr lang="en-US"/>
              <a:t>Behaviors</a:t>
            </a:r>
          </a:p>
          <a:p>
            <a:pPr marL="1162050" lvl="2" indent="-419100" eaLnBrk="1" hangingPunct="1"/>
            <a:r>
              <a:rPr lang="en-US"/>
              <a:t>Encapsulation</a:t>
            </a:r>
          </a:p>
          <a:p>
            <a:pPr marL="1162050" lvl="2" indent="-419100" eaLnBrk="1" hangingPunct="1"/>
            <a:r>
              <a:rPr lang="en-US"/>
              <a:t>Inheritance</a:t>
            </a:r>
          </a:p>
          <a:p>
            <a:pPr marL="1162050" lvl="2" indent="-419100" eaLnBrk="1" hangingPunct="1"/>
            <a:r>
              <a:rPr lang="en-US"/>
              <a:t>Polymorphism</a:t>
            </a:r>
          </a:p>
          <a:p>
            <a:pPr marL="1162050" lvl="2" indent="-419100" eaLnBrk="1" hangingPunct="1"/>
            <a:r>
              <a:rPr lang="en-US"/>
              <a:t>API</a:t>
            </a:r>
          </a:p>
          <a:p>
            <a:pPr marL="419100" indent="-419100" eaLnBrk="1" hangingPunct="1"/>
            <a:r>
              <a:rPr lang="en-US"/>
              <a:t>Hãy nghĩ ra một đối tượng bất kì. Tìm ra sự liên quan của 6 khái niêm tới đối tượng đó.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Bài tập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Case Study 2: Tạo một class Shapes có 2 thuộc tính chuỗi: name và size và các phương thức. </a:t>
            </a:r>
          </a:p>
          <a:p>
            <a:pPr lvl="1" eaLnBrk="1" hangingPunct="1"/>
            <a:r>
              <a:rPr lang="en-US"/>
              <a:t>void printShapeInfo(): Xuất giá trị của name và size</a:t>
            </a:r>
          </a:p>
          <a:p>
            <a:pPr lvl="1" eaLnBrk="1" hangingPunct="1"/>
            <a:r>
              <a:rPr lang="en-US"/>
              <a:t>void printShapeName() : Xuất name </a:t>
            </a:r>
          </a:p>
          <a:p>
            <a:pPr lvl="1" eaLnBrk="1" hangingPunct="1"/>
            <a:r>
              <a:rPr lang="en-US"/>
              <a:t>void printShapeSize(): Xuất size</a:t>
            </a:r>
          </a:p>
          <a:p>
            <a:pPr eaLnBrk="1" hangingPunct="1"/>
            <a:r>
              <a:rPr lang="en-US"/>
              <a:t>Sử dụng thừa kế , tạo một class Square cùng thuộc tính và phương thức với class Shapes, ngoài ra Square có  thêm 2 thuộc tính số nguyên: length và width và 2 phương thức </a:t>
            </a:r>
          </a:p>
          <a:p>
            <a:pPr lvl="1" eaLnBrk="1" hangingPunct="1"/>
            <a:r>
              <a:rPr lang="en-US"/>
              <a:t>void printShapeLength(): xuất thuộc tính length</a:t>
            </a:r>
          </a:p>
          <a:p>
            <a:pPr lvl="1" eaLnBrk="1" hangingPunct="1"/>
            <a:r>
              <a:rPr lang="en-US"/>
              <a:t>void printShapeWidth(): xuất thuộc tính width. </a:t>
            </a:r>
          </a:p>
          <a:p>
            <a:pPr lvl="1" eaLnBrk="1" hangingPunct="1"/>
            <a:r>
              <a:rPr lang="en-US"/>
              <a:t>Nạp chồng printShapeInfo() để xuất thêm 2 thuộc tính length và width.</a:t>
            </a:r>
          </a:p>
          <a:p>
            <a:pPr lvl="1" eaLnBrk="1" hangingPunct="1">
              <a:buFont typeface="Wingdings" pitchFamily="2" charset="2"/>
              <a:buAutoNum type="alphaLcPeriod"/>
            </a:pP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Bài tập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Case study 3: Tạo một interface Animal có 2 phương thức : eat() và move(). Các phương thức không tham số và trị trả về. Tạo class Fish và Bear hiện thực Animal. </a:t>
            </a:r>
          </a:p>
          <a:p>
            <a:pPr lvl="1" eaLnBrk="1" hangingPunct="1"/>
            <a:r>
              <a:rPr lang="en-US"/>
              <a:t>phương thức eat(): xuất ra cách ăn của ……</a:t>
            </a:r>
          </a:p>
          <a:p>
            <a:pPr lvl="1" eaLnBrk="1" hangingPunct="1"/>
            <a:r>
              <a:rPr lang="en-US"/>
              <a:t>phương thức move(): xuất ra cách di chuyển của…..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Tahoma" pitchFamily="34" charset="0"/>
              </a:rPr>
              <a:t>Câu</a:t>
            </a:r>
            <a:r>
              <a:rPr lang="en-US" dirty="0">
                <a:latin typeface="Tahoma" pitchFamily="34" charset="0"/>
              </a:rPr>
              <a:t> </a:t>
            </a:r>
            <a:r>
              <a:rPr lang="en-US" dirty="0" err="1">
                <a:latin typeface="Tahoma" pitchFamily="34" charset="0"/>
              </a:rPr>
              <a:t>hỏi</a:t>
            </a:r>
            <a:r>
              <a:rPr lang="en-US" dirty="0">
                <a:latin typeface="Tahoma" pitchFamily="34" charset="0"/>
              </a:rPr>
              <a:t> </a:t>
            </a:r>
            <a:r>
              <a:rPr lang="en-US" dirty="0" err="1">
                <a:latin typeface="Tahoma" pitchFamily="34" charset="0"/>
              </a:rPr>
              <a:t>ôn</a:t>
            </a:r>
            <a:r>
              <a:rPr lang="en-US" dirty="0">
                <a:latin typeface="Tahoma" pitchFamily="34" charset="0"/>
              </a:rPr>
              <a:t>	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19100" indent="-419100" eaLnBrk="1" hangingPunct="1">
              <a:lnSpc>
                <a:spcPct val="90000"/>
              </a:lnSpc>
            </a:pPr>
            <a:r>
              <a:rPr lang="en-US" sz="1400"/>
              <a:t>Các đối tượng trong thế giới thực chứa ___ và  ___. </a:t>
            </a:r>
          </a:p>
          <a:p>
            <a:pPr marL="419100" indent="-419100" eaLnBrk="1" hangingPunct="1">
              <a:lnSpc>
                <a:spcPct val="90000"/>
              </a:lnSpc>
            </a:pPr>
            <a:r>
              <a:rPr lang="en-US" sz="1400"/>
              <a:t>Một trạng thái của đối tượng được lưu trữ trong ___. </a:t>
            </a:r>
          </a:p>
          <a:p>
            <a:pPr marL="419100" indent="-419100" eaLnBrk="1" hangingPunct="1">
              <a:lnSpc>
                <a:spcPct val="90000"/>
              </a:lnSpc>
            </a:pPr>
            <a:r>
              <a:rPr lang="en-US" sz="1400"/>
              <a:t>Một hành vi của đối tượng được phơi bày  thông qua  ___. </a:t>
            </a:r>
          </a:p>
          <a:p>
            <a:pPr marL="419100" indent="-419100" eaLnBrk="1" hangingPunct="1">
              <a:lnSpc>
                <a:spcPct val="90000"/>
              </a:lnSpc>
            </a:pPr>
            <a:r>
              <a:rPr lang="en-US" sz="1400"/>
              <a:t>Các dữ liệu nội tại được che đậy từ thế giới bên ngòai và chỉ truy xuất qua phương thức được biết như dữ liệu  ___. </a:t>
            </a:r>
          </a:p>
          <a:p>
            <a:pPr marL="419100" indent="-419100" eaLnBrk="1" hangingPunct="1">
              <a:lnSpc>
                <a:spcPct val="90000"/>
              </a:lnSpc>
            </a:pPr>
            <a:r>
              <a:rPr lang="en-US" sz="1400"/>
              <a:t>Bản thiết kế cho một đối tượng phần mềm được gọi là  ___. </a:t>
            </a:r>
          </a:p>
          <a:p>
            <a:pPr marL="419100" indent="-419100" eaLnBrk="1" hangingPunct="1">
              <a:lnSpc>
                <a:spcPct val="90000"/>
              </a:lnSpc>
            </a:pPr>
            <a:r>
              <a:rPr lang="en-US" sz="1400"/>
              <a:t>Hành vi chung, phổ biến có thể được định nghĩa trong ___  và được thừa kế vào ___ </a:t>
            </a:r>
          </a:p>
          <a:p>
            <a:pPr marL="419100" indent="-419100" eaLnBrk="1" hangingPunct="1">
              <a:lnSpc>
                <a:spcPct val="90000"/>
              </a:lnSpc>
            </a:pPr>
            <a:r>
              <a:rPr lang="en-US" sz="1400"/>
              <a:t>Một tập phương thức với không hiện thực được gọi là ___. </a:t>
            </a:r>
          </a:p>
          <a:p>
            <a:pPr marL="419100" indent="-419100" eaLnBrk="1" hangingPunct="1"/>
            <a:r>
              <a:rPr lang="en-US" sz="1400"/>
              <a:t>Sự khác biệt chính của OOP so với lập trình cấu trúc?</a:t>
            </a:r>
          </a:p>
          <a:p>
            <a:pPr marL="419100" indent="-419100" eaLnBrk="1" hangingPunct="1"/>
            <a:r>
              <a:rPr lang="en-US" sz="1400"/>
              <a:t>Một đối tượng trong thế giới thực bao gồm:</a:t>
            </a:r>
          </a:p>
          <a:p>
            <a:pPr marL="419100" indent="-419100" eaLnBrk="1" hangingPunct="1"/>
            <a:r>
              <a:rPr lang="en-US" sz="1400"/>
              <a:t>Một đối tượng phần mềm bao gồm:</a:t>
            </a:r>
          </a:p>
          <a:p>
            <a:pPr marL="419100" indent="-419100" eaLnBrk="1" hangingPunct="1"/>
            <a:r>
              <a:rPr lang="en-US" sz="1400"/>
              <a:t>Thuộc tính của đối tượng được gọi là:</a:t>
            </a:r>
          </a:p>
          <a:p>
            <a:pPr marL="419100" indent="-419100" eaLnBrk="1" hangingPunct="1"/>
            <a:r>
              <a:rPr lang="en-US" sz="1400"/>
              <a:t>Phương thức đặc trưng của đối tượng được gọi là:</a:t>
            </a:r>
          </a:p>
          <a:p>
            <a:pPr marL="419100" indent="-419100" eaLnBrk="1" hangingPunct="1"/>
            <a:r>
              <a:rPr lang="en-US" sz="1400"/>
              <a:t>Trong lập trình biến class được xem là:</a:t>
            </a:r>
          </a:p>
          <a:p>
            <a:pPr marL="419100" indent="-419100" eaLnBrk="1" hangingPunct="1"/>
            <a:r>
              <a:rPr lang="en-US" sz="1400"/>
              <a:t>Điều gì xảy ra khi không có đa hình trong thừa kế:</a:t>
            </a:r>
          </a:p>
          <a:p>
            <a:pPr marL="419100" indent="-419100" eaLnBrk="1" hangingPunct="1"/>
            <a:r>
              <a:rPr lang="en-US" sz="1400"/>
              <a:t>Bạn nghĩ sao về phát biểu: Bao đóng hạn chế việc dùng lại và mở rộng hiện thực class</a:t>
            </a:r>
          </a:p>
          <a:p>
            <a:pPr marL="419100" indent="-419100" eaLnBrk="1" hangingPunct="1"/>
            <a:r>
              <a:rPr lang="en-US" sz="1400"/>
              <a:t>API đem lại những thuận lợi gì?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 hệ giữa các đối tượng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Có 3 quan hệ phổ biến nhất giữa các lớp là:</a:t>
            </a:r>
          </a:p>
          <a:p>
            <a:pPr marL="621792" lvl="2" indent="0">
              <a:buNone/>
            </a:pPr>
            <a:r>
              <a:rPr lang="en-US"/>
              <a:t>• Dependence(“uses–a”)</a:t>
            </a:r>
          </a:p>
          <a:p>
            <a:pPr marL="621792" lvl="2" indent="0">
              <a:buNone/>
            </a:pPr>
            <a:r>
              <a:rPr lang="en-US"/>
              <a:t>• Aggregation(“has–a”) </a:t>
            </a:r>
          </a:p>
          <a:p>
            <a:pPr marL="621792" lvl="2" indent="0">
              <a:buNone/>
            </a:pPr>
            <a:r>
              <a:rPr lang="en-US"/>
              <a:t>• Inheritance(“is–a”)</a:t>
            </a:r>
          </a:p>
        </p:txBody>
      </p:sp>
    </p:spTree>
    <p:extLst>
      <p:ext uri="{BB962C8B-B14F-4D97-AF65-F5344CB8AC3E}">
        <p14:creationId xmlns:p14="http://schemas.microsoft.com/office/powerpoint/2010/main" val="2987609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56" y="939006"/>
            <a:ext cx="8821749" cy="4155508"/>
          </a:xfrm>
        </p:spPr>
      </p:pic>
    </p:spTree>
    <p:extLst>
      <p:ext uri="{BB962C8B-B14F-4D97-AF65-F5344CB8AC3E}">
        <p14:creationId xmlns:p14="http://schemas.microsoft.com/office/powerpoint/2010/main" val="34447780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Dependence (“use-a”)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57475"/>
            <a:ext cx="8229600" cy="4114799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Course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thuộc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tính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tham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chiếu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Student.</a:t>
            </a:r>
          </a:p>
          <a:p>
            <a:pPr algn="just"/>
            <a:r>
              <a:rPr lang="en-US" dirty="0" err="1"/>
              <a:t>Lớp</a:t>
            </a:r>
            <a:r>
              <a:rPr lang="en-US" dirty="0"/>
              <a:t> Course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,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Student.</a:t>
            </a:r>
          </a:p>
          <a:p>
            <a:pPr algn="just"/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Course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Student.</a:t>
            </a:r>
          </a:p>
          <a:p>
            <a:pPr algn="just"/>
            <a:r>
              <a:rPr lang="en-US" dirty="0" err="1"/>
              <a:t>Lớp</a:t>
            </a:r>
            <a:r>
              <a:rPr lang="en-US" dirty="0"/>
              <a:t> Course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Student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.</a:t>
            </a:r>
          </a:p>
          <a:p>
            <a:pPr marL="36576" indent="0" algn="just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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Khi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 Course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sử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dụng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 Student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thì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 ta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nói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 Courser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phụ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thuộc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vào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sym typeface="Wingdings" pitchFamily="2" charset="2"/>
              </a:rPr>
              <a:t> Student.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600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1828800"/>
            <a:ext cx="1609725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Course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2971800" y="2105025"/>
            <a:ext cx="1752600" cy="0"/>
          </a:xfrm>
          <a:prstGeom prst="straightConnector1">
            <a:avLst/>
          </a:prstGeom>
          <a:ln w="28575"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937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 (“is-a”)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600200"/>
            <a:ext cx="117763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6673" y="3075709"/>
            <a:ext cx="117763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Teacher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3075709"/>
            <a:ext cx="117763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Student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715491" y="2514600"/>
            <a:ext cx="32073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0"/>
          </p:cNvCxnSpPr>
          <p:nvPr/>
        </p:nvCxnSpPr>
        <p:spPr>
          <a:xfrm>
            <a:off x="2715491" y="2514600"/>
            <a:ext cx="0" cy="561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6" idx="0"/>
          </p:cNvCxnSpPr>
          <p:nvPr/>
        </p:nvCxnSpPr>
        <p:spPr>
          <a:xfrm>
            <a:off x="5922818" y="2514600"/>
            <a:ext cx="0" cy="561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>
            <a:off x="4159827" y="2057400"/>
            <a:ext cx="173182" cy="1524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>
            <a:stCxn id="20" idx="3"/>
          </p:cNvCxnSpPr>
          <p:nvPr/>
        </p:nvCxnSpPr>
        <p:spPr>
          <a:xfrm>
            <a:off x="4246418" y="2209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600" y="4114800"/>
            <a:ext cx="7772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class Person { … }</a:t>
            </a:r>
          </a:p>
          <a:p>
            <a:endParaRPr lang="en-US"/>
          </a:p>
          <a:p>
            <a:r>
              <a:rPr lang="en-US"/>
              <a:t>class Teacher extends Person { … }</a:t>
            </a:r>
          </a:p>
          <a:p>
            <a:endParaRPr lang="en-US"/>
          </a:p>
          <a:p>
            <a:r>
              <a:rPr lang="en-US"/>
              <a:t>class Student extends Person { … }</a:t>
            </a:r>
          </a:p>
        </p:txBody>
      </p:sp>
    </p:spTree>
    <p:extLst>
      <p:ext uri="{BB962C8B-B14F-4D97-AF65-F5344CB8AC3E}">
        <p14:creationId xmlns:p14="http://schemas.microsoft.com/office/powerpoint/2010/main" val="67537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 (has-a)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5522" y="2852531"/>
            <a:ext cx="5791200" cy="28194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dirty="0"/>
              <a:t>class Teacher { }</a:t>
            </a:r>
          </a:p>
          <a:p>
            <a:pPr marL="36576" indent="0">
              <a:buNone/>
            </a:pPr>
            <a:endParaRPr lang="en-US" dirty="0"/>
          </a:p>
          <a:p>
            <a:pPr marL="36576" indent="0">
              <a:buNone/>
            </a:pPr>
            <a:r>
              <a:rPr lang="en-US" dirty="0"/>
              <a:t>class Department { </a:t>
            </a:r>
          </a:p>
          <a:p>
            <a:pPr marL="36576" indent="0">
              <a:buNone/>
            </a:pPr>
            <a:r>
              <a:rPr lang="en-US" dirty="0"/>
              <a:t>	List&lt;Teacher&gt; teachers;</a:t>
            </a:r>
          </a:p>
          <a:p>
            <a:pPr marL="36576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600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Teacher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1828800"/>
            <a:ext cx="1609725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Department</a:t>
            </a:r>
          </a:p>
        </p:txBody>
      </p:sp>
      <p:sp>
        <p:nvSpPr>
          <p:cNvPr id="7" name="Diamond 6"/>
          <p:cNvSpPr/>
          <p:nvPr/>
        </p:nvSpPr>
        <p:spPr>
          <a:xfrm>
            <a:off x="4495800" y="2028825"/>
            <a:ext cx="228600" cy="152400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7" idx="1"/>
            <a:endCxn id="4" idx="3"/>
          </p:cNvCxnSpPr>
          <p:nvPr/>
        </p:nvCxnSpPr>
        <p:spPr>
          <a:xfrm flipH="1">
            <a:off x="2971800" y="2105025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7519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Association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600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1828800"/>
            <a:ext cx="1609725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Order</a:t>
            </a:r>
          </a:p>
        </p:txBody>
      </p:sp>
      <p:cxnSp>
        <p:nvCxnSpPr>
          <p:cNvPr id="6" name="Straight Connector 5"/>
          <p:cNvCxnSpPr>
            <a:stCxn id="5" idx="1"/>
          </p:cNvCxnSpPr>
          <p:nvPr/>
        </p:nvCxnSpPr>
        <p:spPr>
          <a:xfrm flipH="1">
            <a:off x="2971800" y="2105025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71600" y="2971800"/>
            <a:ext cx="1600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Customer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400" y="2971800"/>
            <a:ext cx="1609725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AccountBank</a:t>
            </a:r>
          </a:p>
        </p:txBody>
      </p:sp>
      <p:cxnSp>
        <p:nvCxnSpPr>
          <p:cNvPr id="10" name="Straight Connector 9"/>
          <p:cNvCxnSpPr>
            <a:stCxn id="9" idx="1"/>
          </p:cNvCxnSpPr>
          <p:nvPr/>
        </p:nvCxnSpPr>
        <p:spPr>
          <a:xfrm flipH="1">
            <a:off x="2971800" y="3248025"/>
            <a:ext cx="1752600" cy="0"/>
          </a:xfrm>
          <a:prstGeom prst="line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9092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Chỉ số mối kết hợp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 : chỉ 1</a:t>
            </a:r>
          </a:p>
          <a:p>
            <a:r>
              <a:rPr lang="en-US"/>
              <a:t>* : không hoặc nhiều</a:t>
            </a:r>
          </a:p>
          <a:p>
            <a:r>
              <a:rPr lang="en-US"/>
              <a:t>2..4: từ 2 đến 4</a:t>
            </a:r>
          </a:p>
          <a:p>
            <a:r>
              <a:rPr lang="en-US"/>
              <a:t>2..*: từ 2 trở lên</a:t>
            </a:r>
          </a:p>
        </p:txBody>
      </p:sp>
    </p:spTree>
    <p:extLst>
      <p:ext uri="{BB962C8B-B14F-4D97-AF65-F5344CB8AC3E}">
        <p14:creationId xmlns:p14="http://schemas.microsoft.com/office/powerpoint/2010/main" val="758666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Chỉ số mối kết hợp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3226580" cy="1581151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dirty="0"/>
              <a:t>class Item { </a:t>
            </a:r>
          </a:p>
          <a:p>
            <a:pPr marL="36576" indent="0">
              <a:buNone/>
            </a:pPr>
            <a:r>
              <a:rPr lang="en-US" dirty="0"/>
              <a:t>	Order </a:t>
            </a:r>
            <a:r>
              <a:rPr lang="en-US" dirty="0" err="1">
                <a:solidFill>
                  <a:srgbClr val="FF0000"/>
                </a:solidFill>
              </a:rPr>
              <a:t>order</a:t>
            </a:r>
            <a:r>
              <a:rPr lang="en-US" dirty="0"/>
              <a:t>;</a:t>
            </a:r>
          </a:p>
          <a:p>
            <a:pPr marL="36576" indent="0">
              <a:buNone/>
            </a:pPr>
            <a:r>
              <a:rPr lang="en-US" dirty="0"/>
              <a:t>}</a:t>
            </a:r>
          </a:p>
          <a:p>
            <a:pPr marL="36576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600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1828800"/>
            <a:ext cx="1609725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Order</a:t>
            </a:r>
          </a:p>
        </p:txBody>
      </p:sp>
      <p:cxnSp>
        <p:nvCxnSpPr>
          <p:cNvPr id="6" name="Straight Connector 5"/>
          <p:cNvCxnSpPr>
            <a:stCxn id="5" idx="1"/>
          </p:cNvCxnSpPr>
          <p:nvPr/>
        </p:nvCxnSpPr>
        <p:spPr>
          <a:xfrm flipH="1">
            <a:off x="2971800" y="2105025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71800" y="1735693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1025" y="17240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A6F37-2245-3379-40EE-D358F91BA35E}"/>
              </a:ext>
            </a:extLst>
          </p:cNvPr>
          <p:cNvSpPr txBox="1"/>
          <p:nvPr/>
        </p:nvSpPr>
        <p:spPr>
          <a:xfrm>
            <a:off x="2992269" y="218119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items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B95445-496F-1E05-E3C9-B16509F640A3}"/>
              </a:ext>
            </a:extLst>
          </p:cNvPr>
          <p:cNvSpPr txBox="1"/>
          <p:nvPr/>
        </p:nvSpPr>
        <p:spPr>
          <a:xfrm>
            <a:off x="3967832" y="213098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order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CD3E05-05E2-9305-EA57-E402506FC19D}"/>
              </a:ext>
            </a:extLst>
          </p:cNvPr>
          <p:cNvSpPr txBox="1">
            <a:spLocks/>
          </p:cNvSpPr>
          <p:nvPr/>
        </p:nvSpPr>
        <p:spPr bwMode="auto">
          <a:xfrm>
            <a:off x="3967832" y="3357088"/>
            <a:ext cx="4085860" cy="158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2pPr>
            <a:lvl3pPr marL="9715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14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4pPr>
            <a:lvl5pPr marL="16002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5pPr>
            <a:lvl6pPr marL="20574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6pPr>
            <a:lvl7pPr marL="25146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7pPr>
            <a:lvl8pPr marL="29718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8pPr>
            <a:lvl9pPr marL="34290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9pPr>
          </a:lstStyle>
          <a:p>
            <a:pPr marL="36576" indent="0">
              <a:buFont typeface="Wingdings" pitchFamily="2" charset="2"/>
              <a:buNone/>
            </a:pPr>
            <a:r>
              <a:rPr lang="en-US" kern="0" dirty="0"/>
              <a:t>class Order { </a:t>
            </a:r>
          </a:p>
          <a:p>
            <a:pPr marL="36576" indent="0">
              <a:buFont typeface="Wingdings" pitchFamily="2" charset="2"/>
              <a:buNone/>
            </a:pPr>
            <a:r>
              <a:rPr lang="en-US" kern="0" dirty="0"/>
              <a:t>	List&lt;Item&gt; </a:t>
            </a:r>
            <a:r>
              <a:rPr lang="en-US" kern="0" dirty="0">
                <a:solidFill>
                  <a:srgbClr val="FF0000"/>
                </a:solidFill>
              </a:rPr>
              <a:t>items</a:t>
            </a:r>
            <a:r>
              <a:rPr lang="en-US" kern="0" dirty="0"/>
              <a:t>;</a:t>
            </a:r>
          </a:p>
          <a:p>
            <a:pPr marL="36576" indent="0">
              <a:buFont typeface="Wingdings" pitchFamily="2" charset="2"/>
              <a:buNone/>
            </a:pPr>
            <a:r>
              <a:rPr lang="en-US" kern="0" dirty="0"/>
              <a:t>}</a:t>
            </a:r>
          </a:p>
          <a:p>
            <a:endParaRPr lang="en-US" kern="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90F434-5000-8A08-2911-7A611170170F}"/>
              </a:ext>
            </a:extLst>
          </p:cNvPr>
          <p:cNvCxnSpPr/>
          <p:nvPr/>
        </p:nvCxnSpPr>
        <p:spPr bwMode="auto">
          <a:xfrm flipV="1">
            <a:off x="2716696" y="2500313"/>
            <a:ext cx="1391478" cy="92868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67C8C8-C824-3D08-6C42-9EE1EB96DC59}"/>
              </a:ext>
            </a:extLst>
          </p:cNvPr>
          <p:cNvCxnSpPr>
            <a:cxnSpLocks/>
            <a:endCxn id="9" idx="2"/>
          </p:cNvCxnSpPr>
          <p:nvPr/>
        </p:nvCxnSpPr>
        <p:spPr bwMode="auto">
          <a:xfrm flipH="1" flipV="1">
            <a:off x="3360319" y="2550527"/>
            <a:ext cx="3438046" cy="139282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6576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7467600" cy="3306763"/>
          </a:xfrm>
        </p:spPr>
        <p:txBody>
          <a:bodyPr/>
          <a:lstStyle/>
          <a:p>
            <a:pPr marL="36576" indent="0">
              <a:buNone/>
            </a:pPr>
            <a:r>
              <a:rPr lang="en-US" dirty="0"/>
              <a:t>class Customer {</a:t>
            </a:r>
          </a:p>
          <a:p>
            <a:pPr marL="36576" indent="0">
              <a:buNone/>
            </a:pPr>
            <a:r>
              <a:rPr lang="en-US" dirty="0"/>
              <a:t>	List&lt;</a:t>
            </a:r>
            <a:r>
              <a:rPr lang="en-US" dirty="0" err="1"/>
              <a:t>AccountBank</a:t>
            </a:r>
            <a:r>
              <a:rPr lang="en-US" dirty="0"/>
              <a:t>&gt; </a:t>
            </a:r>
            <a:r>
              <a:rPr lang="en-US" dirty="0" err="1"/>
              <a:t>accs</a:t>
            </a:r>
            <a:r>
              <a:rPr lang="en-US" dirty="0"/>
              <a:t>;</a:t>
            </a:r>
          </a:p>
          <a:p>
            <a:pPr marL="36576" indent="0">
              <a:buNone/>
            </a:pPr>
            <a:r>
              <a:rPr lang="en-US" dirty="0"/>
              <a:t>}</a:t>
            </a:r>
          </a:p>
          <a:p>
            <a:pPr marL="36576" indent="0">
              <a:buNone/>
            </a:pPr>
            <a:endParaRPr lang="en-US" dirty="0"/>
          </a:p>
          <a:p>
            <a:pPr marL="36576" indent="0">
              <a:buNone/>
            </a:pPr>
            <a:r>
              <a:rPr lang="en-US" dirty="0"/>
              <a:t>class </a:t>
            </a:r>
            <a:r>
              <a:rPr lang="en-US" dirty="0" err="1"/>
              <a:t>AccountBank</a:t>
            </a:r>
            <a:r>
              <a:rPr lang="en-US" dirty="0"/>
              <a:t> {</a:t>
            </a:r>
          </a:p>
          <a:p>
            <a:pPr marL="36576" indent="0">
              <a:buNone/>
            </a:pPr>
            <a:r>
              <a:rPr lang="en-US" dirty="0"/>
              <a:t>}</a:t>
            </a:r>
          </a:p>
          <a:p>
            <a:pPr marL="36576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71600" y="1676400"/>
            <a:ext cx="1600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1676400"/>
            <a:ext cx="1609725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AccountBank</a:t>
            </a:r>
          </a:p>
        </p:txBody>
      </p:sp>
      <p:cxnSp>
        <p:nvCxnSpPr>
          <p:cNvPr id="6" name="Straight Connector 5"/>
          <p:cNvCxnSpPr>
            <a:stCxn id="5" idx="1"/>
          </p:cNvCxnSpPr>
          <p:nvPr/>
        </p:nvCxnSpPr>
        <p:spPr>
          <a:xfrm flipH="1">
            <a:off x="2971800" y="1952625"/>
            <a:ext cx="1752600" cy="0"/>
          </a:xfrm>
          <a:prstGeom prst="line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71800" y="15584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1494" y="1583293"/>
            <a:ext cx="2936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F30C5F-2668-52EB-4FA2-BB553F72007F}"/>
              </a:ext>
            </a:extLst>
          </p:cNvPr>
          <p:cNvSpPr txBox="1"/>
          <p:nvPr/>
        </p:nvSpPr>
        <p:spPr>
          <a:xfrm>
            <a:off x="4085014" y="2019122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accs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1F8482-487D-8C76-0DF9-B09E75B17BE0}"/>
              </a:ext>
            </a:extLst>
          </p:cNvPr>
          <p:cNvCxnSpPr>
            <a:cxnSpLocks/>
            <a:endCxn id="9" idx="2"/>
          </p:cNvCxnSpPr>
          <p:nvPr/>
        </p:nvCxnSpPr>
        <p:spPr bwMode="auto">
          <a:xfrm flipV="1">
            <a:off x="4191000" y="2357676"/>
            <a:ext cx="213974" cy="107132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78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1"/>
            <a:ext cx="3954294" cy="1553816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dirty="0"/>
              <a:t>class Employee {</a:t>
            </a:r>
          </a:p>
          <a:p>
            <a:pPr marL="36576" indent="0">
              <a:buNone/>
            </a:pPr>
            <a:r>
              <a:rPr lang="en-US" dirty="0"/>
              <a:t>	List&lt;Project&gt; pros;</a:t>
            </a:r>
          </a:p>
          <a:p>
            <a:pPr marL="36576" indent="0">
              <a:buNone/>
            </a:pPr>
            <a:r>
              <a:rPr lang="en-US" dirty="0"/>
              <a:t>}</a:t>
            </a:r>
          </a:p>
          <a:p>
            <a:pPr marL="36576" indent="0">
              <a:buNone/>
            </a:pPr>
            <a:endParaRPr lang="en-US" dirty="0"/>
          </a:p>
          <a:p>
            <a:pPr marL="36576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71600" y="1676400"/>
            <a:ext cx="1600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Employee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1676400"/>
            <a:ext cx="1609725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Project</a:t>
            </a:r>
          </a:p>
        </p:txBody>
      </p:sp>
      <p:cxnSp>
        <p:nvCxnSpPr>
          <p:cNvPr id="6" name="Straight Connector 5"/>
          <p:cNvCxnSpPr>
            <a:stCxn id="5" idx="1"/>
          </p:cNvCxnSpPr>
          <p:nvPr/>
        </p:nvCxnSpPr>
        <p:spPr>
          <a:xfrm flipH="1">
            <a:off x="2971800" y="1952625"/>
            <a:ext cx="1752600" cy="0"/>
          </a:xfrm>
          <a:prstGeom prst="line">
            <a:avLst/>
          </a:prstGeom>
          <a:ln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71800" y="1558409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1494" y="1583293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6F39B-D16D-718D-8313-8471C437025F}"/>
              </a:ext>
            </a:extLst>
          </p:cNvPr>
          <p:cNvSpPr txBox="1"/>
          <p:nvPr/>
        </p:nvSpPr>
        <p:spPr>
          <a:xfrm>
            <a:off x="2971800" y="202296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ems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5C9DD-2FCA-7D59-ABFA-E9176894B692}"/>
              </a:ext>
            </a:extLst>
          </p:cNvPr>
          <p:cNvSpPr txBox="1"/>
          <p:nvPr/>
        </p:nvSpPr>
        <p:spPr>
          <a:xfrm>
            <a:off x="4103717" y="1952625"/>
            <a:ext cx="628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B91A601-3FD9-E7A2-0E89-3DAE35C9244A}"/>
              </a:ext>
            </a:extLst>
          </p:cNvPr>
          <p:cNvSpPr txBox="1">
            <a:spLocks/>
          </p:cNvSpPr>
          <p:nvPr/>
        </p:nvSpPr>
        <p:spPr bwMode="auto">
          <a:xfrm>
            <a:off x="4418066" y="3501436"/>
            <a:ext cx="3954294" cy="15767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2pPr>
            <a:lvl3pPr marL="9715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14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4pPr>
            <a:lvl5pPr marL="16002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5pPr>
            <a:lvl6pPr marL="20574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6pPr>
            <a:lvl7pPr marL="25146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7pPr>
            <a:lvl8pPr marL="29718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8pPr>
            <a:lvl9pPr marL="342900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9pPr>
          </a:lstStyle>
          <a:p>
            <a:pPr marL="36576" indent="0">
              <a:buFont typeface="Wingdings" pitchFamily="2" charset="2"/>
              <a:buNone/>
            </a:pPr>
            <a:r>
              <a:rPr lang="en-US" kern="0" dirty="0"/>
              <a:t>class Project {</a:t>
            </a:r>
          </a:p>
          <a:p>
            <a:pPr marL="36576" indent="0">
              <a:buFont typeface="Wingdings" pitchFamily="2" charset="2"/>
              <a:buNone/>
            </a:pPr>
            <a:r>
              <a:rPr lang="en-US" kern="0" dirty="0"/>
              <a:t>	List&lt;Employee&gt; </a:t>
            </a:r>
            <a:r>
              <a:rPr lang="en-US" kern="0" dirty="0" err="1"/>
              <a:t>ems</a:t>
            </a:r>
            <a:r>
              <a:rPr lang="en-US" kern="0" dirty="0"/>
              <a:t>;</a:t>
            </a:r>
          </a:p>
          <a:p>
            <a:pPr marL="36576" indent="0">
              <a:buFont typeface="Wingdings" pitchFamily="2" charset="2"/>
              <a:buNone/>
            </a:pPr>
            <a:r>
              <a:rPr lang="en-US" kern="0" dirty="0"/>
              <a:t>}</a:t>
            </a:r>
          </a:p>
          <a:p>
            <a:pPr marL="36576" indent="0">
              <a:buFont typeface="Wingdings" pitchFamily="2" charset="2"/>
              <a:buNone/>
            </a:pPr>
            <a:endParaRPr lang="en-US" kern="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5FDEE3-631E-B064-36DD-FD12B3A09D4B}"/>
              </a:ext>
            </a:extLst>
          </p:cNvPr>
          <p:cNvCxnSpPr>
            <a:cxnSpLocks/>
            <a:endCxn id="10" idx="2"/>
          </p:cNvCxnSpPr>
          <p:nvPr/>
        </p:nvCxnSpPr>
        <p:spPr bwMode="auto">
          <a:xfrm flipV="1">
            <a:off x="3405809" y="2291179"/>
            <a:ext cx="1012257" cy="11378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C26AA4-6914-AF2B-0EDC-7C1F6600863B}"/>
              </a:ext>
            </a:extLst>
          </p:cNvPr>
          <p:cNvCxnSpPr>
            <a:cxnSpLocks/>
            <a:endCxn id="9" idx="3"/>
          </p:cNvCxnSpPr>
          <p:nvPr/>
        </p:nvCxnSpPr>
        <p:spPr bwMode="auto">
          <a:xfrm flipH="1" flipV="1">
            <a:off x="3566835" y="2192238"/>
            <a:ext cx="4013408" cy="182731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491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83595"/>
            <a:ext cx="5029200" cy="2936205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dirty="0"/>
              <a:t>class Order {</a:t>
            </a:r>
          </a:p>
          <a:p>
            <a:pPr marL="36576" indent="0">
              <a:buNone/>
            </a:pPr>
            <a:r>
              <a:rPr lang="en-US" sz="2400" dirty="0"/>
              <a:t>	</a:t>
            </a:r>
            <a:r>
              <a:rPr lang="en-US" sz="2800" dirty="0"/>
              <a:t>List&lt;</a:t>
            </a:r>
            <a:r>
              <a:rPr lang="en-US" sz="2800" dirty="0" err="1"/>
              <a:t>OrderItem</a:t>
            </a:r>
            <a:r>
              <a:rPr lang="en-US" sz="2400" dirty="0"/>
              <a:t>&gt; items;</a:t>
            </a:r>
          </a:p>
          <a:p>
            <a:pPr marL="36576" indent="0">
              <a:buNone/>
            </a:pPr>
            <a:r>
              <a:rPr lang="en-US" sz="2400" dirty="0"/>
              <a:t>}</a:t>
            </a:r>
          </a:p>
          <a:p>
            <a:pPr marL="36576" indent="0">
              <a:buNone/>
            </a:pPr>
            <a:r>
              <a:rPr lang="en-US" sz="2400" dirty="0"/>
              <a:t>class Product {</a:t>
            </a:r>
          </a:p>
          <a:p>
            <a:pPr marL="36576" indent="0">
              <a:buNone/>
            </a:pPr>
            <a:r>
              <a:rPr lang="en-US" sz="2400" dirty="0"/>
              <a:t>	List&lt;</a:t>
            </a:r>
            <a:r>
              <a:rPr lang="en-US" sz="2400" dirty="0" err="1"/>
              <a:t>OrderItem</a:t>
            </a:r>
            <a:r>
              <a:rPr lang="en-US" sz="2400" dirty="0"/>
              <a:t>&gt; items;</a:t>
            </a:r>
          </a:p>
          <a:p>
            <a:pPr marL="36576" indent="0">
              <a:buNone/>
            </a:pPr>
            <a:r>
              <a:rPr lang="en-US" sz="2400" dirty="0"/>
              <a:t>}</a:t>
            </a:r>
          </a:p>
          <a:p>
            <a:pPr marL="36576" indent="0">
              <a:buNone/>
            </a:pP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371600" y="851416"/>
            <a:ext cx="1600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851416"/>
            <a:ext cx="1609725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Product</a:t>
            </a:r>
          </a:p>
        </p:txBody>
      </p:sp>
      <p:cxnSp>
        <p:nvCxnSpPr>
          <p:cNvPr id="6" name="Straight Connector 5"/>
          <p:cNvCxnSpPr>
            <a:stCxn id="5" idx="1"/>
          </p:cNvCxnSpPr>
          <p:nvPr/>
        </p:nvCxnSpPr>
        <p:spPr>
          <a:xfrm flipH="1">
            <a:off x="2971800" y="1127641"/>
            <a:ext cx="1752600" cy="0"/>
          </a:xfrm>
          <a:prstGeom prst="line">
            <a:avLst/>
          </a:prstGeom>
          <a:ln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71800" y="838200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1494" y="863084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848100" y="1127641"/>
            <a:ext cx="0" cy="57917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36393" y="1716345"/>
            <a:ext cx="1223410" cy="107721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OrderItem</a:t>
            </a:r>
          </a:p>
          <a:p>
            <a:r>
              <a:rPr lang="en-US"/>
              <a:t>- qty: int</a:t>
            </a:r>
          </a:p>
          <a:p>
            <a:r>
              <a:rPr lang="en-US"/>
              <a:t>- price: int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3236394" y="2133600"/>
            <a:ext cx="12234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 txBox="1">
            <a:spLocks/>
          </p:cNvSpPr>
          <p:nvPr/>
        </p:nvSpPr>
        <p:spPr>
          <a:xfrm>
            <a:off x="5181600" y="2590800"/>
            <a:ext cx="3581400" cy="2590799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>
            <a:normAutofit lnSpcReduction="10000"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" indent="0">
              <a:buFont typeface="Wingdings 2"/>
              <a:buNone/>
            </a:pPr>
            <a:r>
              <a:rPr lang="en-US" sz="2400" dirty="0"/>
              <a:t>class </a:t>
            </a:r>
            <a:r>
              <a:rPr lang="en-US" sz="2400" dirty="0" err="1"/>
              <a:t>OrderItem</a:t>
            </a:r>
            <a:r>
              <a:rPr lang="en-US" sz="2400" dirty="0"/>
              <a:t> {</a:t>
            </a:r>
          </a:p>
          <a:p>
            <a:pPr marL="36576" indent="0">
              <a:buFont typeface="Wingdings 2"/>
              <a:buNone/>
            </a:pPr>
            <a:r>
              <a:rPr lang="en-US" sz="2400" dirty="0"/>
              <a:t>	Order </a:t>
            </a:r>
            <a:r>
              <a:rPr lang="en-US" sz="2400" dirty="0" err="1">
                <a:solidFill>
                  <a:srgbClr val="FF0000"/>
                </a:solidFill>
              </a:rPr>
              <a:t>order</a:t>
            </a:r>
            <a:r>
              <a:rPr lang="en-US" sz="2400" dirty="0"/>
              <a:t>;</a:t>
            </a:r>
          </a:p>
          <a:p>
            <a:pPr marL="36576" indent="0">
              <a:buFont typeface="Wingdings 2"/>
              <a:buNone/>
            </a:pPr>
            <a:r>
              <a:rPr lang="en-US" sz="2400" dirty="0"/>
              <a:t>	Product pro;</a:t>
            </a:r>
          </a:p>
          <a:p>
            <a:pPr marL="36576" indent="0">
              <a:buFont typeface="Wingdings 2"/>
              <a:buNone/>
            </a:pPr>
            <a:r>
              <a:rPr lang="en-US" sz="2400" dirty="0"/>
              <a:t>	int qty;</a:t>
            </a:r>
          </a:p>
          <a:p>
            <a:pPr marL="36576" indent="0">
              <a:buFont typeface="Wingdings 2"/>
              <a:buNone/>
            </a:pPr>
            <a:r>
              <a:rPr lang="en-US" sz="2400" dirty="0"/>
              <a:t>	int price;</a:t>
            </a:r>
          </a:p>
          <a:p>
            <a:pPr marL="36576" indent="0">
              <a:buFont typeface="Wingdings 2"/>
              <a:buNone/>
            </a:pPr>
            <a:r>
              <a:rPr lang="en-US" sz="2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4C727-C137-ABE0-C4C8-6ACED331117A}"/>
              </a:ext>
            </a:extLst>
          </p:cNvPr>
          <p:cNvSpPr txBox="1"/>
          <p:nvPr/>
        </p:nvSpPr>
        <p:spPr>
          <a:xfrm>
            <a:off x="3012725" y="1131595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order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DB72BE-0B4D-AD8C-4048-1AC9A4B8DB04}"/>
              </a:ext>
            </a:extLst>
          </p:cNvPr>
          <p:cNvSpPr txBox="1"/>
          <p:nvPr/>
        </p:nvSpPr>
        <p:spPr>
          <a:xfrm>
            <a:off x="4087619" y="1118928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pro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2A943-FF7C-5A1F-916D-991CCE0E0891}"/>
              </a:ext>
            </a:extLst>
          </p:cNvPr>
          <p:cNvSpPr txBox="1"/>
          <p:nvPr/>
        </p:nvSpPr>
        <p:spPr>
          <a:xfrm>
            <a:off x="3803830" y="1423713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items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317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2055" y="4241801"/>
            <a:ext cx="1447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0755" y="2717800"/>
            <a:ext cx="1447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800" y="2717800"/>
            <a:ext cx="1447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228" y="4241801"/>
            <a:ext cx="1447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0" y="4241801"/>
            <a:ext cx="1447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055" y="5765801"/>
            <a:ext cx="1447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5795" y="5765801"/>
            <a:ext cx="1589809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WarrantyCard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75955" y="3708401"/>
            <a:ext cx="19361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4" idx="0"/>
          </p:cNvCxnSpPr>
          <p:nvPr/>
        </p:nvCxnSpPr>
        <p:spPr>
          <a:xfrm>
            <a:off x="1575955" y="3708401"/>
            <a:ext cx="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512128" y="3708401"/>
            <a:ext cx="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2482561" y="3175000"/>
            <a:ext cx="244187" cy="152401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17" idx="3"/>
          </p:cNvCxnSpPr>
          <p:nvPr/>
        </p:nvCxnSpPr>
        <p:spPr>
          <a:xfrm flipH="1">
            <a:off x="2604654" y="3327401"/>
            <a:ext cx="1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4" idx="2"/>
            <a:endCxn id="10" idx="0"/>
          </p:cNvCxnSpPr>
          <p:nvPr/>
        </p:nvCxnSpPr>
        <p:spPr>
          <a:xfrm>
            <a:off x="1575955" y="4699001"/>
            <a:ext cx="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600700" y="4699001"/>
            <a:ext cx="0" cy="106680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572990" y="3175000"/>
            <a:ext cx="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5" idx="3"/>
            <a:endCxn id="6" idx="1"/>
          </p:cNvCxnSpPr>
          <p:nvPr/>
        </p:nvCxnSpPr>
        <p:spPr>
          <a:xfrm>
            <a:off x="3328555" y="2946400"/>
            <a:ext cx="154824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endCxn id="8" idx="1"/>
          </p:cNvCxnSpPr>
          <p:nvPr/>
        </p:nvCxnSpPr>
        <p:spPr>
          <a:xfrm>
            <a:off x="5572990" y="3675044"/>
            <a:ext cx="1846120" cy="3335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31669" y="26416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7669" y="47106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4555" y="5396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5955" y="4699001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5955" y="5396469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0436" y="2627746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699" y="3148569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0699" y="3858613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7419110" y="3098801"/>
            <a:ext cx="1447800" cy="1219200"/>
            <a:chOff x="6909955" y="1797626"/>
            <a:chExt cx="1447800" cy="1219200"/>
          </a:xfrm>
        </p:grpSpPr>
        <p:sp>
          <p:nvSpPr>
            <p:cNvPr id="8" name="Rectangle 7"/>
            <p:cNvSpPr/>
            <p:nvPr/>
          </p:nvSpPr>
          <p:spPr>
            <a:xfrm>
              <a:off x="6909955" y="1797626"/>
              <a:ext cx="1447800" cy="1219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>
                  <a:solidFill>
                    <a:schemeClr val="tx1"/>
                  </a:solidFill>
                </a:rPr>
                <a:t>OrderItem</a:t>
              </a:r>
            </a:p>
            <a:p>
              <a:r>
                <a:rPr lang="en-US">
                  <a:solidFill>
                    <a:schemeClr val="tx1"/>
                  </a:solidFill>
                </a:rPr>
                <a:t>qty: int</a:t>
              </a:r>
            </a:p>
            <a:p>
              <a:r>
                <a:rPr lang="en-US">
                  <a:solidFill>
                    <a:schemeClr val="tx1"/>
                  </a:solidFill>
                </a:rPr>
                <a:t>price: double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6909955" y="2286000"/>
              <a:ext cx="14478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A2B6A64-B202-8E70-6D4C-9465DFE33F2B}"/>
              </a:ext>
            </a:extLst>
          </p:cNvPr>
          <p:cNvSpPr/>
          <p:nvPr/>
        </p:nvSpPr>
        <p:spPr>
          <a:xfrm>
            <a:off x="4694414" y="384313"/>
            <a:ext cx="2721232" cy="1359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Truutuong1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&lt;&lt;abstract&gt;&gt;</a:t>
            </a:r>
          </a:p>
          <a:p>
            <a:r>
              <a:rPr lang="en-US" dirty="0">
                <a:solidFill>
                  <a:schemeClr val="tx1"/>
                </a:solidFill>
              </a:rPr>
              <a:t>abstract void gd2()</a:t>
            </a:r>
          </a:p>
          <a:p>
            <a:r>
              <a:rPr lang="en-US" dirty="0">
                <a:solidFill>
                  <a:schemeClr val="tx1"/>
                </a:solidFill>
              </a:rPr>
              <a:t>void gd3()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6C02A9-2BF7-B9E5-4CDF-276A0178EFF4}"/>
              </a:ext>
            </a:extLst>
          </p:cNvPr>
          <p:cNvSpPr/>
          <p:nvPr/>
        </p:nvSpPr>
        <p:spPr>
          <a:xfrm>
            <a:off x="1728354" y="802068"/>
            <a:ext cx="1752600" cy="9358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Giaodien1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&lt;&lt;interface&gt;&gt;</a:t>
            </a:r>
          </a:p>
          <a:p>
            <a:r>
              <a:rPr lang="en-US" dirty="0">
                <a:solidFill>
                  <a:schemeClr val="tx1"/>
                </a:solidFill>
              </a:rPr>
              <a:t>void gd1()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4854CC3-8ACB-A755-85DC-17F99B892B4D}"/>
              </a:ext>
            </a:extLst>
          </p:cNvPr>
          <p:cNvSpPr/>
          <p:nvPr/>
        </p:nvSpPr>
        <p:spPr>
          <a:xfrm>
            <a:off x="2485231" y="1732546"/>
            <a:ext cx="244187" cy="152401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495A9F-7A59-4D39-3A97-562EEA2E8811}"/>
              </a:ext>
            </a:extLst>
          </p:cNvPr>
          <p:cNvCxnSpPr>
            <a:stCxn id="20" idx="3"/>
            <a:endCxn id="5" idx="0"/>
          </p:cNvCxnSpPr>
          <p:nvPr/>
        </p:nvCxnSpPr>
        <p:spPr>
          <a:xfrm flipH="1">
            <a:off x="2604655" y="1884947"/>
            <a:ext cx="2670" cy="83285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97DE6DF1-DB0D-3D7E-DD2B-839FAD1E8696}"/>
              </a:ext>
            </a:extLst>
          </p:cNvPr>
          <p:cNvSpPr/>
          <p:nvPr/>
        </p:nvSpPr>
        <p:spPr>
          <a:xfrm>
            <a:off x="5495131" y="1768949"/>
            <a:ext cx="244187" cy="152401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7A804F-9B6A-0065-AFBC-0B97BC187200}"/>
              </a:ext>
            </a:extLst>
          </p:cNvPr>
          <p:cNvCxnSpPr>
            <a:stCxn id="36" idx="3"/>
          </p:cNvCxnSpPr>
          <p:nvPr/>
        </p:nvCxnSpPr>
        <p:spPr>
          <a:xfrm flipH="1">
            <a:off x="5614555" y="1921350"/>
            <a:ext cx="2670" cy="83285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2FD9364-04CB-A9DC-920F-256AA33F117B}"/>
              </a:ext>
            </a:extLst>
          </p:cNvPr>
          <p:cNvSpPr/>
          <p:nvPr/>
        </p:nvSpPr>
        <p:spPr>
          <a:xfrm rot="17565115">
            <a:off x="3008975" y="1764207"/>
            <a:ext cx="244187" cy="152401"/>
          </a:xfrm>
          <a:prstGeom prst="triangl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BB5E7F-2FA8-656E-079C-BD05AE2D1649}"/>
              </a:ext>
            </a:extLst>
          </p:cNvPr>
          <p:cNvCxnSpPr>
            <a:cxnSpLocks/>
            <a:stCxn id="38" idx="3"/>
            <a:endCxn id="6" idx="0"/>
          </p:cNvCxnSpPr>
          <p:nvPr/>
        </p:nvCxnSpPr>
        <p:spPr>
          <a:xfrm>
            <a:off x="3201340" y="1869877"/>
            <a:ext cx="2399360" cy="84792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742872B-AF74-7E20-A5EF-79E66CBEDC88}"/>
              </a:ext>
            </a:extLst>
          </p:cNvPr>
          <p:cNvSpPr txBox="1"/>
          <p:nvPr/>
        </p:nvSpPr>
        <p:spPr>
          <a:xfrm>
            <a:off x="670176" y="4760556"/>
            <a:ext cx="941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highlight>
                  <a:srgbClr val="FFFF00"/>
                </a:highlight>
              </a:rPr>
              <a:t>ds_su_kien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B32B8C-525D-DFF4-62F8-BC9B96318B19}"/>
              </a:ext>
            </a:extLst>
          </p:cNvPr>
          <p:cNvSpPr txBox="1"/>
          <p:nvPr/>
        </p:nvSpPr>
        <p:spPr>
          <a:xfrm>
            <a:off x="520701" y="5467670"/>
            <a:ext cx="10552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highlight>
                  <a:srgbClr val="FF00FF"/>
                </a:highlight>
              </a:rPr>
              <a:t>ds_khach_moi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518719-B527-F1B3-5D77-606CFD01DF3E}"/>
              </a:ext>
            </a:extLst>
          </p:cNvPr>
          <p:cNvSpPr txBox="1"/>
          <p:nvPr/>
        </p:nvSpPr>
        <p:spPr>
          <a:xfrm>
            <a:off x="93736" y="296445"/>
            <a:ext cx="41056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Casestudy</a:t>
            </a:r>
            <a:r>
              <a:rPr lang="en-US" b="1" dirty="0"/>
              <a:t>: </a:t>
            </a:r>
            <a:r>
              <a:rPr lang="en-US" b="1" dirty="0" err="1"/>
              <a:t>Khai</a:t>
            </a:r>
            <a:r>
              <a:rPr lang="en-US" b="1" dirty="0"/>
              <a:t> </a:t>
            </a:r>
            <a:r>
              <a:rPr lang="en-US" b="1" dirty="0" err="1"/>
              <a:t>báo</a:t>
            </a:r>
            <a:r>
              <a:rPr lang="en-US" b="1" dirty="0"/>
              <a:t> </a:t>
            </a:r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62DC5-81EE-3F94-2376-47480A531B6D}"/>
              </a:ext>
            </a:extLst>
          </p:cNvPr>
          <p:cNvSpPr txBox="1"/>
          <p:nvPr/>
        </p:nvSpPr>
        <p:spPr>
          <a:xfrm>
            <a:off x="3261743" y="2891424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D418E0-D974-F8B0-5D75-72B74632149F}"/>
              </a:ext>
            </a:extLst>
          </p:cNvPr>
          <p:cNvSpPr txBox="1"/>
          <p:nvPr/>
        </p:nvSpPr>
        <p:spPr>
          <a:xfrm>
            <a:off x="4160130" y="2912645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32D688-6C83-8D12-9A2C-4CE3A7544419}"/>
              </a:ext>
            </a:extLst>
          </p:cNvPr>
          <p:cNvSpPr txBox="1"/>
          <p:nvPr/>
        </p:nvSpPr>
        <p:spPr>
          <a:xfrm>
            <a:off x="5069326" y="4648766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64F26D-5025-7EC3-F26A-96DB96368440}"/>
              </a:ext>
            </a:extLst>
          </p:cNvPr>
          <p:cNvSpPr txBox="1"/>
          <p:nvPr/>
        </p:nvSpPr>
        <p:spPr>
          <a:xfrm>
            <a:off x="4943377" y="3166365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D19932-D4EB-C1B8-5688-14EAF6538B9F}"/>
              </a:ext>
            </a:extLst>
          </p:cNvPr>
          <p:cNvSpPr txBox="1"/>
          <p:nvPr/>
        </p:nvSpPr>
        <p:spPr>
          <a:xfrm>
            <a:off x="5077914" y="3869042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A5FE08-5C3D-D8FD-39FF-C721818546FE}"/>
              </a:ext>
            </a:extLst>
          </p:cNvPr>
          <p:cNvSpPr txBox="1"/>
          <p:nvPr/>
        </p:nvSpPr>
        <p:spPr>
          <a:xfrm>
            <a:off x="6759271" y="3671450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items</a:t>
            </a:r>
          </a:p>
        </p:txBody>
      </p:sp>
    </p:spTree>
    <p:extLst>
      <p:ext uri="{BB962C8B-B14F-4D97-AF65-F5344CB8AC3E}">
        <p14:creationId xmlns:p14="http://schemas.microsoft.com/office/powerpoint/2010/main" val="120936768"/>
      </p:ext>
    </p:extLst>
  </p:cSld>
  <p:clrMapOvr>
    <a:masterClrMapping/>
  </p:clrMapOvr>
</p:sld>
</file>

<file path=ppt/theme/theme1.xml><?xml version="1.0" encoding="utf-8"?>
<a:theme xmlns:a="http://schemas.openxmlformats.org/drawingml/2006/main" name="3_Axis">
  <a:themeElements>
    <a:clrScheme name="3_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3_Axi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99CC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99CC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64" charset="0"/>
          </a:defRPr>
        </a:defPPr>
      </a:lstStyle>
    </a:lnDef>
  </a:objectDefaults>
  <a:extraClrSchemeLst>
    <a:extraClrScheme>
      <a:clrScheme name="3_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4_1  khai bao Classe</Template>
  <TotalTime>8090</TotalTime>
  <Words>3233</Words>
  <Application>Microsoft Office PowerPoint</Application>
  <PresentationFormat>On-screen Show (4:3)</PresentationFormat>
  <Paragraphs>474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Courier New</vt:lpstr>
      <vt:lpstr>Helvetica</vt:lpstr>
      <vt:lpstr>Symbol</vt:lpstr>
      <vt:lpstr>Tahoma</vt:lpstr>
      <vt:lpstr>Times New Roman</vt:lpstr>
      <vt:lpstr>Wingdings</vt:lpstr>
      <vt:lpstr>Wingdings 2</vt:lpstr>
      <vt:lpstr>3_Axis</vt:lpstr>
      <vt:lpstr>Chương  3</vt:lpstr>
      <vt:lpstr>Nội Dung</vt:lpstr>
      <vt:lpstr>Các khái niệm cơ bản</vt:lpstr>
      <vt:lpstr>Các khái niệm cơ bản</vt:lpstr>
      <vt:lpstr>Lớp và Đối tượng trong java</vt:lpstr>
      <vt:lpstr>Lớp và Đối tượng trong java</vt:lpstr>
      <vt:lpstr>Lớp và Đối tượng trong java</vt:lpstr>
      <vt:lpstr>Lớp và Đối tượng trong java</vt:lpstr>
      <vt:lpstr>Phương thức khởi dựng (contructor)</vt:lpstr>
      <vt:lpstr>Khối vô danh</vt:lpstr>
      <vt:lpstr>Nạp chồng phương thức (overloading)</vt:lpstr>
      <vt:lpstr>Tham chiếu this</vt:lpstr>
      <vt:lpstr>Từ Khóa This (tt)</vt:lpstr>
      <vt:lpstr>Tính đóng gói</vt:lpstr>
      <vt:lpstr>Tính đóng gói</vt:lpstr>
      <vt:lpstr> </vt:lpstr>
      <vt:lpstr>Phạm vi truy xuất (Modifier)</vt:lpstr>
      <vt:lpstr>Phạm vi truy xuất (Modifier)</vt:lpstr>
      <vt:lpstr>Phạm vi truy xuất (Modifier)</vt:lpstr>
      <vt:lpstr>Phạm vi truy xuất (Modifier)</vt:lpstr>
      <vt:lpstr>Phạm vi truy xuất (Modifier)</vt:lpstr>
      <vt:lpstr>BAO ĐÓNG</vt:lpstr>
      <vt:lpstr>Thừa kế</vt:lpstr>
      <vt:lpstr>Thừa kế</vt:lpstr>
      <vt:lpstr>Phương thức Overriding</vt:lpstr>
      <vt:lpstr>Từ khóa super</vt:lpstr>
      <vt:lpstr>Tính đa hình</vt:lpstr>
      <vt:lpstr>Từ Khóa static</vt:lpstr>
      <vt:lpstr>Lớp nội (inner class)</vt:lpstr>
      <vt:lpstr>Từ khóa final</vt:lpstr>
      <vt:lpstr>Lớp trừu tượng (abstract)</vt:lpstr>
      <vt:lpstr>Interface</vt:lpstr>
      <vt:lpstr>Bài tập</vt:lpstr>
      <vt:lpstr>Bài tập: Account</vt:lpstr>
      <vt:lpstr>PowerPoint Presentation</vt:lpstr>
      <vt:lpstr>Bài tập</vt:lpstr>
      <vt:lpstr>Bài tập</vt:lpstr>
      <vt:lpstr>Bài tập</vt:lpstr>
      <vt:lpstr>Câu hỏi ôn </vt:lpstr>
      <vt:lpstr>Quan hệ giữa các đối tượng</vt:lpstr>
      <vt:lpstr>UML</vt:lpstr>
      <vt:lpstr>Dependence (“use-a”)</vt:lpstr>
      <vt:lpstr>Inheritance (“is-a”)</vt:lpstr>
      <vt:lpstr>Aggregation (has-a)</vt:lpstr>
      <vt:lpstr>Association</vt:lpstr>
      <vt:lpstr>Chỉ số mối kết hợp</vt:lpstr>
      <vt:lpstr>Chỉ số mối kết hợp</vt:lpstr>
      <vt:lpstr>PowerPoint Presentation</vt:lpstr>
      <vt:lpstr>PowerPoint Presentation</vt:lpstr>
      <vt:lpstr>PowerPoint Presentation</vt:lpstr>
      <vt:lpstr>PowerPoint Presentation</vt:lpstr>
    </vt:vector>
  </TitlesOfParts>
  <Company>Aptech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Session1</dc:title>
  <dc:creator>rg</dc:creator>
  <cp:lastModifiedBy>Administrator</cp:lastModifiedBy>
  <cp:revision>692</cp:revision>
  <cp:lastPrinted>1601-01-01T00:00:00Z</cp:lastPrinted>
  <dcterms:created xsi:type="dcterms:W3CDTF">2000-10-19T05:36:23Z</dcterms:created>
  <dcterms:modified xsi:type="dcterms:W3CDTF">2024-11-22T07:38:48Z</dcterms:modified>
</cp:coreProperties>
</file>