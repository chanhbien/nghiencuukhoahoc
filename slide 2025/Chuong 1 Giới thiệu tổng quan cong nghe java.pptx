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21"/>
  </p:notesMasterIdLst>
  <p:handoutMasterIdLst>
    <p:handoutMasterId r:id="rId22"/>
  </p:handoutMasterIdLst>
  <p:sldIdLst>
    <p:sldId id="312" r:id="rId2"/>
    <p:sldId id="331" r:id="rId3"/>
    <p:sldId id="332" r:id="rId4"/>
    <p:sldId id="314" r:id="rId5"/>
    <p:sldId id="313" r:id="rId6"/>
    <p:sldId id="256" r:id="rId7"/>
    <p:sldId id="327" r:id="rId8"/>
    <p:sldId id="333" r:id="rId9"/>
    <p:sldId id="334" r:id="rId10"/>
    <p:sldId id="335" r:id="rId11"/>
    <p:sldId id="336" r:id="rId12"/>
    <p:sldId id="329" r:id="rId13"/>
    <p:sldId id="342" r:id="rId14"/>
    <p:sldId id="343" r:id="rId15"/>
    <p:sldId id="321" r:id="rId16"/>
    <p:sldId id="344" r:id="rId17"/>
    <p:sldId id="345" r:id="rId18"/>
    <p:sldId id="346" r:id="rId19"/>
    <p:sldId id="326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BFF"/>
    <a:srgbClr val="C0C0C0"/>
    <a:srgbClr val="965668"/>
    <a:srgbClr val="FF714F"/>
    <a:srgbClr val="C3F4FF"/>
    <a:srgbClr val="D1F6FF"/>
    <a:srgbClr val="A82800"/>
    <a:srgbClr val="C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12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3CE99420-C055-825B-983B-47F446B567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35C8BD8F-0371-9B33-311E-08D104B5148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2" name="Rectangle 4">
            <a:extLst>
              <a:ext uri="{FF2B5EF4-FFF2-40B4-BE49-F238E27FC236}">
                <a16:creationId xmlns:a16="http://schemas.microsoft.com/office/drawing/2014/main" id="{653084EE-288E-EF26-FA8C-EBA1CA977D7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3" name="Rectangle 5">
            <a:extLst>
              <a:ext uri="{FF2B5EF4-FFF2-40B4-BE49-F238E27FC236}">
                <a16:creationId xmlns:a16="http://schemas.microsoft.com/office/drawing/2014/main" id="{C2743C36-A08E-0235-C5C6-5F62E5DAB88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F9B97EB-279B-485C-98F8-9343211271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80EF2CAC-7708-B493-7352-47C5478918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410B955-F4BA-0C26-3A94-957B1F2A7C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54FDAAA-09D8-C147-365B-A415E7E8F8E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41" name="Rectangle 5">
            <a:extLst>
              <a:ext uri="{FF2B5EF4-FFF2-40B4-BE49-F238E27FC236}">
                <a16:creationId xmlns:a16="http://schemas.microsoft.com/office/drawing/2014/main" id="{7CC18FF7-816F-E876-35A6-6EDDCC70494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6742" name="Rectangle 6">
            <a:extLst>
              <a:ext uri="{FF2B5EF4-FFF2-40B4-BE49-F238E27FC236}">
                <a16:creationId xmlns:a16="http://schemas.microsoft.com/office/drawing/2014/main" id="{934863A2-567C-BF14-0411-8F2E71409B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743" name="Rectangle 7">
            <a:extLst>
              <a:ext uri="{FF2B5EF4-FFF2-40B4-BE49-F238E27FC236}">
                <a16:creationId xmlns:a16="http://schemas.microsoft.com/office/drawing/2014/main" id="{BD5C4086-0A24-A47D-7311-B7230F627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651E0974-B52D-4AFA-9CA7-544332EBC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D6E2FBC-4EF8-7C07-CFAC-74129588EA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FE24BD77-F77A-40D8-BB7F-F2FA55C8113F}" type="slidenum">
              <a:rPr lang="en-US" altLang="en-US" sz="1200" b="0" smtClean="0">
                <a:latin typeface="Tahoma" panose="020B0604030504040204" pitchFamily="34" charset="0"/>
              </a:rPr>
              <a:pPr/>
              <a:t>1</a:t>
            </a:fld>
            <a:endParaRPr lang="en-US" altLang="en-US" sz="1200" b="0">
              <a:latin typeface="Tahom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80CBACF-7292-C81D-3533-605FF8FDB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5737320-9577-79DD-27A6-76882A64D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2E6AF529-7E1A-8C7E-DCB7-54A57BF1D4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DE4B763D-C017-4FBC-A4AA-E6719B1571FD}" type="slidenum">
              <a:rPr lang="en-US" altLang="en-US" sz="1200" b="0" smtClean="0">
                <a:latin typeface="Tahoma" panose="020B0604030504040204" pitchFamily="34" charset="0"/>
              </a:rPr>
              <a:pPr/>
              <a:t>6</a:t>
            </a:fld>
            <a:endParaRPr lang="en-US" altLang="en-US" sz="1200" b="0">
              <a:latin typeface="Tahoma" panose="020B0604030504040204" pitchFamily="34" charset="0"/>
            </a:endParaRPr>
          </a:p>
        </p:txBody>
      </p:sp>
      <p:sp>
        <p:nvSpPr>
          <p:cNvPr id="12291" name="Rectangle 1026">
            <a:extLst>
              <a:ext uri="{FF2B5EF4-FFF2-40B4-BE49-F238E27FC236}">
                <a16:creationId xmlns:a16="http://schemas.microsoft.com/office/drawing/2014/main" id="{780CB571-C440-C398-3954-37885235CD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1027">
            <a:extLst>
              <a:ext uri="{FF2B5EF4-FFF2-40B4-BE49-F238E27FC236}">
                <a16:creationId xmlns:a16="http://schemas.microsoft.com/office/drawing/2014/main" id="{BDF72F80-389A-B938-5A7A-EFE04782F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D64CC-2124-DD17-4457-283FBD4B1F02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447800"/>
            <a:ext cx="9144000" cy="16002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9CF2BD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72641BC3-56BD-7E5A-1586-5E40C823A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257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C0CA723-3284-DC26-5D25-135CA5FB1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86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327D7F1B-EBB6-69DA-2EF7-715736052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257800"/>
            <a:ext cx="838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B3EA98CD-B254-3797-5CA4-9BB8BDBF2D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4648200"/>
            <a:ext cx="1143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80035725-1933-3159-9444-9A1F541D04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" y="4648200"/>
            <a:ext cx="1524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9B20ED8-A8FB-F6C4-5D9E-BCBD4E9F4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257800"/>
            <a:ext cx="3048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77845026-E300-48AD-C65F-39B49861D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562600"/>
            <a:ext cx="3048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E5F806C-123E-F6F4-7D2D-AC6215663C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5257800"/>
            <a:ext cx="4572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7B4640F6-2026-2C1A-1915-DBD3D4A1F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257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DB26E338-6476-12C1-81AF-E84CC217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715000"/>
            <a:ext cx="60960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24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2400" b="0">
                <a:latin typeface="Arial" charset="0"/>
              </a:rPr>
              <a:t>Khoa Công nghệ Thông tin</a:t>
            </a: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D77AA3BA-E218-8E2D-F597-7ACA58D0D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5486400"/>
            <a:ext cx="2185987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352800"/>
            <a:ext cx="6400800" cy="190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443038"/>
            <a:ext cx="6400800" cy="1600200"/>
          </a:xfrm>
        </p:spPr>
        <p:txBody>
          <a:bodyPr anchor="ctr"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817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73AEE6-9C6F-7BBA-8109-C45E8EAEF9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BC18E67-EDC0-F2BA-4611-742F77BD07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EE8A3-5A56-4A1D-81A0-FD1D238761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71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31BA62-25D1-A26B-D444-C34C918B5B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2F66B6-B3EB-5425-FBF8-03B1FD90FF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32BEB-3A02-4700-89E5-5B5E602AD5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188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026BC1-E80D-8A2F-DAAA-F9035523C7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CA3B86-C335-1ED1-D718-E57B0897E5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0C65B-E6EA-449A-A830-4F080C95A2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345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44157-235C-6014-2F6A-E4D7A358D7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60433-024E-F7E6-A21C-783CB40D3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1D684-741D-444F-AE36-9ABC8E0489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21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81C05FC-7B80-1EE9-364F-5C5E5DA6E4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E1AD55-2720-41F7-B9C3-C198C63A8E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1AF7B-E9F4-4C63-AC36-9E33B3C14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923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D21A32B-62C8-936B-E5A7-0C9AD7F9AD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4E55B74-1CAA-FEAD-25E5-85DD8B55DF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432CB-4151-4401-A88B-37E244AEE1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45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A5AF8D-EC8D-B0C0-A859-7B3F7785C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59B47D6-5AEF-8523-4E98-351D97D45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136DB-F498-48DD-865D-D7D9495151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53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94886B-A5BC-AF58-35E6-6476AE0ABB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90E02D4-D32F-89C8-C94D-F615C3B425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71BEA5-071B-4B2B-8047-566E6FF8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89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367135-A346-4A61-4AE9-554D84A434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4F0AE72-1BF6-075B-2ED6-39633B88B4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EC382-7DA4-4147-885A-8700AE16C9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15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4925"/>
            <a:ext cx="2286000" cy="6289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4925"/>
            <a:ext cx="6705600" cy="6289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256238-C8ED-3C59-9971-155E145EEA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CDD2C1-0F22-523E-7D41-F72EAE5716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0EC8E-A418-4480-BC87-CD4C56FA62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203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5"/>
            <a:ext cx="9144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0" y="838200"/>
            <a:ext cx="4495800" cy="5486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838200"/>
            <a:ext cx="44958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F11B9E-33E9-6564-DD9A-8C80227DF0F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22FAA4-16DF-4624-EBAA-9227B02B1B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7C908-03F8-42B8-B666-A0271D0E96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384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5"/>
            <a:ext cx="9144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838200"/>
            <a:ext cx="9144000" cy="5486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CEAADC-7E76-5F78-DF53-69601A97C1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BE83120-AD35-A09C-60F3-FC902BAE73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C914F-2EE2-4F85-BEAE-D839494A6E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46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7E97EF80-C4FB-6389-BD3B-FCC758D88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6400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Line 3">
            <a:extLst>
              <a:ext uri="{FF2B5EF4-FFF2-40B4-BE49-F238E27FC236}">
                <a16:creationId xmlns:a16="http://schemas.microsoft.com/office/drawing/2014/main" id="{CEA258A7-808F-268A-25CE-78BE33F22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6629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7FEFE42-A25C-FC30-BD48-3463E950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925"/>
            <a:ext cx="9144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1D4E5A-8F10-8A65-C951-D22B3A440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286" name="Rectangle 6">
            <a:extLst>
              <a:ext uri="{FF2B5EF4-FFF2-40B4-BE49-F238E27FC236}">
                <a16:creationId xmlns:a16="http://schemas.microsoft.com/office/drawing/2014/main" id="{FE10EBC5-F115-5985-5628-A0E53037EF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400800"/>
            <a:ext cx="5257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225287" name="Rectangle 7">
            <a:extLst>
              <a:ext uri="{FF2B5EF4-FFF2-40B4-BE49-F238E27FC236}">
                <a16:creationId xmlns:a16="http://schemas.microsoft.com/office/drawing/2014/main" id="{8B0785A9-6DB9-ADE6-CED8-A42DFC0AE1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38900"/>
            <a:ext cx="438150" cy="342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E2BD9B-DB9E-4D41-B42C-B0617FAF3D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0F92A89-F6CB-107F-FCB6-08EDA6FF4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6400800"/>
            <a:ext cx="2667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0FEAAB88-CA15-BA8E-6F69-C13C1B7A4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>
            <a:extLst>
              <a:ext uri="{FF2B5EF4-FFF2-40B4-BE49-F238E27FC236}">
                <a16:creationId xmlns:a16="http://schemas.microsoft.com/office/drawing/2014/main" id="{DCB34201-F015-7C93-C4A8-521636FCFE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248400"/>
            <a:ext cx="3048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>
            <a:extLst>
              <a:ext uri="{FF2B5EF4-FFF2-40B4-BE49-F238E27FC236}">
                <a16:creationId xmlns:a16="http://schemas.microsoft.com/office/drawing/2014/main" id="{72ADC741-D4A8-0AF5-0213-EFE86133CA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" y="6248400"/>
            <a:ext cx="381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2">
            <a:extLst>
              <a:ext uri="{FF2B5EF4-FFF2-40B4-BE49-F238E27FC236}">
                <a16:creationId xmlns:a16="http://schemas.microsoft.com/office/drawing/2014/main" id="{935BB0E6-F706-6802-41D9-7298F8CEF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400800"/>
            <a:ext cx="152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9F4C4DBA-D8AD-A437-288D-8ECB74F08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6553200"/>
            <a:ext cx="3276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Line 14">
            <a:extLst>
              <a:ext uri="{FF2B5EF4-FFF2-40B4-BE49-F238E27FC236}">
                <a16:creationId xmlns:a16="http://schemas.microsoft.com/office/drawing/2014/main" id="{C93FEBEB-32B5-5933-BC4C-4CEA418F75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6400800"/>
            <a:ext cx="2286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Line 15">
            <a:extLst>
              <a:ext uri="{FF2B5EF4-FFF2-40B4-BE49-F238E27FC236}">
                <a16:creationId xmlns:a16="http://schemas.microsoft.com/office/drawing/2014/main" id="{4C820666-53AD-1FF5-B66A-3DB6AF77B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6400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261E2AC5-3DA0-2574-68A6-DAA42E27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6400800"/>
            <a:ext cx="2597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12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1200" b="0">
                <a:latin typeface="Arial" charset="0"/>
              </a:rPr>
              <a:t>Khoa Công nghệ Thông tin</a:t>
            </a:r>
          </a:p>
        </p:txBody>
      </p:sp>
      <p:pic>
        <p:nvPicPr>
          <p:cNvPr id="1041" name="Picture 17">
            <a:extLst>
              <a:ext uri="{FF2B5EF4-FFF2-40B4-BE49-F238E27FC236}">
                <a16:creationId xmlns:a16="http://schemas.microsoft.com/office/drawing/2014/main" id="{9D51E846-9513-4B86-616B-B85E4B33D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467475"/>
            <a:ext cx="58578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0" r:id="rId1"/>
    <p:sldLayoutId id="2147484188" r:id="rId2"/>
    <p:sldLayoutId id="2147484189" r:id="rId3"/>
    <p:sldLayoutId id="2147484190" r:id="rId4"/>
    <p:sldLayoutId id="2147484191" r:id="rId5"/>
    <p:sldLayoutId id="2147484192" r:id="rId6"/>
    <p:sldLayoutId id="2147484193" r:id="rId7"/>
    <p:sldLayoutId id="2147484194" r:id="rId8"/>
    <p:sldLayoutId id="2147484195" r:id="rId9"/>
    <p:sldLayoutId id="2147484196" r:id="rId10"/>
    <p:sldLayoutId id="2147484197" r:id="rId11"/>
    <p:sldLayoutId id="2147484198" r:id="rId12"/>
    <p:sldLayoutId id="2147484199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5pPr>
      <a:lvl6pPr marL="20574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6pPr>
      <a:lvl7pPr marL="25146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7pPr>
      <a:lvl8pPr marL="29718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8pPr>
      <a:lvl9pPr marL="34290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9" Type="http://schemas.openxmlformats.org/officeDocument/2006/relationships/image" Target="../media/image46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38" Type="http://schemas.openxmlformats.org/officeDocument/2006/relationships/image" Target="../media/image45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37" Type="http://schemas.openxmlformats.org/officeDocument/2006/relationships/image" Target="../media/image44.png"/><Relationship Id="rId40" Type="http://schemas.openxmlformats.org/officeDocument/2006/relationships/image" Target="../media/image47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8" Type="http://schemas.openxmlformats.org/officeDocument/2006/relationships/image" Target="../media/image15.png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racle.com/technetwork/java/javase/download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../../Case%20study/Getting%20started%20with%20Eclipse.pptx" TargetMode="External"/><Relationship Id="rId2" Type="http://schemas.openxmlformats.org/officeDocument/2006/relationships/hyperlink" Target="../../Case%20study/Install%20Tools.ppt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C00C464-7738-719D-BBDF-9F57B9A218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3400" y="1524000"/>
            <a:ext cx="8229600" cy="1524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4000"/>
              <a:t>LẬP TRÌNH ỨNG DỤNG DATABASE</a:t>
            </a:r>
            <a:endParaRPr lang="en-US" altLang="en-US" sz="36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31BE1D68-7A7E-ABAD-D289-5697B3095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Giới thiệu chung</a:t>
            </a:r>
            <a:endParaRPr lang="en-GB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BDA6BA75-779B-BBCF-86F4-245B69F0EF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Mục tiêu môn học</a:t>
            </a:r>
          </a:p>
          <a:p>
            <a:pPr lvl="1"/>
            <a:r>
              <a:rPr lang="en-US" altLang="en-US"/>
              <a:t>Cung cấp những kiến thức về lập trình, cũng như về phát triển phần mềm theo hướng công nghệ Java</a:t>
            </a:r>
            <a:endParaRPr lang="en-US" altLang="en-US">
              <a:solidFill>
                <a:srgbClr val="0070C0"/>
              </a:solidFill>
            </a:endParaRPr>
          </a:p>
          <a:p>
            <a:pPr lvl="1"/>
            <a:r>
              <a:rPr lang="en-US" altLang="en-US"/>
              <a:t>Giúp sinh viên có một hướng tiếp cận mới khi lựa chọn ngôn ngữ lập trình, cũng như lựa chọn công nghệ để xây dựng một hệ thống phần mềm </a:t>
            </a:r>
            <a:r>
              <a:rPr lang="en-US" altLang="en-US">
                <a:solidFill>
                  <a:srgbClr val="0070C0"/>
                </a:solidFill>
              </a:rPr>
              <a:t>ứng dụng Cơ sở dữ liệu trên nền tảng Java</a:t>
            </a:r>
          </a:p>
          <a:p>
            <a:r>
              <a:rPr lang="en-US" altLang="en-US"/>
              <a:t>Thời lượng môn học</a:t>
            </a:r>
          </a:p>
          <a:p>
            <a:pPr lvl="1"/>
            <a:r>
              <a:rPr lang="en-US" altLang="en-US"/>
              <a:t>Lý thuyết: 45t</a:t>
            </a: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4CADB-B216-2578-93E2-66F8D0D3C2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FB187167-ACDE-B6ED-2A69-DFD200116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Giới thiệu chung</a:t>
            </a:r>
            <a:endParaRPr lang="en-GB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EA35C8A-98BB-DBBA-E9A5-2F2498E7F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 err="1"/>
              <a:t>Yêu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cầu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Môn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học</a:t>
            </a:r>
            <a:r>
              <a:rPr lang="en-US" altLang="en-US" sz="1800" dirty="0"/>
              <a:t>:</a:t>
            </a:r>
          </a:p>
          <a:p>
            <a:pPr lvl="1"/>
            <a:r>
              <a:rPr lang="en-US" altLang="en-US" sz="1800" dirty="0" err="1"/>
              <a:t>Lập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trình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căn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bản</a:t>
            </a:r>
            <a:r>
              <a:rPr lang="en-US" altLang="en-US" sz="1800" dirty="0"/>
              <a:t>: C </a:t>
            </a:r>
            <a:r>
              <a:rPr lang="en-US" altLang="en-US" sz="1800" dirty="0" err="1"/>
              <a:t>hoặc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FF0000"/>
                </a:solidFill>
              </a:rPr>
              <a:t>C++ </a:t>
            </a:r>
            <a:r>
              <a:rPr lang="en-US" altLang="en-US" sz="1800" dirty="0" err="1">
                <a:solidFill>
                  <a:srgbClr val="FF0000"/>
                </a:solidFill>
              </a:rPr>
              <a:t>hoặc</a:t>
            </a:r>
            <a:r>
              <a:rPr lang="en-US" altLang="en-US" sz="1800" dirty="0">
                <a:solidFill>
                  <a:srgbClr val="FF0000"/>
                </a:solidFill>
              </a:rPr>
              <a:t> C#</a:t>
            </a:r>
          </a:p>
          <a:p>
            <a:pPr lvl="1"/>
            <a:r>
              <a:rPr lang="en-US" altLang="en-US" sz="1800" dirty="0" err="1"/>
              <a:t>Lập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trình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hướng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đối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tượng</a:t>
            </a:r>
            <a:r>
              <a:rPr lang="en-US" altLang="en-US" sz="1800" dirty="0"/>
              <a:t>: C++ </a:t>
            </a:r>
            <a:r>
              <a:rPr lang="en-US" altLang="en-US" sz="1800" dirty="0" err="1"/>
              <a:t>hoặc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FF0000"/>
                </a:solidFill>
              </a:rPr>
              <a:t>C#</a:t>
            </a:r>
          </a:p>
          <a:p>
            <a:pPr lvl="1"/>
            <a:r>
              <a:rPr lang="en-US" altLang="en-US" sz="1800" dirty="0" err="1">
                <a:solidFill>
                  <a:srgbClr val="FF0000"/>
                </a:solidFill>
              </a:rPr>
              <a:t>Cơ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dirty="0" err="1">
                <a:solidFill>
                  <a:srgbClr val="FF0000"/>
                </a:solidFill>
              </a:rPr>
              <a:t>sở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dirty="0" err="1">
                <a:solidFill>
                  <a:srgbClr val="FF0000"/>
                </a:solidFill>
              </a:rPr>
              <a:t>dữ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dirty="0" err="1">
                <a:solidFill>
                  <a:srgbClr val="FF0000"/>
                </a:solidFill>
              </a:rPr>
              <a:t>liệu</a:t>
            </a:r>
            <a:endParaRPr lang="en-US" altLang="en-US" sz="1800" dirty="0">
              <a:solidFill>
                <a:srgbClr val="FF0000"/>
              </a:solidFill>
            </a:endParaRPr>
          </a:p>
          <a:p>
            <a:r>
              <a:rPr lang="en-US" altLang="en-US" sz="1800" dirty="0" err="1"/>
              <a:t>Công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cụ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lập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trình</a:t>
            </a:r>
            <a:endParaRPr lang="en-US" altLang="en-US" sz="1800" dirty="0"/>
          </a:p>
          <a:p>
            <a:pPr lvl="1"/>
            <a:r>
              <a:rPr lang="en-US" altLang="en-US" sz="1800" dirty="0">
                <a:highlight>
                  <a:srgbClr val="FFFF00"/>
                </a:highlight>
              </a:rPr>
              <a:t>JDK 17 </a:t>
            </a:r>
            <a:r>
              <a:rPr lang="en-US" altLang="en-US" sz="1800" dirty="0" err="1">
                <a:highlight>
                  <a:srgbClr val="FFFF00"/>
                </a:highlight>
              </a:rPr>
              <a:t>hoặc</a:t>
            </a:r>
            <a:r>
              <a:rPr lang="en-US" altLang="en-US" sz="1800" dirty="0">
                <a:highlight>
                  <a:srgbClr val="FFFF00"/>
                </a:highlight>
              </a:rPr>
              <a:t> </a:t>
            </a:r>
            <a:r>
              <a:rPr lang="en-US" altLang="en-US" sz="1800" dirty="0" err="1">
                <a:highlight>
                  <a:srgbClr val="FFFF00"/>
                </a:highlight>
              </a:rPr>
              <a:t>cao</a:t>
            </a:r>
            <a:r>
              <a:rPr lang="en-US" altLang="en-US" sz="1800" dirty="0">
                <a:highlight>
                  <a:srgbClr val="FFFF00"/>
                </a:highlight>
              </a:rPr>
              <a:t> </a:t>
            </a:r>
            <a:r>
              <a:rPr lang="en-US" altLang="en-US" sz="1800" dirty="0" err="1">
                <a:highlight>
                  <a:srgbClr val="FFFF00"/>
                </a:highlight>
              </a:rPr>
              <a:t>hơn</a:t>
            </a:r>
            <a:endParaRPr lang="en-US" altLang="en-US" sz="1800" dirty="0">
              <a:highlight>
                <a:srgbClr val="FFFF00"/>
              </a:highlight>
            </a:endParaRPr>
          </a:p>
          <a:p>
            <a:pPr lvl="1"/>
            <a:r>
              <a:rPr lang="en-US" altLang="en-US" sz="1800" dirty="0">
                <a:highlight>
                  <a:srgbClr val="FFFF00"/>
                </a:highlight>
              </a:rPr>
              <a:t>Eclipse 2023-06 (4.28)</a:t>
            </a:r>
          </a:p>
          <a:p>
            <a:pPr lvl="1"/>
            <a:r>
              <a:rPr lang="en-US" altLang="en-US" sz="1800" dirty="0"/>
              <a:t>Database: MySQL 5 </a:t>
            </a:r>
            <a:r>
              <a:rPr lang="en-US" altLang="en-US" sz="1800" dirty="0" err="1"/>
              <a:t>trở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lên</a:t>
            </a:r>
            <a:endParaRPr lang="en-US" altLang="en-US" sz="1800" dirty="0"/>
          </a:p>
          <a:p>
            <a:pPr lvl="1"/>
            <a:r>
              <a:rPr lang="en-US" altLang="en-US" sz="1800" dirty="0"/>
              <a:t>Web server: Tomcat 9.0</a:t>
            </a:r>
          </a:p>
          <a:p>
            <a:r>
              <a:rPr lang="en-US" altLang="en-US" sz="1800" dirty="0" err="1"/>
              <a:t>Hình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thức</a:t>
            </a:r>
            <a:r>
              <a:rPr lang="en-US" altLang="en-US" sz="1800" dirty="0"/>
              <a:t> </a:t>
            </a:r>
            <a:r>
              <a:rPr lang="en-US" altLang="en-US" sz="1800" dirty="0" err="1"/>
              <a:t>đánh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giá</a:t>
            </a:r>
            <a:r>
              <a:rPr lang="en-US" altLang="en-US" sz="1800" dirty="0"/>
              <a:t>:</a:t>
            </a:r>
          </a:p>
          <a:p>
            <a:pPr lvl="1"/>
            <a:r>
              <a:rPr lang="en-US" altLang="en-US" sz="1800" dirty="0" err="1"/>
              <a:t>Giữa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kì</a:t>
            </a:r>
            <a:r>
              <a:rPr lang="en-US" altLang="en-US" sz="1800" dirty="0"/>
              <a:t>: (40%)</a:t>
            </a:r>
          </a:p>
          <a:p>
            <a:pPr lvl="2"/>
            <a:r>
              <a:rPr lang="en-US" altLang="en-US" sz="1800" dirty="0" err="1"/>
              <a:t>Trắc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nghiêm+Tự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luận</a:t>
            </a:r>
            <a:r>
              <a:rPr lang="vi-VN" altLang="en-US" sz="1800" dirty="0"/>
              <a:t> (không sử dụng tài liệu)</a:t>
            </a:r>
            <a:endParaRPr lang="en-US" altLang="en-US" sz="1800" dirty="0"/>
          </a:p>
          <a:p>
            <a:pPr lvl="1"/>
            <a:r>
              <a:rPr lang="en-US" altLang="en-US" sz="1800" dirty="0" err="1"/>
              <a:t>Cuối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kì</a:t>
            </a:r>
            <a:r>
              <a:rPr lang="en-US" altLang="en-US" sz="1800" dirty="0"/>
              <a:t>: (60%) </a:t>
            </a:r>
            <a:r>
              <a:rPr lang="en-US" altLang="en-US" sz="1800" dirty="0" err="1"/>
              <a:t>Thi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tại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Phòng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máy</a:t>
            </a:r>
            <a:endParaRPr lang="en-US" altLang="en-US" sz="1800" dirty="0"/>
          </a:p>
          <a:p>
            <a:pPr lvl="2"/>
            <a:r>
              <a:rPr lang="en-US" altLang="en-US" sz="2000" dirty="0" err="1"/>
              <a:t>Thực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hiện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một</a:t>
            </a:r>
            <a:r>
              <a:rPr lang="en-US" altLang="en-US" sz="2000" dirty="0"/>
              <a:t> Project </a:t>
            </a:r>
            <a:r>
              <a:rPr lang="en-US" altLang="en-US" sz="2000" dirty="0" err="1"/>
              <a:t>trên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Máy</a:t>
            </a:r>
            <a:r>
              <a:rPr lang="vi-VN" altLang="en-US" sz="2000" dirty="0"/>
              <a:t> (Sử dụng tài liệu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giấy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Classroom: </a:t>
            </a:r>
            <a:r>
              <a:rPr lang="en-US" sz="4000" b="1" i="0" dirty="0">
                <a:solidFill>
                  <a:srgbClr val="1A73E8"/>
                </a:solidFill>
                <a:effectLst/>
                <a:latin typeface="Google Sans"/>
              </a:rPr>
              <a:t>n4uohz6</a:t>
            </a:r>
            <a:endParaRPr lang="en-GB" altLang="en-US" sz="2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33E55-90DB-0F58-2EC2-0F9D516A93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A4D15-D45F-D0BC-29E5-9C38855FF3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F120F6A-CB0C-A850-D963-86D544873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NỘI DUNG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E10FEB1-DB80-12EE-53E2-370434B01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b="1" dirty="0" err="1">
                <a:solidFill>
                  <a:srgbClr val="FF0000"/>
                </a:solidFill>
              </a:rPr>
              <a:t>Phần</a:t>
            </a:r>
            <a:r>
              <a:rPr lang="en-US" altLang="en-US" sz="2000" b="1" dirty="0">
                <a:solidFill>
                  <a:srgbClr val="FF0000"/>
                </a:solidFill>
              </a:rPr>
              <a:t> 1: </a:t>
            </a:r>
            <a:r>
              <a:rPr lang="en-US" altLang="en-US" sz="2000" b="1" dirty="0" err="1">
                <a:solidFill>
                  <a:srgbClr val="FF0000"/>
                </a:solidFill>
              </a:rPr>
              <a:t>Lập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</a:rPr>
              <a:t>trình</a:t>
            </a:r>
            <a:r>
              <a:rPr lang="en-US" altLang="en-US" sz="2000" b="1" dirty="0">
                <a:solidFill>
                  <a:srgbClr val="FF0000"/>
                </a:solidFill>
              </a:rPr>
              <a:t> Java (21 t)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 err="1">
                <a:latin typeface="+mj-lt"/>
              </a:rPr>
              <a:t>Chương</a:t>
            </a:r>
            <a:r>
              <a:rPr lang="en-US" altLang="en-US" sz="2000" dirty="0">
                <a:latin typeface="+mj-lt"/>
              </a:rPr>
              <a:t> 1	</a:t>
            </a:r>
            <a:r>
              <a:rPr lang="vi-VN" altLang="en-US" sz="2000" dirty="0">
                <a:latin typeface="+mj-lt"/>
              </a:rPr>
              <a:t>  </a:t>
            </a:r>
            <a:r>
              <a:rPr lang="en-US" altLang="en-US" sz="2000" dirty="0" err="1">
                <a:latin typeface="+mj-lt"/>
              </a:rPr>
              <a:t>Giới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thiệu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tổng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quan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công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nghệ</a:t>
            </a:r>
            <a:r>
              <a:rPr lang="en-US" altLang="en-US" sz="2000" dirty="0">
                <a:latin typeface="+mj-lt"/>
              </a:rPr>
              <a:t> Java   (</a:t>
            </a:r>
            <a:r>
              <a:rPr lang="en-US" altLang="en-US" sz="2000" dirty="0" err="1">
                <a:latin typeface="+mj-lt"/>
              </a:rPr>
              <a:t>tiết</a:t>
            </a:r>
            <a:r>
              <a:rPr lang="en-US" altLang="en-US" sz="2000" dirty="0">
                <a:latin typeface="+mj-lt"/>
              </a:rPr>
              <a:t> 1)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 err="1">
                <a:latin typeface="+mj-lt"/>
              </a:rPr>
              <a:t>Chương</a:t>
            </a:r>
            <a:r>
              <a:rPr lang="en-US" altLang="en-US" sz="2000" dirty="0">
                <a:latin typeface="+mj-lt"/>
              </a:rPr>
              <a:t> 2	</a:t>
            </a:r>
            <a:r>
              <a:rPr lang="vi-VN" altLang="en-US" sz="2000" dirty="0">
                <a:latin typeface="+mj-lt"/>
              </a:rPr>
              <a:t>  </a:t>
            </a:r>
            <a:r>
              <a:rPr lang="en-US" altLang="en-US" sz="2000" dirty="0" err="1">
                <a:latin typeface="+mj-lt"/>
              </a:rPr>
              <a:t>Căn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bản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ngôn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Ngữ</a:t>
            </a:r>
            <a:r>
              <a:rPr lang="en-US" altLang="en-US" sz="2000" dirty="0">
                <a:latin typeface="+mj-lt"/>
              </a:rPr>
              <a:t> Java  (</a:t>
            </a:r>
            <a:r>
              <a:rPr lang="en-US" altLang="en-US" sz="2000" dirty="0" err="1">
                <a:latin typeface="+mj-lt"/>
              </a:rPr>
              <a:t>tiết</a:t>
            </a:r>
            <a:r>
              <a:rPr lang="en-US" altLang="en-US" sz="2000" dirty="0">
                <a:latin typeface="+mj-lt"/>
              </a:rPr>
              <a:t> 2-6)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 err="1">
                <a:latin typeface="+mj-lt"/>
              </a:rPr>
              <a:t>Chương</a:t>
            </a:r>
            <a:r>
              <a:rPr lang="en-US" altLang="en-US" sz="2000" dirty="0">
                <a:latin typeface="+mj-lt"/>
              </a:rPr>
              <a:t> 3	</a:t>
            </a:r>
            <a:r>
              <a:rPr lang="vi-VN" altLang="en-US" sz="2000" dirty="0">
                <a:latin typeface="+mj-lt"/>
              </a:rPr>
              <a:t>  </a:t>
            </a:r>
            <a:r>
              <a:rPr lang="en-US" altLang="en-US" sz="2000" dirty="0" err="1">
                <a:latin typeface="+mj-lt"/>
              </a:rPr>
              <a:t>Hướng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đối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tượng</a:t>
            </a:r>
            <a:r>
              <a:rPr lang="en-US" altLang="en-US" sz="2000" dirty="0">
                <a:latin typeface="+mj-lt"/>
              </a:rPr>
              <a:t> Java  (</a:t>
            </a:r>
            <a:r>
              <a:rPr lang="en-US" altLang="en-US" sz="2000" dirty="0" err="1">
                <a:latin typeface="+mj-lt"/>
              </a:rPr>
              <a:t>tiết</a:t>
            </a:r>
            <a:r>
              <a:rPr lang="en-US" altLang="en-US" sz="2000" dirty="0">
                <a:latin typeface="+mj-lt"/>
              </a:rPr>
              <a:t> 7-9)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 err="1">
                <a:latin typeface="+mj-lt"/>
              </a:rPr>
              <a:t>Chương</a:t>
            </a:r>
            <a:r>
              <a:rPr lang="en-US" altLang="en-US" sz="2000" dirty="0">
                <a:latin typeface="+mj-lt"/>
              </a:rPr>
              <a:t> 4 	</a:t>
            </a:r>
            <a:r>
              <a:rPr lang="vi-VN" altLang="en-US" sz="2000" dirty="0">
                <a:latin typeface="+mj-lt"/>
              </a:rPr>
              <a:t>  </a:t>
            </a:r>
            <a:r>
              <a:rPr lang="en-US" altLang="en-US" sz="2000" dirty="0" err="1">
                <a:latin typeface="+mj-lt"/>
              </a:rPr>
              <a:t>Thiết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kế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giao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diện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với</a:t>
            </a:r>
            <a:r>
              <a:rPr lang="en-US" altLang="en-US" sz="2000" dirty="0">
                <a:latin typeface="+mj-lt"/>
              </a:rPr>
              <a:t> Swing (</a:t>
            </a:r>
            <a:r>
              <a:rPr lang="en-US" altLang="en-US" sz="2000" dirty="0" err="1">
                <a:latin typeface="+mj-lt"/>
              </a:rPr>
              <a:t>tiết</a:t>
            </a:r>
            <a:r>
              <a:rPr lang="en-US" altLang="en-US" sz="2000" dirty="0">
                <a:latin typeface="+mj-lt"/>
              </a:rPr>
              <a:t> 10-15)</a:t>
            </a:r>
            <a:endParaRPr lang="vi-VN" altLang="en-US" sz="2000" dirty="0">
              <a:latin typeface="+mj-lt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vi-VN" altLang="en-US" sz="2000" dirty="0">
                <a:latin typeface="+mj-lt"/>
              </a:rPr>
              <a:t>Chương </a:t>
            </a:r>
            <a:r>
              <a:rPr lang="en-US" altLang="en-US" sz="2000" dirty="0">
                <a:latin typeface="+mj-lt"/>
              </a:rPr>
              <a:t>5</a:t>
            </a:r>
            <a:r>
              <a:rPr lang="vi-VN" altLang="en-US" sz="2000" dirty="0">
                <a:latin typeface="+mj-lt"/>
              </a:rPr>
              <a:t>     </a:t>
            </a:r>
            <a:r>
              <a:rPr lang="en-US" altLang="en-US" sz="2000" dirty="0" err="1">
                <a:latin typeface="+mj-lt"/>
              </a:rPr>
              <a:t>Dababases</a:t>
            </a:r>
            <a:r>
              <a:rPr lang="en-US" altLang="en-US" sz="2000" dirty="0">
                <a:latin typeface="+mj-lt"/>
              </a:rPr>
              <a:t> JDBC (</a:t>
            </a:r>
            <a:r>
              <a:rPr lang="en-US" altLang="en-US" sz="2000" dirty="0" err="1">
                <a:latin typeface="+mj-lt"/>
              </a:rPr>
              <a:t>tiết</a:t>
            </a:r>
            <a:r>
              <a:rPr lang="en-US" altLang="en-US" sz="2000" dirty="0">
                <a:latin typeface="+mj-lt"/>
              </a:rPr>
              <a:t> 16-21)</a:t>
            </a:r>
            <a:endParaRPr lang="fr-FR" altLang="en-US" sz="2000" dirty="0">
              <a:latin typeface="+mj-lt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fi-FI" altLang="en-US" sz="2000" b="1" dirty="0">
                <a:solidFill>
                  <a:srgbClr val="FF0000"/>
                </a:solidFill>
              </a:rPr>
              <a:t>Thi Giữa kì: Trắc ngiệm (</a:t>
            </a:r>
            <a:r>
              <a:rPr lang="vi-VN" altLang="en-US" sz="2000" b="1" dirty="0">
                <a:solidFill>
                  <a:srgbClr val="FF0000"/>
                </a:solidFill>
              </a:rPr>
              <a:t>22-24</a:t>
            </a:r>
            <a:r>
              <a:rPr lang="en-US" altLang="en-US" sz="2000" b="1" dirty="0">
                <a:solidFill>
                  <a:srgbClr val="FF0000"/>
                </a:solidFill>
              </a:rPr>
              <a:t>t</a:t>
            </a:r>
            <a:r>
              <a:rPr lang="fi-FI" altLang="en-US" sz="2000" b="1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b="1" dirty="0" err="1">
                <a:solidFill>
                  <a:srgbClr val="FF0000"/>
                </a:solidFill>
              </a:rPr>
              <a:t>Phần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vi-VN" altLang="en-US" sz="2000" b="1" dirty="0">
                <a:solidFill>
                  <a:srgbClr val="FF0000"/>
                </a:solidFill>
              </a:rPr>
              <a:t>2</a:t>
            </a:r>
            <a:r>
              <a:rPr lang="en-US" altLang="en-US" sz="2000" b="1" dirty="0">
                <a:solidFill>
                  <a:srgbClr val="FF0000"/>
                </a:solidFill>
              </a:rPr>
              <a:t>: </a:t>
            </a:r>
            <a:r>
              <a:rPr lang="vi-VN" altLang="en-US" sz="2000" b="1" dirty="0">
                <a:solidFill>
                  <a:srgbClr val="FF0000"/>
                </a:solidFill>
              </a:rPr>
              <a:t>Xây dựng App</a:t>
            </a:r>
            <a:r>
              <a:rPr lang="en-US" altLang="en-US" sz="2000" b="1" dirty="0">
                <a:solidFill>
                  <a:srgbClr val="FF0000"/>
                </a:solidFill>
              </a:rPr>
              <a:t> (25-42t)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 err="1">
                <a:latin typeface="+mj-lt"/>
                <a:ea typeface="+mn-ea"/>
                <a:cs typeface="+mn-cs"/>
              </a:rPr>
              <a:t>Chương</a:t>
            </a:r>
            <a:r>
              <a:rPr lang="en-US" altLang="en-US" sz="2000" dirty="0">
                <a:latin typeface="+mj-lt"/>
                <a:ea typeface="+mn-ea"/>
                <a:cs typeface="+mn-cs"/>
              </a:rPr>
              <a:t> 6	JPA (</a:t>
            </a:r>
            <a:r>
              <a:rPr lang="vi-VN" altLang="en-US" sz="2000" dirty="0">
                <a:latin typeface="+mj-lt"/>
                <a:ea typeface="+mn-ea"/>
                <a:cs typeface="+mn-cs"/>
              </a:rPr>
              <a:t>25-33</a:t>
            </a:r>
            <a:r>
              <a:rPr lang="en-US" altLang="en-US" sz="2000" dirty="0">
                <a:latin typeface="+mj-lt"/>
                <a:ea typeface="+mn-ea"/>
                <a:cs typeface="+mn-cs"/>
              </a:rPr>
              <a:t>)</a:t>
            </a:r>
            <a:endParaRPr lang="vi-VN" altLang="en-US" sz="2000" dirty="0">
              <a:latin typeface="+mj-lt"/>
              <a:ea typeface="+mn-ea"/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vi-VN" altLang="en-US" sz="2000" dirty="0">
                <a:latin typeface="+mj-lt"/>
                <a:ea typeface="+mn-ea"/>
                <a:cs typeface="+mn-cs"/>
              </a:rPr>
              <a:t>Chương </a:t>
            </a:r>
            <a:r>
              <a:rPr lang="en-US" altLang="en-US" sz="2000" dirty="0">
                <a:latin typeface="+mj-lt"/>
                <a:ea typeface="+mn-ea"/>
                <a:cs typeface="+mn-cs"/>
              </a:rPr>
              <a:t>7</a:t>
            </a:r>
            <a:r>
              <a:rPr lang="vi-VN" altLang="en-US" sz="2000" dirty="0">
                <a:latin typeface="+mj-lt"/>
                <a:ea typeface="+mn-ea"/>
                <a:cs typeface="+mn-cs"/>
              </a:rPr>
              <a:t> </a:t>
            </a:r>
            <a:r>
              <a:rPr lang="en-US" altLang="en-US" sz="2000" dirty="0">
                <a:latin typeface="+mj-lt"/>
                <a:ea typeface="+mn-ea"/>
                <a:cs typeface="+mn-cs"/>
              </a:rPr>
              <a:t>  </a:t>
            </a:r>
            <a:r>
              <a:rPr lang="vi-VN" altLang="en-US" sz="2000" dirty="0">
                <a:latin typeface="+mj-lt"/>
                <a:ea typeface="+mn-ea"/>
                <a:cs typeface="+mn-cs"/>
              </a:rPr>
              <a:t>Web Application (34-42)</a:t>
            </a:r>
            <a:endParaRPr lang="en-US" altLang="en-US" sz="2000" dirty="0">
              <a:latin typeface="+mj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b="1" dirty="0" err="1">
                <a:solidFill>
                  <a:srgbClr val="FF0000"/>
                </a:solidFill>
              </a:rPr>
              <a:t>Ôn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</a:rPr>
              <a:t>thi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</a:rPr>
              <a:t>cuối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</a:rPr>
              <a:t>kì</a:t>
            </a:r>
            <a:r>
              <a:rPr lang="en-US" altLang="en-US" sz="2000" b="1" dirty="0">
                <a:solidFill>
                  <a:srgbClr val="FF0000"/>
                </a:solidFill>
              </a:rPr>
              <a:t>: (</a:t>
            </a:r>
            <a:r>
              <a:rPr lang="vi-VN" altLang="en-US" sz="2000" b="1" dirty="0">
                <a:solidFill>
                  <a:srgbClr val="FF0000"/>
                </a:solidFill>
              </a:rPr>
              <a:t>4</a:t>
            </a:r>
            <a:r>
              <a:rPr lang="en-US" altLang="en-US" sz="2000" b="1" dirty="0">
                <a:solidFill>
                  <a:srgbClr val="FF0000"/>
                </a:solidFill>
              </a:rPr>
              <a:t>3</a:t>
            </a:r>
            <a:r>
              <a:rPr lang="vi-VN" altLang="en-US" sz="2000" b="1" dirty="0">
                <a:solidFill>
                  <a:srgbClr val="FF0000"/>
                </a:solidFill>
              </a:rPr>
              <a:t>-45</a:t>
            </a:r>
            <a:r>
              <a:rPr lang="en-US" altLang="en-US" sz="2000" b="1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8FA42-FDD6-407F-53EA-DDD5959B7D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CCAE8B4-DE4F-5E33-71A5-8279D12D1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Tài liệu tham khảo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E351F28-64E5-9E46-2740-39F0DFE4E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8001000" cy="54864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[1] Michael </a:t>
            </a:r>
            <a:r>
              <a:rPr lang="en-US" altLang="en-US" sz="2000" dirty="0" err="1"/>
              <a:t>A.Smith</a:t>
            </a:r>
            <a:r>
              <a:rPr lang="en-US" altLang="en-US" sz="2000" dirty="0"/>
              <a:t>, </a:t>
            </a:r>
            <a:r>
              <a:rPr lang="en-US" altLang="en-US" sz="2000" i="1" dirty="0"/>
              <a:t>Java: an Object-Oriented Language</a:t>
            </a:r>
            <a:r>
              <a:rPr lang="en-US" altLang="en-US" sz="2000" dirty="0"/>
              <a:t>, McGraw-Hill, 2000. </a:t>
            </a:r>
          </a:p>
          <a:p>
            <a:pPr eaLnBrk="1" hangingPunct="1"/>
            <a:r>
              <a:rPr lang="en-US" altLang="en-US" sz="2000" dirty="0"/>
              <a:t>[2] Prof. </a:t>
            </a:r>
            <a:r>
              <a:rPr lang="en-US" altLang="en-US" sz="2000" dirty="0" err="1"/>
              <a:t>Alfons</a:t>
            </a:r>
            <a:r>
              <a:rPr lang="en-US" altLang="en-US" sz="2000" dirty="0"/>
              <a:t> </a:t>
            </a:r>
            <a:r>
              <a:rPr lang="en-US" altLang="en-US" sz="2000" i="1" dirty="0"/>
              <a:t>Kemper</a:t>
            </a:r>
            <a:r>
              <a:rPr lang="en-US" altLang="en-US" sz="2000" dirty="0"/>
              <a:t>, Ph. D.: Object oriented Data modeling And programming In java,2000</a:t>
            </a:r>
          </a:p>
          <a:p>
            <a:pPr eaLnBrk="1" hangingPunct="1"/>
            <a:r>
              <a:rPr lang="en-US" altLang="en-US" sz="2000" dirty="0"/>
              <a:t>[3] Copyright  by </a:t>
            </a:r>
            <a:r>
              <a:rPr lang="en-US" altLang="en-US" sz="2000" dirty="0" err="1"/>
              <a:t>Sams</a:t>
            </a:r>
            <a:r>
              <a:rPr lang="en-US" altLang="en-US" sz="2000" dirty="0"/>
              <a:t> Publishing :</a:t>
            </a:r>
            <a:r>
              <a:rPr lang="en-US" altLang="en-US" sz="2000" dirty="0" err="1"/>
              <a:t>Sams</a:t>
            </a:r>
            <a:r>
              <a:rPr lang="en-US" altLang="en-US" sz="2000" dirty="0"/>
              <a:t> Teach Yourself Object Oriented Programming in 21 Days, 2002</a:t>
            </a:r>
          </a:p>
          <a:p>
            <a:pPr eaLnBrk="1" hangingPunct="1"/>
            <a:r>
              <a:rPr lang="en-US" altLang="en-US" sz="2000" dirty="0"/>
              <a:t>Thinking Java</a:t>
            </a:r>
          </a:p>
          <a:p>
            <a:pPr eaLnBrk="1" hangingPunct="1"/>
            <a:r>
              <a:rPr lang="en-US" altLang="en-US" sz="2000" dirty="0"/>
              <a:t>Java How to </a:t>
            </a:r>
            <a:r>
              <a:rPr lang="en-US" altLang="en-US" sz="2000" dirty="0" err="1"/>
              <a:t>progarmming</a:t>
            </a:r>
            <a:endParaRPr lang="en-US" altLang="en-US" sz="2000" dirty="0"/>
          </a:p>
          <a:p>
            <a:pPr eaLnBrk="1" hangingPunct="1"/>
            <a:r>
              <a:rPr lang="vi-VN" altLang="en-US" sz="2000" dirty="0"/>
              <a:t>Giáo trình </a:t>
            </a:r>
            <a:r>
              <a:rPr lang="en-US" altLang="en-US" sz="2000" dirty="0" err="1"/>
              <a:t>thực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hành</a:t>
            </a:r>
            <a:r>
              <a:rPr lang="en-US" altLang="en-US" sz="2000" dirty="0"/>
              <a:t>-STU</a:t>
            </a:r>
          </a:p>
          <a:p>
            <a:pPr marL="400050" lvl="1" indent="0">
              <a:buNone/>
            </a:pPr>
            <a:br>
              <a:rPr lang="en-US" altLang="en-US" dirty="0"/>
            </a:br>
            <a:endParaRPr lang="en-US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EC17E52-0389-770F-155B-960814ACE3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762000"/>
            <a:ext cx="2743200" cy="731838"/>
          </a:xfrm>
        </p:spPr>
        <p:txBody>
          <a:bodyPr/>
          <a:lstStyle/>
          <a:p>
            <a:pPr eaLnBrk="1" hangingPunct="1"/>
            <a:r>
              <a:rPr lang="en-GB" altLang="en-US" b="0">
                <a:latin typeface="Tahoma" panose="020B0604030504040204" pitchFamily="34" charset="0"/>
              </a:rPr>
              <a:t>Chương 1</a:t>
            </a:r>
            <a:endParaRPr lang="en-US" altLang="en-US" b="0">
              <a:latin typeface="Tahoma" panose="020B0604030504040204" pitchFamily="34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1D57177-2D38-5A93-1125-AFEB80B46D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90600" y="1524000"/>
            <a:ext cx="6934200" cy="1447800"/>
          </a:xfrm>
        </p:spPr>
        <p:txBody>
          <a:bodyPr/>
          <a:lstStyle/>
          <a:p>
            <a:pPr eaLnBrk="1" hangingPunct="1"/>
            <a:r>
              <a:rPr lang="en-US" altLang="en-US" sz="4800" b="1"/>
              <a:t>Tổng quan công nghệ Java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00CF8F5-013D-4D27-CD3D-76B7624EF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Nội dung</a:t>
            </a:r>
            <a:endParaRPr lang="en-GB" altLang="en-US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FAAC5611-EF27-3FEC-1994-06905799F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0"/>
            <a:ext cx="8534400" cy="5486400"/>
          </a:xfrm>
        </p:spPr>
        <p:txBody>
          <a:bodyPr/>
          <a:lstStyle/>
          <a:p>
            <a:pPr marL="277422" indent="-264725"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spc="15" dirty="0">
                <a:cs typeface="Arial"/>
              </a:rPr>
              <a:t>G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spc="5" dirty="0">
                <a:cs typeface="Arial"/>
              </a:rPr>
              <a:t>ớ</a:t>
            </a:r>
            <a:r>
              <a:rPr lang="vi-VN" sz="2400" dirty="0">
                <a:cs typeface="Arial"/>
              </a:rPr>
              <a:t>i</a:t>
            </a:r>
            <a:r>
              <a:rPr lang="vi-VN" sz="2400" spc="-45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dirty="0">
                <a:cs typeface="Arial"/>
              </a:rPr>
              <a:t>h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ệ</a:t>
            </a:r>
            <a:r>
              <a:rPr lang="vi-VN" sz="2400" spc="10" dirty="0">
                <a:cs typeface="Arial"/>
              </a:rPr>
              <a:t>u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v</a:t>
            </a:r>
            <a:r>
              <a:rPr lang="vi-VN" sz="2400" spc="10" dirty="0">
                <a:cs typeface="Arial"/>
              </a:rPr>
              <a:t>ề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-10" dirty="0">
                <a:cs typeface="Arial"/>
              </a:rPr>
              <a:t>lị</a:t>
            </a:r>
            <a:r>
              <a:rPr lang="vi-VN" sz="2400" spc="5" dirty="0">
                <a:cs typeface="Arial"/>
              </a:rPr>
              <a:t>ch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s</a:t>
            </a:r>
            <a:r>
              <a:rPr lang="vi-VN" sz="2400" spc="10" dirty="0">
                <a:cs typeface="Arial"/>
              </a:rPr>
              <a:t>ử</a:t>
            </a:r>
            <a:r>
              <a:rPr lang="vi-VN" sz="2400" spc="5" dirty="0">
                <a:cs typeface="Arial"/>
              </a:rPr>
              <a:t> c</a:t>
            </a:r>
            <a:r>
              <a:rPr lang="vi-VN" sz="2400" dirty="0">
                <a:cs typeface="Arial"/>
              </a:rPr>
              <a:t>ủ</a:t>
            </a:r>
            <a:r>
              <a:rPr lang="vi-VN" sz="2400" spc="10" dirty="0">
                <a:cs typeface="Arial"/>
              </a:rPr>
              <a:t>a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endParaRPr lang="vi-VN" sz="2400" dirty="0">
              <a:cs typeface="Arial"/>
            </a:endParaRPr>
          </a:p>
          <a:p>
            <a:pPr marL="277422" indent="-264725">
              <a:spcBef>
                <a:spcPts val="900"/>
              </a:spcBef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spc="15" dirty="0">
                <a:cs typeface="Arial"/>
              </a:rPr>
              <a:t>M</a:t>
            </a:r>
            <a:r>
              <a:rPr lang="vi-VN" sz="2400" dirty="0">
                <a:cs typeface="Arial"/>
              </a:rPr>
              <a:t>ộ</a:t>
            </a:r>
            <a:r>
              <a:rPr lang="vi-VN" sz="2400" spc="5" dirty="0">
                <a:cs typeface="Arial"/>
              </a:rPr>
              <a:t>t</a:t>
            </a:r>
            <a:r>
              <a:rPr lang="vi-VN" sz="2400" spc="-3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s</a:t>
            </a:r>
            <a:r>
              <a:rPr lang="vi-VN" sz="2400" spc="10" dirty="0">
                <a:cs typeface="Arial"/>
              </a:rPr>
              <a:t>ố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đặ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10" dirty="0">
                <a:cs typeface="Arial"/>
              </a:rPr>
              <a:t> tí</a:t>
            </a:r>
            <a:r>
              <a:rPr lang="vi-VN" sz="2400" dirty="0">
                <a:cs typeface="Arial"/>
              </a:rPr>
              <a:t>n</a:t>
            </a:r>
            <a:r>
              <a:rPr lang="vi-VN" sz="2400" spc="10" dirty="0">
                <a:cs typeface="Arial"/>
              </a:rPr>
              <a:t>h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c</a:t>
            </a:r>
            <a:r>
              <a:rPr lang="vi-VN" sz="2400" dirty="0">
                <a:cs typeface="Arial"/>
              </a:rPr>
              <a:t>ủ</a:t>
            </a:r>
            <a:r>
              <a:rPr lang="vi-VN" sz="2400" spc="10" dirty="0">
                <a:cs typeface="Arial"/>
              </a:rPr>
              <a:t>a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endParaRPr lang="vi-VN" sz="2400" dirty="0">
              <a:cs typeface="Arial"/>
            </a:endParaRPr>
          </a:p>
          <a:p>
            <a:pPr marL="277422" indent="-264725">
              <a:spcBef>
                <a:spcPts val="925"/>
              </a:spcBef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spc="5" dirty="0">
                <a:cs typeface="Arial"/>
              </a:rPr>
              <a:t>K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ế</a:t>
            </a:r>
            <a:r>
              <a:rPr lang="vi-VN" sz="2400" spc="10" dirty="0">
                <a:cs typeface="Arial"/>
              </a:rPr>
              <a:t>n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spc="5" dirty="0">
                <a:cs typeface="Arial"/>
              </a:rPr>
              <a:t>r</a:t>
            </a:r>
            <a:r>
              <a:rPr lang="vi-VN" sz="2400" dirty="0">
                <a:cs typeface="Arial"/>
              </a:rPr>
              <a:t>ú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endParaRPr lang="vi-VN" sz="2400" dirty="0">
              <a:cs typeface="Arial"/>
            </a:endParaRPr>
          </a:p>
          <a:p>
            <a:pPr marL="277422" indent="-264725">
              <a:spcBef>
                <a:spcPts val="900"/>
              </a:spcBef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spc="5" dirty="0">
                <a:cs typeface="Arial"/>
              </a:rPr>
              <a:t>JV</a:t>
            </a:r>
            <a:r>
              <a:rPr lang="vi-VN" sz="2400" spc="15" dirty="0">
                <a:cs typeface="Arial"/>
              </a:rPr>
              <a:t>M</a:t>
            </a:r>
            <a:r>
              <a:rPr lang="vi-VN" sz="2400" spc="-35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–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15" dirty="0">
                <a:cs typeface="Arial"/>
              </a:rPr>
              <a:t>M</a:t>
            </a:r>
            <a:r>
              <a:rPr lang="vi-VN" sz="2400" dirty="0">
                <a:cs typeface="Arial"/>
              </a:rPr>
              <a:t>á</a:t>
            </a:r>
            <a:r>
              <a:rPr lang="vi-VN" sz="2400" spc="5" dirty="0">
                <a:cs typeface="Arial"/>
              </a:rPr>
              <a:t>y</a:t>
            </a:r>
            <a:r>
              <a:rPr lang="vi-VN" sz="2400" spc="1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ả</a:t>
            </a:r>
            <a:r>
              <a:rPr lang="vi-VN" sz="2400" spc="10" dirty="0">
                <a:cs typeface="Arial"/>
              </a:rPr>
              <a:t>o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endParaRPr lang="vi-VN" sz="2400" dirty="0">
              <a:cs typeface="Arial"/>
            </a:endParaRPr>
          </a:p>
          <a:p>
            <a:pPr marL="277422" indent="-264725">
              <a:spcBef>
                <a:spcPts val="925"/>
              </a:spcBef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dirty="0">
                <a:cs typeface="Arial"/>
              </a:rPr>
              <a:t>Cá</a:t>
            </a:r>
            <a:r>
              <a:rPr lang="vi-VN" sz="2400" spc="5" dirty="0">
                <a:cs typeface="Arial"/>
              </a:rPr>
              <a:t>c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spc="-10" dirty="0">
                <a:cs typeface="Arial"/>
              </a:rPr>
              <a:t>l</a:t>
            </a:r>
            <a:r>
              <a:rPr lang="vi-VN" sz="2400" dirty="0">
                <a:cs typeface="Arial"/>
              </a:rPr>
              <a:t>oại</a:t>
            </a:r>
            <a:r>
              <a:rPr lang="vi-VN" sz="2400" spc="3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ứng dụng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endParaRPr lang="vi-VN" sz="2400" dirty="0">
              <a:cs typeface="Arial"/>
            </a:endParaRPr>
          </a:p>
          <a:p>
            <a:pPr marL="277422" indent="-264725">
              <a:spcBef>
                <a:spcPts val="900"/>
              </a:spcBef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spc="15" dirty="0">
                <a:cs typeface="Arial"/>
              </a:rPr>
              <a:t>M</a:t>
            </a:r>
            <a:r>
              <a:rPr lang="vi-VN" sz="2400" dirty="0">
                <a:cs typeface="Arial"/>
              </a:rPr>
              <a:t>ộ</a:t>
            </a:r>
            <a:r>
              <a:rPr lang="vi-VN" sz="2400" spc="5" dirty="0">
                <a:cs typeface="Arial"/>
              </a:rPr>
              <a:t>t</a:t>
            </a:r>
            <a:r>
              <a:rPr lang="vi-VN" sz="2400" spc="-3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s</a:t>
            </a:r>
            <a:r>
              <a:rPr lang="vi-VN" sz="2400" spc="10" dirty="0">
                <a:cs typeface="Arial"/>
              </a:rPr>
              <a:t>ố</a:t>
            </a:r>
            <a:r>
              <a:rPr lang="vi-VN" sz="2400" spc="-2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D</a:t>
            </a:r>
            <a:r>
              <a:rPr lang="vi-VN" sz="2400" spc="10" dirty="0">
                <a:cs typeface="Arial"/>
              </a:rPr>
              <a:t>E</a:t>
            </a:r>
            <a:r>
              <a:rPr lang="vi-VN" sz="2400" spc="-1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dùn</a:t>
            </a:r>
            <a:r>
              <a:rPr lang="vi-VN" sz="2400" spc="10" dirty="0">
                <a:cs typeface="Arial"/>
              </a:rPr>
              <a:t>g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c</a:t>
            </a:r>
            <a:r>
              <a:rPr lang="vi-VN" sz="2400" dirty="0">
                <a:cs typeface="Arial"/>
              </a:rPr>
              <a:t>h</a:t>
            </a:r>
            <a:r>
              <a:rPr lang="vi-VN" sz="2400" spc="10" dirty="0">
                <a:cs typeface="Arial"/>
              </a:rPr>
              <a:t>o</a:t>
            </a:r>
            <a:r>
              <a:rPr lang="vi-VN" sz="2400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endParaRPr lang="vi-VN" sz="2400" dirty="0">
              <a:cs typeface="Arial"/>
            </a:endParaRPr>
          </a:p>
          <a:p>
            <a:pPr marL="277422" indent="-264725">
              <a:spcBef>
                <a:spcPts val="925"/>
              </a:spcBef>
              <a:buFont typeface="Wingdings"/>
              <a:buChar char=""/>
              <a:tabLst>
                <a:tab pos="278056" algn="l"/>
              </a:tabLst>
              <a:defRPr/>
            </a:pPr>
            <a:r>
              <a:rPr lang="vi-VN" sz="2400" dirty="0">
                <a:cs typeface="Arial"/>
              </a:rPr>
              <a:t>Chư</a:t>
            </a:r>
            <a:r>
              <a:rPr lang="vi-VN" sz="2400" spc="5" dirty="0">
                <a:cs typeface="Arial"/>
              </a:rPr>
              <a:t>ơ</a:t>
            </a:r>
            <a:r>
              <a:rPr lang="vi-VN" sz="2400" dirty="0">
                <a:cs typeface="Arial"/>
              </a:rPr>
              <a:t>n</a:t>
            </a:r>
            <a:r>
              <a:rPr lang="vi-VN" sz="2400" spc="10" dirty="0">
                <a:cs typeface="Arial"/>
              </a:rPr>
              <a:t>g</a:t>
            </a:r>
            <a:r>
              <a:rPr lang="vi-VN" sz="240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spc="5" dirty="0">
                <a:cs typeface="Arial"/>
              </a:rPr>
              <a:t>r</a:t>
            </a:r>
            <a:r>
              <a:rPr lang="vi-VN" sz="2400" spc="10" dirty="0">
                <a:cs typeface="Arial"/>
              </a:rPr>
              <a:t>ì</a:t>
            </a:r>
            <a:r>
              <a:rPr lang="vi-VN" sz="2400" dirty="0">
                <a:cs typeface="Arial"/>
              </a:rPr>
              <a:t>n</a:t>
            </a:r>
            <a:r>
              <a:rPr lang="vi-VN" sz="2400" spc="10" dirty="0">
                <a:cs typeface="Arial"/>
              </a:rPr>
              <a:t>h</a:t>
            </a:r>
            <a:r>
              <a:rPr lang="vi-VN" sz="2400" spc="-45" dirty="0">
                <a:cs typeface="Arial"/>
              </a:rPr>
              <a:t> </a:t>
            </a:r>
            <a:r>
              <a:rPr lang="vi-VN" sz="2400" spc="5" dirty="0">
                <a:cs typeface="Arial"/>
              </a:rPr>
              <a:t>J</a:t>
            </a:r>
            <a:r>
              <a:rPr lang="vi-VN" sz="2400" dirty="0">
                <a:cs typeface="Arial"/>
              </a:rPr>
              <a:t>a</a:t>
            </a:r>
            <a:r>
              <a:rPr lang="vi-VN" sz="2400" spc="5" dirty="0">
                <a:cs typeface="Arial"/>
              </a:rPr>
              <a:t>va</a:t>
            </a:r>
            <a:r>
              <a:rPr lang="vi-VN" sz="2400" dirty="0">
                <a:cs typeface="Arial"/>
              </a:rPr>
              <a:t> đầ</a:t>
            </a:r>
            <a:r>
              <a:rPr lang="vi-VN" sz="2400" spc="10" dirty="0">
                <a:cs typeface="Arial"/>
              </a:rPr>
              <a:t>u</a:t>
            </a:r>
            <a:r>
              <a:rPr lang="vi-VN" sz="2400" dirty="0">
                <a:cs typeface="Arial"/>
              </a:rPr>
              <a:t> </a:t>
            </a:r>
            <a:r>
              <a:rPr lang="vi-VN" sz="2400" spc="10" dirty="0">
                <a:cs typeface="Arial"/>
              </a:rPr>
              <a:t>t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ê</a:t>
            </a:r>
            <a:r>
              <a:rPr lang="vi-VN" sz="2400" spc="10" dirty="0">
                <a:cs typeface="Arial"/>
              </a:rPr>
              <a:t>n</a:t>
            </a:r>
            <a:endParaRPr lang="vi-VN" sz="2400" dirty="0"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EAF8D-3DF6-83A1-30CE-A9144ECB6E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A7913D0-1CFC-160C-2DCB-225B1F54A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Lịch sử phát triển</a:t>
            </a:r>
            <a:endParaRPr lang="en-GB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051C7C25-CE4A-F2D1-2D80-E47119A85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763000" cy="5486400"/>
          </a:xfrm>
        </p:spPr>
        <p:txBody>
          <a:bodyPr/>
          <a:lstStyle/>
          <a:p>
            <a:r>
              <a:rPr lang="vi-VN" altLang="en-US" sz="2400" dirty="0">
                <a:cs typeface="Arial" panose="020B0604020202020204" pitchFamily="34" charset="0"/>
              </a:rPr>
              <a:t>1991: Sun Microsystems phát triển OAK nhằm mục đích viết phần mềm điều khiển (phần mềm nhúng) cho các sản phẩm gia dụng.</a:t>
            </a:r>
            <a:endParaRPr lang="en-US" altLang="en-US" sz="2400" dirty="0">
              <a:cs typeface="Arial" panose="020B0604020202020204" pitchFamily="34" charset="0"/>
            </a:endParaRPr>
          </a:p>
          <a:p>
            <a:endParaRPr lang="en-US" altLang="en-US" sz="2400" dirty="0">
              <a:cs typeface="Arial" panose="020B0604020202020204" pitchFamily="34" charset="0"/>
            </a:endParaRPr>
          </a:p>
          <a:p>
            <a:endParaRPr lang="en-US" altLang="en-US" sz="2400" dirty="0">
              <a:cs typeface="Arial" panose="020B0604020202020204" pitchFamily="34" charset="0"/>
            </a:endParaRPr>
          </a:p>
          <a:p>
            <a:endParaRPr lang="vi-VN" altLang="en-US" sz="2400" dirty="0">
              <a:cs typeface="Arial" panose="020B0604020202020204" pitchFamily="34" charset="0"/>
            </a:endParaRPr>
          </a:p>
          <a:p>
            <a:pPr>
              <a:lnSpc>
                <a:spcPct val="121000"/>
              </a:lnSpc>
              <a:buFont typeface="Wingdings" panose="05000000000000000000" pitchFamily="2" charset="2"/>
              <a:buChar char=""/>
            </a:pPr>
            <a:r>
              <a:rPr lang="vi-VN" altLang="en-US" sz="2400" dirty="0">
                <a:cs typeface="Arial" panose="020B0604020202020204" pitchFamily="34" charset="0"/>
              </a:rPr>
              <a:t>1995:  Internet  bùng  nổ,  phát  triển  mạnh.  Sun  phát  triển OAK và giới thiệu ngôn ngữ lập trình mới tên Java</a:t>
            </a: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"/>
            </a:pPr>
            <a:r>
              <a:rPr lang="vi-VN" altLang="en-US" sz="2400" dirty="0">
                <a:cs typeface="Arial" panose="020B0604020202020204" pitchFamily="34" charset="0"/>
              </a:rPr>
              <a:t>Java là ngôn ngữ hướng đối tượng tựa C, C++,C#</a:t>
            </a:r>
          </a:p>
          <a:p>
            <a:endParaRPr lang="en-GB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FD0AC-1066-EA49-3BF9-092790F9B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grpSp>
        <p:nvGrpSpPr>
          <p:cNvPr id="14341" name="Group 9">
            <a:extLst>
              <a:ext uri="{FF2B5EF4-FFF2-40B4-BE49-F238E27FC236}">
                <a16:creationId xmlns:a16="http://schemas.microsoft.com/office/drawing/2014/main" id="{C3B22ECE-74E0-8FFD-F2B6-66637C8ABAF5}"/>
              </a:ext>
            </a:extLst>
          </p:cNvPr>
          <p:cNvGrpSpPr>
            <a:grpSpLocks/>
          </p:cNvGrpSpPr>
          <p:nvPr/>
        </p:nvGrpSpPr>
        <p:grpSpPr bwMode="auto">
          <a:xfrm>
            <a:off x="2078038" y="2320925"/>
            <a:ext cx="4856162" cy="742950"/>
            <a:chOff x="1350263" y="2191513"/>
            <a:chExt cx="4855466" cy="743710"/>
          </a:xfrm>
        </p:grpSpPr>
        <p:sp>
          <p:nvSpPr>
            <p:cNvPr id="14345" name="object 15">
              <a:extLst>
                <a:ext uri="{FF2B5EF4-FFF2-40B4-BE49-F238E27FC236}">
                  <a16:creationId xmlns:a16="http://schemas.microsoft.com/office/drawing/2014/main" id="{0D73112F-6A91-9E3C-4394-810074D88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263" y="2191513"/>
              <a:ext cx="841247" cy="740663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4346" name="object 16">
              <a:extLst>
                <a:ext uri="{FF2B5EF4-FFF2-40B4-BE49-F238E27FC236}">
                  <a16:creationId xmlns:a16="http://schemas.microsoft.com/office/drawing/2014/main" id="{968C95B4-741E-FC8C-2BD4-FE186CF02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194" y="2200655"/>
              <a:ext cx="832103" cy="734568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4347" name="object 17">
              <a:extLst>
                <a:ext uri="{FF2B5EF4-FFF2-40B4-BE49-F238E27FC236}">
                  <a16:creationId xmlns:a16="http://schemas.microsoft.com/office/drawing/2014/main" id="{E2922B02-97D3-D9E8-B321-55C30AE91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993" y="2200655"/>
              <a:ext cx="664463" cy="710183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4348" name="object 18">
              <a:extLst>
                <a:ext uri="{FF2B5EF4-FFF2-40B4-BE49-F238E27FC236}">
                  <a16:creationId xmlns:a16="http://schemas.microsoft.com/office/drawing/2014/main" id="{C0E5CAB3-89A4-72F0-867D-71782277E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354" y="2191513"/>
              <a:ext cx="533400" cy="704087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4349" name="object 19">
              <a:extLst>
                <a:ext uri="{FF2B5EF4-FFF2-40B4-BE49-F238E27FC236}">
                  <a16:creationId xmlns:a16="http://schemas.microsoft.com/office/drawing/2014/main" id="{DB91CB43-97E5-834A-0698-10BAC66A0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2" y="2200655"/>
              <a:ext cx="947927" cy="710183"/>
            </a:xfrm>
            <a:prstGeom prst="rect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</p:grpSp>
      <p:grpSp>
        <p:nvGrpSpPr>
          <p:cNvPr id="14342" name="Group 12">
            <a:extLst>
              <a:ext uri="{FF2B5EF4-FFF2-40B4-BE49-F238E27FC236}">
                <a16:creationId xmlns:a16="http://schemas.microsoft.com/office/drawing/2014/main" id="{3659EDB2-1CCF-FE4F-0EFB-7A1C2087EBB0}"/>
              </a:ext>
            </a:extLst>
          </p:cNvPr>
          <p:cNvGrpSpPr>
            <a:grpSpLocks/>
          </p:cNvGrpSpPr>
          <p:nvPr/>
        </p:nvGrpSpPr>
        <p:grpSpPr bwMode="auto">
          <a:xfrm>
            <a:off x="3235325" y="5011738"/>
            <a:ext cx="1246188" cy="652462"/>
            <a:chOff x="3223834" y="4145279"/>
            <a:chExt cx="1246634" cy="652273"/>
          </a:xfrm>
        </p:grpSpPr>
        <p:sp>
          <p:nvSpPr>
            <p:cNvPr id="14343" name="object 14">
              <a:extLst>
                <a:ext uri="{FF2B5EF4-FFF2-40B4-BE49-F238E27FC236}">
                  <a16:creationId xmlns:a16="http://schemas.microsoft.com/office/drawing/2014/main" id="{F396EAA7-E76B-2027-BE70-84BE16519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3834" y="4148329"/>
              <a:ext cx="551687" cy="649223"/>
            </a:xfrm>
            <a:prstGeom prst="rect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4344" name="object 20">
              <a:extLst>
                <a:ext uri="{FF2B5EF4-FFF2-40B4-BE49-F238E27FC236}">
                  <a16:creationId xmlns:a16="http://schemas.microsoft.com/office/drawing/2014/main" id="{B4EF62E6-CF7E-BCE4-5B7A-3ADF176F2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421" y="4145279"/>
              <a:ext cx="384047" cy="652271"/>
            </a:xfrm>
            <a:prstGeom prst="rect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DAC49C1-00ED-8058-F4B9-6DE589C36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Lịch sử phát triển</a:t>
            </a:r>
            <a:endParaRPr lang="en-GB" altLang="en-US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3ABBB017-47C2-F798-B5B7-0A66B97603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6225" indent="-263525" algn="just">
              <a:lnSpc>
                <a:spcPct val="121000"/>
              </a:lnSpc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900">
                <a:cs typeface="Arial" panose="020B0604020202020204" pitchFamily="34" charset="0"/>
              </a:rPr>
              <a:t>Hiện  nay,  </a:t>
            </a:r>
            <a:r>
              <a:rPr lang="en-US" altLang="en-US" sz="1900">
                <a:cs typeface="Arial" panose="020B0604020202020204" pitchFamily="34" charset="0"/>
              </a:rPr>
              <a:t>Java </a:t>
            </a:r>
            <a:r>
              <a:rPr lang="vi-VN" altLang="en-US" sz="1900">
                <a:cs typeface="Arial" panose="020B0604020202020204" pitchFamily="34" charset="0"/>
              </a:rPr>
              <a:t>được  chấp  nhận  </a:t>
            </a:r>
            <a:r>
              <a:rPr lang="vi-VN" altLang="en-US" sz="1900">
                <a:solidFill>
                  <a:srgbClr val="0000FF"/>
                </a:solidFill>
                <a:cs typeface="Arial" panose="020B0604020202020204" pitchFamily="34" charset="0"/>
              </a:rPr>
              <a:t>rộng  rãi  </a:t>
            </a:r>
            <a:r>
              <a:rPr lang="vi-VN" altLang="en-US" sz="1900">
                <a:cs typeface="Arial" panose="020B0604020202020204" pitchFamily="34" charset="0"/>
              </a:rPr>
              <a:t>với  tư  cách  là  một ngôn ngữ (công nghệ) đa dụng</a:t>
            </a:r>
          </a:p>
          <a:p>
            <a:pPr marL="649288" lvl="1" indent="-279400">
              <a:spcBef>
                <a:spcPts val="900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</a:tabLst>
            </a:pPr>
            <a:r>
              <a:rPr lang="vi-VN" altLang="en-US" sz="1900">
                <a:cs typeface="Arial" panose="020B0604020202020204" pitchFamily="34" charset="0"/>
              </a:rPr>
              <a:t>Khả chuyển, an toàn</a:t>
            </a:r>
          </a:p>
          <a:p>
            <a:pPr marL="649288" lvl="1" indent="-279400">
              <a:spcBef>
                <a:spcPts val="925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</a:tabLst>
            </a:pPr>
            <a:r>
              <a:rPr lang="vi-VN" altLang="en-US" sz="1900">
                <a:cs typeface="Arial" panose="020B0604020202020204" pitchFamily="34" charset="0"/>
              </a:rPr>
              <a:t>Hướng đối tượng, hướng thành phần</a:t>
            </a:r>
          </a:p>
          <a:p>
            <a:pPr marL="276225" indent="-263525" algn="just">
              <a:lnSpc>
                <a:spcPct val="121000"/>
              </a:lnSpc>
              <a:spcBef>
                <a:spcPts val="425"/>
              </a:spcBef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900">
                <a:cs typeface="Arial" panose="020B0604020202020204" pitchFamily="34" charset="0"/>
              </a:rPr>
              <a:t>Tính uyển chuyển của java do chương trình biên dịch tạo ra </a:t>
            </a:r>
            <a:r>
              <a:rPr lang="vi-VN" altLang="en-US" sz="1900">
                <a:solidFill>
                  <a:srgbClr val="0000FF"/>
                </a:solidFill>
                <a:cs typeface="Arial" panose="020B0604020202020204" pitchFamily="34" charset="0"/>
              </a:rPr>
              <a:t>mã byte (bytecodes) không phụ thuộc hệ thống máy sử dụng.</a:t>
            </a:r>
            <a:endParaRPr lang="vi-VN" altLang="en-US" sz="1900">
              <a:cs typeface="Arial" panose="020B0604020202020204" pitchFamily="34" charset="0"/>
            </a:endParaRPr>
          </a:p>
          <a:p>
            <a:pPr marL="276225" indent="-263525" algn="just">
              <a:lnSpc>
                <a:spcPct val="121000"/>
              </a:lnSpc>
              <a:spcBef>
                <a:spcPts val="425"/>
              </a:spcBef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900">
                <a:cs typeface="Arial" panose="020B0604020202020204" pitchFamily="34" charset="0"/>
              </a:rPr>
              <a:t>Bytecodes là tập hợp các câu lệnh tương tự như lệnh mã máy  (machine  code),  nó  được  tạo  ra  khi  một  chương trình Java được biên dịch xong.</a:t>
            </a:r>
          </a:p>
          <a:p>
            <a:pPr marL="276225" indent="-263525">
              <a:tabLst>
                <a:tab pos="277813" algn="l"/>
              </a:tabLst>
            </a:pP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D2D86-3A35-303C-EF82-0126B55315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F331-CC3D-84BB-1772-9900664A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vi-VN" spc="-20"/>
              <a:t>M</a:t>
            </a:r>
            <a:r>
              <a:rPr lang="vi-VN" spc="-10"/>
              <a:t>ột</a:t>
            </a:r>
            <a:r>
              <a:rPr lang="vi-VN" spc="-90"/>
              <a:t> </a:t>
            </a:r>
            <a:r>
              <a:rPr lang="vi-VN" spc="-15"/>
              <a:t>s</a:t>
            </a:r>
            <a:r>
              <a:rPr lang="vi-VN" spc="-20"/>
              <a:t>ố</a:t>
            </a:r>
            <a:r>
              <a:rPr lang="vi-VN" spc="-15"/>
              <a:t> </a:t>
            </a:r>
            <a:r>
              <a:rPr lang="vi-VN" spc="-10"/>
              <a:t>đ</a:t>
            </a:r>
            <a:r>
              <a:rPr lang="vi-VN" spc="-15"/>
              <a:t>ặc</a:t>
            </a:r>
            <a:r>
              <a:rPr lang="vi-VN" spc="-70"/>
              <a:t> </a:t>
            </a:r>
            <a:r>
              <a:rPr lang="vi-VN" spc="-5"/>
              <a:t>t</a:t>
            </a:r>
            <a:r>
              <a:rPr lang="vi-VN" spc="-10"/>
              <a:t>ín</a:t>
            </a:r>
            <a:r>
              <a:rPr lang="vi-VN" spc="-20"/>
              <a:t>h</a:t>
            </a:r>
            <a:r>
              <a:rPr lang="vi-VN" spc="-60"/>
              <a:t> </a:t>
            </a:r>
            <a:r>
              <a:rPr lang="vi-VN" spc="-15"/>
              <a:t>c</a:t>
            </a:r>
            <a:r>
              <a:rPr lang="vi-VN" spc="-10"/>
              <a:t>ủ</a:t>
            </a:r>
            <a:r>
              <a:rPr lang="vi-VN" spc="-15"/>
              <a:t>a</a:t>
            </a:r>
            <a:r>
              <a:rPr lang="vi-VN" spc="-45"/>
              <a:t> </a:t>
            </a:r>
            <a:r>
              <a:rPr lang="vi-VN" spc="-15"/>
              <a:t>Ja</a:t>
            </a:r>
            <a:r>
              <a:rPr lang="vi-VN" spc="-60"/>
              <a:t>v</a:t>
            </a:r>
            <a:r>
              <a:rPr lang="vi-VN" spc="-15"/>
              <a:t>a</a:t>
            </a:r>
            <a:endParaRPr lang="en-GB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6CE682EF-853F-75CF-E4C1-69853266B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5862" y="694006"/>
            <a:ext cx="9144000" cy="5706794"/>
          </a:xfrm>
        </p:spPr>
        <p:txBody>
          <a:bodyPr/>
          <a:lstStyle/>
          <a:p>
            <a:pPr marL="276225" indent="-263525" algn="just">
              <a:lnSpc>
                <a:spcPct val="121000"/>
              </a:lnSpc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Java có tính </a:t>
            </a:r>
            <a:r>
              <a:rPr lang="vi-VN" altLang="en-US" sz="1600" dirty="0">
                <a:solidFill>
                  <a:srgbClr val="0000FF"/>
                </a:solidFill>
                <a:cs typeface="Arial" panose="020B0604020202020204" pitchFamily="34" charset="0"/>
              </a:rPr>
              <a:t>độc lập với kiến trúc </a:t>
            </a:r>
            <a:r>
              <a:rPr lang="vi-VN" altLang="en-US" sz="1600" dirty="0">
                <a:cs typeface="Arial" panose="020B0604020202020204" pitchFamily="34" charset="0"/>
              </a:rPr>
              <a:t>không phụ thuộc vào hệ máy (platform – loại máy và hệ điều hành).</a:t>
            </a:r>
          </a:p>
          <a:p>
            <a:pPr marL="276225" indent="-263525" algn="just">
              <a:lnSpc>
                <a:spcPct val="121000"/>
              </a:lnSpc>
              <a:spcBef>
                <a:spcPts val="425"/>
              </a:spcBef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Java được kế thừa từ C,C++, và được loại bỏ đi các tính năng của C,C++ -&gt;java </a:t>
            </a:r>
            <a:r>
              <a:rPr lang="vi-VN" altLang="en-US" sz="1600" dirty="0">
                <a:solidFill>
                  <a:srgbClr val="0000FF"/>
                </a:solidFill>
                <a:cs typeface="Arial" panose="020B0604020202020204" pitchFamily="34" charset="0"/>
              </a:rPr>
              <a:t>“</a:t>
            </a:r>
            <a:r>
              <a:rPr lang="vi-VN" altLang="en-US" sz="1600" i="1" u="sng" dirty="0">
                <a:solidFill>
                  <a:srgbClr val="0000FF"/>
                </a:solidFill>
                <a:cs typeface="Arial" panose="020B0604020202020204" pitchFamily="34" charset="0"/>
              </a:rPr>
              <a:t>dễ</a:t>
            </a:r>
            <a:r>
              <a:rPr lang="vi-VN" altLang="en-US" sz="16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1600" i="1" u="sng" dirty="0">
                <a:solidFill>
                  <a:srgbClr val="0000FF"/>
                </a:solidFill>
                <a:cs typeface="Arial" panose="020B0604020202020204" pitchFamily="34" charset="0"/>
              </a:rPr>
              <a:t>sử</a:t>
            </a:r>
            <a:r>
              <a:rPr lang="vi-VN" altLang="en-US" sz="16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1600" i="1" u="sng" dirty="0">
                <a:solidFill>
                  <a:srgbClr val="0000FF"/>
                </a:solidFill>
                <a:cs typeface="Arial" panose="020B0604020202020204" pitchFamily="34" charset="0"/>
              </a:rPr>
              <a:t>dụng</a:t>
            </a:r>
            <a:r>
              <a:rPr lang="vi-VN" altLang="en-US" sz="16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1600" i="1" u="sng" dirty="0">
                <a:solidFill>
                  <a:srgbClr val="0000FF"/>
                </a:solidFill>
                <a:cs typeface="Arial" panose="020B0604020202020204" pitchFamily="34" charset="0"/>
              </a:rPr>
              <a:t>hơn”</a:t>
            </a:r>
            <a:r>
              <a:rPr lang="vi-VN" altLang="en-US" sz="1600" dirty="0">
                <a:cs typeface="Arial" panose="020B0604020202020204" pitchFamily="34" charset="0"/>
              </a:rPr>
              <a:t>.</a:t>
            </a:r>
          </a:p>
          <a:p>
            <a:pPr marL="276225" indent="-263525" algn="just">
              <a:lnSpc>
                <a:spcPct val="120000"/>
              </a:lnSpc>
              <a:spcBef>
                <a:spcPts val="475"/>
              </a:spcBef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Ngôn ngữ </a:t>
            </a:r>
            <a:r>
              <a:rPr lang="vi-VN" altLang="en-US" sz="1600" dirty="0">
                <a:solidFill>
                  <a:srgbClr val="0000FF"/>
                </a:solidFill>
                <a:cs typeface="Arial" panose="020B0604020202020204" pitchFamily="34" charset="0"/>
              </a:rPr>
              <a:t>hướng đối tượng</a:t>
            </a:r>
            <a:r>
              <a:rPr lang="vi-VN" altLang="en-US" sz="1600" dirty="0">
                <a:cs typeface="Arial" panose="020B0604020202020204" pitchFamily="34" charset="0"/>
              </a:rPr>
              <a:t>: Các class của Java cũng rất linh hoạt và được sử dụng lại nhiều lần.</a:t>
            </a:r>
          </a:p>
          <a:p>
            <a:pPr marL="276225" indent="-263525" algn="just">
              <a:lnSpc>
                <a:spcPct val="121000"/>
              </a:lnSpc>
              <a:spcBef>
                <a:spcPts val="463"/>
              </a:spcBef>
              <a:buFont typeface="Wingdings" panose="05000000000000000000" pitchFamily="2" charset="2"/>
              <a:buChar char=""/>
              <a:tabLst>
                <a:tab pos="277813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Java  có  sẵn  tính  năng  </a:t>
            </a:r>
            <a:r>
              <a:rPr lang="vi-VN" altLang="en-US" sz="1600" dirty="0">
                <a:solidFill>
                  <a:srgbClr val="0000FF"/>
                </a:solidFill>
                <a:cs typeface="Arial" panose="020B0604020202020204" pitchFamily="34" charset="0"/>
              </a:rPr>
              <a:t>“automatic  garbage  collection”  </a:t>
            </a:r>
            <a:r>
              <a:rPr lang="vi-VN" altLang="en-US" sz="1600" dirty="0">
                <a:cs typeface="Arial" panose="020B0604020202020204" pitchFamily="34" charset="0"/>
              </a:rPr>
              <a:t>– bộ nhớ được giải phóng một  cách tự động,  nhờ đó lập trình viên có thể tránh được những </a:t>
            </a:r>
            <a:r>
              <a:rPr lang="vi-VN" altLang="en-US" sz="1600" i="1" dirty="0">
                <a:solidFill>
                  <a:srgbClr val="0000FF"/>
                </a:solidFill>
                <a:cs typeface="Arial" panose="020B0604020202020204" pitchFamily="34" charset="0"/>
              </a:rPr>
              <a:t>“hư hỏng” </a:t>
            </a:r>
            <a:r>
              <a:rPr lang="vi-VN" altLang="en-US" sz="1600" dirty="0">
                <a:cs typeface="Arial" panose="020B0604020202020204" pitchFamily="34" charset="0"/>
              </a:rPr>
              <a:t>bộ nhớ và bảo đảm tính toàn vẹn dữ liệu.</a:t>
            </a:r>
            <a:endParaRPr lang="en-US" altLang="en-US" sz="1600" dirty="0">
              <a:cs typeface="Arial" panose="020B0604020202020204" pitchFamily="34" charset="0"/>
            </a:endParaRPr>
          </a:p>
          <a:p>
            <a:pPr marL="276225" indent="-263525">
              <a:lnSpc>
                <a:spcPct val="121000"/>
              </a:lnSpc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  <a:tab pos="749300" algn="l"/>
                <a:tab pos="1495425" algn="l"/>
                <a:tab pos="3324225" algn="l"/>
                <a:tab pos="4046538" algn="l"/>
                <a:tab pos="4637088" algn="l"/>
                <a:tab pos="5332413" algn="l"/>
                <a:tab pos="5883275" algn="l"/>
              </a:tabLst>
            </a:pPr>
            <a:r>
              <a:rPr lang="vi-VN" altLang="en-US" sz="1600" dirty="0">
                <a:solidFill>
                  <a:srgbClr val="0000FF"/>
                </a:solidFill>
                <a:cs typeface="Arial" panose="020B0604020202020204" pitchFamily="34" charset="0"/>
              </a:rPr>
              <a:t>Đa	luồng	(Multithreaded)</a:t>
            </a:r>
            <a:r>
              <a:rPr lang="vi-VN" altLang="en-US" sz="1600" dirty="0">
                <a:cs typeface="Arial" panose="020B0604020202020204" pitchFamily="34" charset="0"/>
              </a:rPr>
              <a:t>:Trình</a:t>
            </a:r>
            <a:r>
              <a:rPr lang="en-US" altLang="en-US" sz="1600" dirty="0">
                <a:cs typeface="Arial" panose="020B0604020202020204" pitchFamily="34" charset="0"/>
              </a:rPr>
              <a:t> </a:t>
            </a:r>
            <a:r>
              <a:rPr lang="vi-VN" altLang="en-US" sz="1600" dirty="0">
                <a:cs typeface="Arial" panose="020B0604020202020204" pitchFamily="34" charset="0"/>
              </a:rPr>
              <a:t>ứng</a:t>
            </a:r>
            <a:r>
              <a:rPr lang="en-US" altLang="en-US" sz="1600" dirty="0">
                <a:cs typeface="Arial" panose="020B0604020202020204" pitchFamily="34" charset="0"/>
              </a:rPr>
              <a:t> </a:t>
            </a:r>
            <a:r>
              <a:rPr lang="vi-VN" altLang="en-US" sz="1600" dirty="0">
                <a:cs typeface="Arial" panose="020B0604020202020204" pitchFamily="34" charset="0"/>
              </a:rPr>
              <a:t>dụng</a:t>
            </a:r>
            <a:r>
              <a:rPr lang="en-US" altLang="en-US" sz="1600" dirty="0">
                <a:cs typeface="Arial" panose="020B0604020202020204" pitchFamily="34" charset="0"/>
              </a:rPr>
              <a:t> </a:t>
            </a:r>
            <a:r>
              <a:rPr lang="vi-VN" altLang="en-US" sz="1600" dirty="0">
                <a:cs typeface="Arial" panose="020B0604020202020204" pitchFamily="34" charset="0"/>
              </a:rPr>
              <a:t>của</a:t>
            </a:r>
            <a:r>
              <a:rPr lang="en-US" altLang="en-US" sz="1600" dirty="0">
                <a:cs typeface="Arial" panose="020B0604020202020204" pitchFamily="34" charset="0"/>
              </a:rPr>
              <a:t> </a:t>
            </a:r>
            <a:r>
              <a:rPr lang="vi-VN" altLang="en-US" sz="1600" dirty="0">
                <a:cs typeface="Arial" panose="020B0604020202020204" pitchFamily="34" charset="0"/>
              </a:rPr>
              <a:t>java thường bao gồm nhiều quá trình xảy ra đồng thời.</a:t>
            </a:r>
          </a:p>
          <a:p>
            <a:pPr marL="587375" lvl="1" indent="-219075" algn="just">
              <a:lnSpc>
                <a:spcPct val="121000"/>
              </a:lnSpc>
              <a:spcBef>
                <a:spcPts val="425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  <a:tab pos="749300" algn="l"/>
                <a:tab pos="1495425" algn="l"/>
                <a:tab pos="3324225" algn="l"/>
                <a:tab pos="4046538" algn="l"/>
                <a:tab pos="4637088" algn="l"/>
                <a:tab pos="5332413" algn="l"/>
                <a:tab pos="5883275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Tính đa luồng của Java cho phép ta có thể xây dựng phần  mềm  đáp  ứng  tốt  hơn,  tương  tác  tốt  hơn,  và thực hiện theo thời gian thực.</a:t>
            </a:r>
          </a:p>
          <a:p>
            <a:pPr marL="276225" indent="-263525">
              <a:spcBef>
                <a:spcPts val="900"/>
              </a:spcBef>
              <a:buClr>
                <a:srgbClr val="0000FF"/>
              </a:buClr>
              <a:buFont typeface="Wingdings" panose="05000000000000000000" pitchFamily="2" charset="2"/>
              <a:buChar char=""/>
              <a:tabLst>
                <a:tab pos="277813" algn="l"/>
                <a:tab pos="749300" algn="l"/>
                <a:tab pos="1495425" algn="l"/>
                <a:tab pos="3324225" algn="l"/>
                <a:tab pos="4046538" algn="l"/>
                <a:tab pos="4637088" algn="l"/>
                <a:tab pos="5332413" algn="l"/>
                <a:tab pos="5883275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Java là một công nghệ bao gồm:</a:t>
            </a:r>
          </a:p>
          <a:p>
            <a:pPr marL="587375" lvl="1" indent="-219075">
              <a:spcBef>
                <a:spcPts val="925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  <a:tab pos="749300" algn="l"/>
                <a:tab pos="1495425" algn="l"/>
                <a:tab pos="3324225" algn="l"/>
                <a:tab pos="4046538" algn="l"/>
                <a:tab pos="4637088" algn="l"/>
                <a:tab pos="5332413" algn="l"/>
                <a:tab pos="5883275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Ngôn ngữ lập trình</a:t>
            </a:r>
          </a:p>
          <a:p>
            <a:pPr marL="587375" lvl="1" indent="-219075">
              <a:spcBef>
                <a:spcPts val="900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  <a:tab pos="749300" algn="l"/>
                <a:tab pos="1495425" algn="l"/>
                <a:tab pos="3324225" algn="l"/>
                <a:tab pos="4046538" algn="l"/>
                <a:tab pos="4637088" algn="l"/>
                <a:tab pos="5332413" algn="l"/>
                <a:tab pos="5883275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Môi trường phát triển</a:t>
            </a:r>
          </a:p>
          <a:p>
            <a:pPr marL="587375" lvl="1" indent="-219075">
              <a:spcBef>
                <a:spcPts val="925"/>
              </a:spcBef>
              <a:buClr>
                <a:srgbClr val="3066D3"/>
              </a:buClr>
              <a:buSzPct val="49000"/>
              <a:buFont typeface="Arial" panose="020B0604020202020204" pitchFamily="34" charset="0"/>
              <a:buChar char="o"/>
              <a:tabLst>
                <a:tab pos="277813" algn="l"/>
                <a:tab pos="749300" algn="l"/>
                <a:tab pos="1495425" algn="l"/>
                <a:tab pos="3324225" algn="l"/>
                <a:tab pos="4046538" algn="l"/>
                <a:tab pos="4637088" algn="l"/>
                <a:tab pos="5332413" algn="l"/>
                <a:tab pos="5883275" algn="l"/>
              </a:tabLst>
            </a:pPr>
            <a:r>
              <a:rPr lang="vi-VN" altLang="en-US" sz="1600" dirty="0">
                <a:cs typeface="Arial" panose="020B0604020202020204" pitchFamily="34" charset="0"/>
              </a:rPr>
              <a:t>Môi trường thực thi và triển khai</a:t>
            </a:r>
          </a:p>
          <a:p>
            <a:pPr marL="276225" indent="-263525" algn="just">
              <a:lnSpc>
                <a:spcPct val="121000"/>
              </a:lnSpc>
              <a:spcBef>
                <a:spcPts val="463"/>
              </a:spcBef>
              <a:buFont typeface="Wingdings" panose="05000000000000000000" pitchFamily="2" charset="2"/>
              <a:buChar char=""/>
              <a:tabLst>
                <a:tab pos="277813" algn="l"/>
              </a:tabLst>
            </a:pPr>
            <a:endParaRPr lang="vi-VN" altLang="en-US" sz="1600" dirty="0">
              <a:cs typeface="Arial" panose="020B0604020202020204" pitchFamily="34" charset="0"/>
            </a:endParaRPr>
          </a:p>
          <a:p>
            <a:pPr marL="276225" indent="-263525">
              <a:tabLst>
                <a:tab pos="277813" algn="l"/>
              </a:tabLst>
            </a:pPr>
            <a:endParaRPr lang="en-GB" alt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5AD67-7ABD-95D6-278C-73CA0E2C87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E3A2-5EC3-F300-37AD-466EEF56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vi-VN" spc="-20"/>
              <a:t>M</a:t>
            </a:r>
            <a:r>
              <a:rPr lang="vi-VN" spc="-10"/>
              <a:t>ột</a:t>
            </a:r>
            <a:r>
              <a:rPr lang="vi-VN" spc="-90"/>
              <a:t> </a:t>
            </a:r>
            <a:r>
              <a:rPr lang="vi-VN" spc="-15"/>
              <a:t>s</a:t>
            </a:r>
            <a:r>
              <a:rPr lang="vi-VN" spc="-20"/>
              <a:t>ố</a:t>
            </a:r>
            <a:r>
              <a:rPr lang="vi-VN" spc="-15"/>
              <a:t> </a:t>
            </a:r>
            <a:r>
              <a:rPr lang="vi-VN" spc="-10"/>
              <a:t>đ</a:t>
            </a:r>
            <a:r>
              <a:rPr lang="vi-VN" spc="-15"/>
              <a:t>ặc</a:t>
            </a:r>
            <a:r>
              <a:rPr lang="vi-VN" spc="-70"/>
              <a:t> </a:t>
            </a:r>
            <a:r>
              <a:rPr lang="vi-VN" spc="-5"/>
              <a:t>t</a:t>
            </a:r>
            <a:r>
              <a:rPr lang="vi-VN" spc="-10"/>
              <a:t>ín</a:t>
            </a:r>
            <a:r>
              <a:rPr lang="vi-VN" spc="-20"/>
              <a:t>h</a:t>
            </a:r>
            <a:r>
              <a:rPr lang="vi-VN" spc="-60"/>
              <a:t> </a:t>
            </a:r>
            <a:r>
              <a:rPr lang="vi-VN" spc="-15"/>
              <a:t>c</a:t>
            </a:r>
            <a:r>
              <a:rPr lang="vi-VN" spc="-10"/>
              <a:t>ủ</a:t>
            </a:r>
            <a:r>
              <a:rPr lang="vi-VN" spc="-15"/>
              <a:t>a</a:t>
            </a:r>
            <a:r>
              <a:rPr lang="vi-VN" spc="-45"/>
              <a:t> </a:t>
            </a:r>
            <a:r>
              <a:rPr lang="vi-VN" spc="-15"/>
              <a:t>Ja</a:t>
            </a:r>
            <a:r>
              <a:rPr lang="vi-VN" spc="-60"/>
              <a:t>v</a:t>
            </a:r>
            <a:r>
              <a:rPr lang="vi-VN" spc="-15"/>
              <a:t>a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68EA-7529-9C62-40AD-E49B2101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vi-VN" sz="2400" spc="5">
                <a:cs typeface="Arial"/>
              </a:rPr>
              <a:t>J</a:t>
            </a:r>
            <a:r>
              <a:rPr lang="vi-VN" sz="2400">
                <a:cs typeface="Arial"/>
              </a:rPr>
              <a:t>a</a:t>
            </a:r>
            <a:r>
              <a:rPr lang="vi-VN" sz="2400" spc="5">
                <a:cs typeface="Arial"/>
              </a:rPr>
              <a:t>va</a:t>
            </a:r>
            <a:r>
              <a:rPr lang="vi-VN" sz="2400">
                <a:cs typeface="Arial"/>
              </a:rPr>
              <a:t> </a:t>
            </a:r>
            <a:r>
              <a:rPr lang="vi-VN" sz="2400" spc="-10">
                <a:cs typeface="Arial"/>
              </a:rPr>
              <a:t>l</a:t>
            </a:r>
            <a:r>
              <a:rPr lang="vi-VN" sz="2400" spc="10">
                <a:cs typeface="Arial"/>
              </a:rPr>
              <a:t>à</a:t>
            </a:r>
            <a:r>
              <a:rPr lang="vi-VN" sz="2400">
                <a:cs typeface="Arial"/>
              </a:rPr>
              <a:t> </a:t>
            </a:r>
            <a:r>
              <a:rPr lang="vi-VN" sz="2400">
                <a:solidFill>
                  <a:srgbClr val="0000FF"/>
                </a:solidFill>
                <a:cs typeface="Arial"/>
              </a:rPr>
              <a:t>ng</a:t>
            </a:r>
            <a:r>
              <a:rPr lang="vi-VN" sz="2400" spc="25">
                <a:solidFill>
                  <a:srgbClr val="0000FF"/>
                </a:solidFill>
                <a:cs typeface="Arial"/>
              </a:rPr>
              <a:t>ô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n</a:t>
            </a:r>
            <a:r>
              <a:rPr lang="vi-VN" sz="2400">
                <a:solidFill>
                  <a:srgbClr val="0000FF"/>
                </a:solidFill>
                <a:cs typeface="Arial"/>
              </a:rPr>
              <a:t> ng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ữ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t</a:t>
            </a:r>
            <a:r>
              <a:rPr lang="vi-VN" sz="2400">
                <a:solidFill>
                  <a:srgbClr val="0000FF"/>
                </a:solidFill>
                <a:cs typeface="Arial"/>
              </a:rPr>
              <a:t>hôn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g</a:t>
            </a:r>
            <a:r>
              <a:rPr lang="vi-VN" sz="240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25">
                <a:solidFill>
                  <a:srgbClr val="0000FF"/>
                </a:solidFill>
                <a:cs typeface="Arial"/>
              </a:rPr>
              <a:t>d</a:t>
            </a:r>
            <a:r>
              <a:rPr lang="vi-VN" sz="2400" spc="-10">
                <a:solidFill>
                  <a:srgbClr val="0000FF"/>
                </a:solidFill>
                <a:cs typeface="Arial"/>
              </a:rPr>
              <a:t>ị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ch</a:t>
            </a:r>
            <a:r>
              <a:rPr lang="vi-VN" sz="2400" spc="25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(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I</a:t>
            </a:r>
            <a:r>
              <a:rPr lang="vi-VN" sz="2400">
                <a:solidFill>
                  <a:srgbClr val="0000FF"/>
                </a:solidFill>
                <a:cs typeface="Arial"/>
              </a:rPr>
              <a:t>n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t</a:t>
            </a:r>
            <a:r>
              <a:rPr lang="vi-VN" sz="2400">
                <a:solidFill>
                  <a:srgbClr val="0000FF"/>
                </a:solidFill>
                <a:cs typeface="Arial"/>
              </a:rPr>
              <a:t>e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r</a:t>
            </a:r>
            <a:r>
              <a:rPr lang="vi-VN" sz="2400">
                <a:solidFill>
                  <a:srgbClr val="0000FF"/>
                </a:solidFill>
                <a:cs typeface="Arial"/>
              </a:rPr>
              <a:t>p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r</a:t>
            </a:r>
            <a:r>
              <a:rPr lang="vi-VN" sz="2400">
                <a:solidFill>
                  <a:srgbClr val="0000FF"/>
                </a:solidFill>
                <a:cs typeface="Arial"/>
              </a:rPr>
              <a:t>e</a:t>
            </a:r>
            <a:r>
              <a:rPr lang="vi-VN" sz="2400" spc="10">
                <a:solidFill>
                  <a:srgbClr val="0000FF"/>
                </a:solidFill>
                <a:cs typeface="Arial"/>
              </a:rPr>
              <a:t>t</a:t>
            </a:r>
            <a:r>
              <a:rPr lang="vi-VN" sz="2400">
                <a:solidFill>
                  <a:srgbClr val="0000FF"/>
                </a:solidFill>
                <a:cs typeface="Arial"/>
              </a:rPr>
              <a:t>ed</a:t>
            </a:r>
            <a:r>
              <a:rPr lang="vi-VN" sz="2400" spc="5">
                <a:solidFill>
                  <a:srgbClr val="0000FF"/>
                </a:solidFill>
                <a:cs typeface="Arial"/>
              </a:rPr>
              <a:t>)</a:t>
            </a:r>
            <a:r>
              <a:rPr lang="vi-VN" sz="2400" spc="5">
                <a:cs typeface="Arial"/>
              </a:rPr>
              <a:t>:</a:t>
            </a:r>
            <a:r>
              <a:rPr lang="vi-VN" sz="2400" spc="20">
                <a:cs typeface="Arial"/>
              </a:rPr>
              <a:t> </a:t>
            </a:r>
            <a:r>
              <a:rPr lang="vi-VN" sz="2400">
                <a:cs typeface="Arial"/>
              </a:rPr>
              <a:t>đâ</a:t>
            </a:r>
            <a:r>
              <a:rPr lang="vi-VN" sz="2400" spc="5">
                <a:cs typeface="Arial"/>
              </a:rPr>
              <a:t>y</a:t>
            </a:r>
            <a:r>
              <a:rPr lang="vi-VN" sz="2400" spc="-35">
                <a:cs typeface="Arial"/>
              </a:rPr>
              <a:t> </a:t>
            </a:r>
            <a:r>
              <a:rPr lang="vi-VN" sz="2400" spc="15">
                <a:cs typeface="Arial"/>
              </a:rPr>
              <a:t>l</a:t>
            </a:r>
            <a:r>
              <a:rPr lang="vi-VN" sz="2400" spc="10">
                <a:cs typeface="Arial"/>
              </a:rPr>
              <a:t>à</a:t>
            </a:r>
            <a:r>
              <a:rPr lang="vi-VN" sz="2400">
                <a:cs typeface="Arial"/>
              </a:rPr>
              <a:t> đặ</a:t>
            </a:r>
            <a:r>
              <a:rPr lang="vi-VN" sz="2400" spc="5">
                <a:cs typeface="Arial"/>
              </a:rPr>
              <a:t>c</a:t>
            </a:r>
            <a:r>
              <a:rPr lang="vi-VN" sz="2400" spc="10">
                <a:cs typeface="Arial"/>
              </a:rPr>
              <a:t> </a:t>
            </a:r>
            <a:r>
              <a:rPr lang="vi-VN" sz="2400">
                <a:cs typeface="Arial"/>
              </a:rPr>
              <a:t>đ</a:t>
            </a:r>
            <a:r>
              <a:rPr lang="vi-VN" sz="2400" spc="-10">
                <a:cs typeface="Arial"/>
              </a:rPr>
              <a:t>i</a:t>
            </a:r>
            <a:r>
              <a:rPr lang="vi-VN" sz="2400">
                <a:cs typeface="Arial"/>
              </a:rPr>
              <a:t>ể</a:t>
            </a:r>
            <a:r>
              <a:rPr lang="vi-VN" sz="2400" spc="15">
                <a:cs typeface="Arial"/>
              </a:rPr>
              <a:t>m</a:t>
            </a:r>
            <a:r>
              <a:rPr lang="vi-VN" sz="2400" spc="5">
                <a:cs typeface="Arial"/>
              </a:rPr>
              <a:t> </a:t>
            </a:r>
            <a:r>
              <a:rPr lang="vi-VN" sz="2400" spc="-10">
                <a:cs typeface="Arial"/>
              </a:rPr>
              <a:t>li</a:t>
            </a:r>
            <a:r>
              <a:rPr lang="vi-VN" sz="2400">
                <a:cs typeface="Arial"/>
              </a:rPr>
              <a:t>ê</a:t>
            </a:r>
            <a:r>
              <a:rPr lang="vi-VN" sz="2400" spc="10">
                <a:cs typeface="Arial"/>
              </a:rPr>
              <a:t>n</a:t>
            </a:r>
            <a:r>
              <a:rPr lang="vi-VN" sz="2400" spc="170">
                <a:cs typeface="Arial"/>
              </a:rPr>
              <a:t> </a:t>
            </a:r>
            <a:r>
              <a:rPr lang="vi-VN" sz="2400">
                <a:cs typeface="Arial"/>
              </a:rPr>
              <a:t>q</a:t>
            </a:r>
            <a:r>
              <a:rPr lang="vi-VN" sz="2400" spc="25">
                <a:cs typeface="Arial"/>
              </a:rPr>
              <a:t>u</a:t>
            </a:r>
            <a:r>
              <a:rPr lang="vi-VN" sz="2400">
                <a:cs typeface="Arial"/>
              </a:rPr>
              <a:t>a</a:t>
            </a:r>
            <a:r>
              <a:rPr lang="vi-VN" sz="2400" spc="10">
                <a:cs typeface="Arial"/>
              </a:rPr>
              <a:t>n</a:t>
            </a:r>
            <a:r>
              <a:rPr lang="vi-VN" sz="2400" spc="170">
                <a:cs typeface="Arial"/>
              </a:rPr>
              <a:t> </a:t>
            </a:r>
            <a:r>
              <a:rPr lang="vi-VN" sz="2400" spc="10">
                <a:cs typeface="Arial"/>
              </a:rPr>
              <a:t>t</a:t>
            </a:r>
            <a:r>
              <a:rPr lang="vi-VN" sz="2400" spc="5">
                <a:cs typeface="Arial"/>
              </a:rPr>
              <a:t>r</a:t>
            </a:r>
            <a:r>
              <a:rPr lang="vi-VN" sz="2400">
                <a:cs typeface="Arial"/>
              </a:rPr>
              <a:t>ự</a:t>
            </a:r>
            <a:r>
              <a:rPr lang="vi-VN" sz="2400" spc="5">
                <a:cs typeface="Arial"/>
              </a:rPr>
              <a:t>c</a:t>
            </a:r>
            <a:r>
              <a:rPr lang="vi-VN" sz="2400" spc="180">
                <a:cs typeface="Arial"/>
              </a:rPr>
              <a:t> </a:t>
            </a:r>
            <a:r>
              <a:rPr lang="vi-VN" sz="2400" spc="10">
                <a:cs typeface="Arial"/>
              </a:rPr>
              <a:t>t</a:t>
            </a:r>
            <a:r>
              <a:rPr lang="vi-VN" sz="2400" spc="-10">
                <a:cs typeface="Arial"/>
              </a:rPr>
              <a:t>i</a:t>
            </a:r>
            <a:r>
              <a:rPr lang="vi-VN" sz="2400">
                <a:cs typeface="Arial"/>
              </a:rPr>
              <a:t>ế</a:t>
            </a:r>
            <a:r>
              <a:rPr lang="vi-VN" sz="2400" spc="10">
                <a:cs typeface="Arial"/>
              </a:rPr>
              <a:t>p</a:t>
            </a:r>
            <a:r>
              <a:rPr lang="vi-VN" sz="2400" spc="170">
                <a:cs typeface="Arial"/>
              </a:rPr>
              <a:t> </a:t>
            </a:r>
            <a:r>
              <a:rPr lang="vi-VN" sz="2400">
                <a:cs typeface="Arial"/>
              </a:rPr>
              <a:t>đế</a:t>
            </a:r>
            <a:r>
              <a:rPr lang="vi-VN" sz="2400" spc="10">
                <a:cs typeface="Arial"/>
              </a:rPr>
              <a:t>n</a:t>
            </a:r>
            <a:r>
              <a:rPr lang="vi-VN" sz="2400" spc="170">
                <a:cs typeface="Arial"/>
              </a:rPr>
              <a:t> </a:t>
            </a:r>
            <a:r>
              <a:rPr lang="vi-VN" sz="2400" spc="-15">
                <a:cs typeface="Arial"/>
              </a:rPr>
              <a:t>t</a:t>
            </a:r>
            <a:r>
              <a:rPr lang="vi-VN" sz="2400" spc="10">
                <a:cs typeface="Arial"/>
              </a:rPr>
              <a:t>í</a:t>
            </a:r>
            <a:r>
              <a:rPr lang="vi-VN" sz="2400">
                <a:cs typeface="Arial"/>
              </a:rPr>
              <a:t>n</a:t>
            </a:r>
            <a:r>
              <a:rPr lang="vi-VN" sz="2400" spc="10">
                <a:cs typeface="Arial"/>
              </a:rPr>
              <a:t>h</a:t>
            </a:r>
            <a:r>
              <a:rPr lang="vi-VN" sz="2400" spc="145">
                <a:cs typeface="Arial"/>
              </a:rPr>
              <a:t> </a:t>
            </a:r>
            <a:r>
              <a:rPr lang="vi-VN" sz="2400" spc="25">
                <a:cs typeface="Arial"/>
              </a:rPr>
              <a:t>k</a:t>
            </a:r>
            <a:r>
              <a:rPr lang="vi-VN" sz="2400">
                <a:cs typeface="Arial"/>
              </a:rPr>
              <a:t>hôn</a:t>
            </a:r>
            <a:r>
              <a:rPr lang="vi-VN" sz="2400" spc="10">
                <a:cs typeface="Arial"/>
              </a:rPr>
              <a:t>g</a:t>
            </a:r>
            <a:r>
              <a:rPr lang="vi-VN" sz="2400" spc="170">
                <a:cs typeface="Arial"/>
              </a:rPr>
              <a:t> </a:t>
            </a:r>
            <a:r>
              <a:rPr lang="vi-VN" sz="2400">
                <a:cs typeface="Arial"/>
              </a:rPr>
              <a:t>ph</a:t>
            </a:r>
            <a:r>
              <a:rPr lang="vi-VN" sz="2400" spc="10">
                <a:cs typeface="Arial"/>
              </a:rPr>
              <a:t>ụ</a:t>
            </a:r>
            <a:r>
              <a:rPr lang="vi-VN" sz="2400" spc="170">
                <a:cs typeface="Arial"/>
              </a:rPr>
              <a:t> </a:t>
            </a:r>
            <a:r>
              <a:rPr lang="vi-VN" sz="2400" spc="10">
                <a:cs typeface="Arial"/>
              </a:rPr>
              <a:t>t</a:t>
            </a:r>
            <a:r>
              <a:rPr lang="vi-VN" sz="2400">
                <a:cs typeface="Arial"/>
              </a:rPr>
              <a:t>huộ</a:t>
            </a:r>
            <a:r>
              <a:rPr lang="vi-VN" sz="2400" spc="5">
                <a:cs typeface="Arial"/>
              </a:rPr>
              <a:t>c</a:t>
            </a:r>
            <a:r>
              <a:rPr lang="vi-VN" sz="2400" spc="180">
                <a:cs typeface="Arial"/>
              </a:rPr>
              <a:t> </a:t>
            </a:r>
            <a:r>
              <a:rPr lang="vi-VN" sz="2400" spc="5">
                <a:cs typeface="Arial"/>
              </a:rPr>
              <a:t>v</a:t>
            </a:r>
            <a:r>
              <a:rPr lang="vi-VN" sz="2400">
                <a:cs typeface="Arial"/>
              </a:rPr>
              <a:t>à</a:t>
            </a:r>
            <a:r>
              <a:rPr lang="vi-VN" sz="2400" spc="10">
                <a:cs typeface="Arial"/>
              </a:rPr>
              <a:t>o</a:t>
            </a:r>
            <a:r>
              <a:rPr lang="vi-VN" sz="2400" spc="170">
                <a:cs typeface="Arial"/>
              </a:rPr>
              <a:t> </a:t>
            </a:r>
            <a:r>
              <a:rPr lang="vi-VN" sz="2400">
                <a:cs typeface="Arial"/>
              </a:rPr>
              <a:t>h</a:t>
            </a:r>
            <a:r>
              <a:rPr lang="vi-VN" sz="2400" spc="10">
                <a:cs typeface="Arial"/>
              </a:rPr>
              <a:t>ệ</a:t>
            </a:r>
            <a:r>
              <a:rPr lang="vi-VN" sz="2400" spc="170">
                <a:cs typeface="Arial"/>
              </a:rPr>
              <a:t> </a:t>
            </a:r>
            <a:r>
              <a:rPr lang="vi-VN" sz="2400" spc="15">
                <a:cs typeface="Arial"/>
              </a:rPr>
              <a:t>m</a:t>
            </a:r>
            <a:r>
              <a:rPr lang="vi-VN" sz="2400">
                <a:cs typeface="Arial"/>
              </a:rPr>
              <a:t>á</a:t>
            </a:r>
            <a:r>
              <a:rPr lang="vi-VN" sz="2400" spc="5">
                <a:cs typeface="Arial"/>
              </a:rPr>
              <a:t>y c</a:t>
            </a:r>
            <a:r>
              <a:rPr lang="vi-VN" sz="2400">
                <a:cs typeface="Arial"/>
              </a:rPr>
              <a:t>ủ</a:t>
            </a:r>
            <a:r>
              <a:rPr lang="vi-VN" sz="2400" spc="10">
                <a:cs typeface="Arial"/>
              </a:rPr>
              <a:t>a</a:t>
            </a:r>
            <a:r>
              <a:rPr lang="vi-VN" sz="2400" spc="-20">
                <a:cs typeface="Arial"/>
              </a:rPr>
              <a:t> </a:t>
            </a:r>
            <a:r>
              <a:rPr lang="vi-VN" sz="2400" spc="5">
                <a:cs typeface="Arial"/>
              </a:rPr>
              <a:t>J</a:t>
            </a:r>
            <a:r>
              <a:rPr lang="vi-VN" sz="2400">
                <a:cs typeface="Arial"/>
              </a:rPr>
              <a:t>a</a:t>
            </a:r>
            <a:r>
              <a:rPr lang="vi-VN" sz="2400" spc="5">
                <a:cs typeface="Arial"/>
              </a:rPr>
              <a:t>v</a:t>
            </a:r>
            <a:r>
              <a:rPr lang="vi-VN" sz="2400">
                <a:cs typeface="Arial"/>
              </a:rPr>
              <a:t>a</a:t>
            </a:r>
            <a:r>
              <a:rPr lang="vi-VN" sz="2400" spc="5">
                <a:cs typeface="Arial"/>
              </a:rPr>
              <a:t>.</a:t>
            </a:r>
            <a:endParaRPr lang="vi-VN" sz="2400">
              <a:cs typeface="Arial"/>
            </a:endParaRP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F55B6-674D-9D5F-8860-62E739CFDE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grpSp>
        <p:nvGrpSpPr>
          <p:cNvPr id="17413" name="Group 4">
            <a:extLst>
              <a:ext uri="{FF2B5EF4-FFF2-40B4-BE49-F238E27FC236}">
                <a16:creationId xmlns:a16="http://schemas.microsoft.com/office/drawing/2014/main" id="{D021903A-3DF7-EB7B-F312-C5E6AC82B038}"/>
              </a:ext>
            </a:extLst>
          </p:cNvPr>
          <p:cNvGrpSpPr>
            <a:grpSpLocks/>
          </p:cNvGrpSpPr>
          <p:nvPr/>
        </p:nvGrpSpPr>
        <p:grpSpPr bwMode="auto">
          <a:xfrm>
            <a:off x="844550" y="2411413"/>
            <a:ext cx="6699250" cy="3151187"/>
            <a:chOff x="844295" y="2276856"/>
            <a:chExt cx="6056378" cy="2627374"/>
          </a:xfrm>
        </p:grpSpPr>
        <p:sp>
          <p:nvSpPr>
            <p:cNvPr id="17414" name="object 14">
              <a:extLst>
                <a:ext uri="{FF2B5EF4-FFF2-40B4-BE49-F238E27FC236}">
                  <a16:creationId xmlns:a16="http://schemas.microsoft.com/office/drawing/2014/main" id="{D36B9159-2931-05D2-75FF-B313E4B52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874" y="3118105"/>
              <a:ext cx="832103" cy="1033271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15" name="object 15">
              <a:extLst>
                <a:ext uri="{FF2B5EF4-FFF2-40B4-BE49-F238E27FC236}">
                  <a16:creationId xmlns:a16="http://schemas.microsoft.com/office/drawing/2014/main" id="{D00DB48D-91D6-FDF4-030F-D5DA9CFE9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295" y="3081529"/>
              <a:ext cx="804671" cy="1005839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16" name="object 16">
              <a:extLst>
                <a:ext uri="{FF2B5EF4-FFF2-40B4-BE49-F238E27FC236}">
                  <a16:creationId xmlns:a16="http://schemas.microsoft.com/office/drawing/2014/main" id="{F5351F26-DF8B-DC38-5919-D85B9AB83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295" y="3081527"/>
              <a:ext cx="805180" cy="1005840"/>
            </a:xfrm>
            <a:custGeom>
              <a:avLst/>
              <a:gdLst>
                <a:gd name="T0" fmla="*/ 0 w 805180"/>
                <a:gd name="T1" fmla="*/ 0 h 1005839"/>
                <a:gd name="T2" fmla="*/ 0 w 805180"/>
                <a:gd name="T3" fmla="*/ 1005853 h 1005839"/>
                <a:gd name="T4" fmla="*/ 804671 w 805180"/>
                <a:gd name="T5" fmla="*/ 1005853 h 1005839"/>
                <a:gd name="T6" fmla="*/ 804671 w 805180"/>
                <a:gd name="T7" fmla="*/ 0 h 1005839"/>
                <a:gd name="T8" fmla="*/ 0 w 805180"/>
                <a:gd name="T9" fmla="*/ 0 h 10058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5180" h="1005839">
                  <a:moveTo>
                    <a:pt x="0" y="0"/>
                  </a:moveTo>
                  <a:lnTo>
                    <a:pt x="0" y="1005839"/>
                  </a:lnTo>
                  <a:lnTo>
                    <a:pt x="804671" y="1005839"/>
                  </a:lnTo>
                  <a:lnTo>
                    <a:pt x="80467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17" name="object 17">
              <a:extLst>
                <a:ext uri="{FF2B5EF4-FFF2-40B4-BE49-F238E27FC236}">
                  <a16:creationId xmlns:a16="http://schemas.microsoft.com/office/drawing/2014/main" id="{CBBF3D73-F6E5-0604-79C9-99D56410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369" y="3364991"/>
              <a:ext cx="414527" cy="292608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18" name="object 18">
              <a:extLst>
                <a:ext uri="{FF2B5EF4-FFF2-40B4-BE49-F238E27FC236}">
                  <a16:creationId xmlns:a16="http://schemas.microsoft.com/office/drawing/2014/main" id="{CEC8F8D3-030F-8DFC-7AB1-5F487AF8D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641" y="3526535"/>
              <a:ext cx="633983" cy="292608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19" name="object 19">
              <a:extLst>
                <a:ext uri="{FF2B5EF4-FFF2-40B4-BE49-F238E27FC236}">
                  <a16:creationId xmlns:a16="http://schemas.microsoft.com/office/drawing/2014/main" id="{2781AD34-AB9F-5D2F-6F02-A3F0D405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416" y="3688079"/>
              <a:ext cx="423671" cy="374904"/>
            </a:xfrm>
            <a:prstGeom prst="rect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0" name="object 20">
              <a:extLst>
                <a:ext uri="{FF2B5EF4-FFF2-40B4-BE49-F238E27FC236}">
                  <a16:creationId xmlns:a16="http://schemas.microsoft.com/office/drawing/2014/main" id="{AFA8B750-754E-4FBE-A85D-AD2DB88DB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744" y="2313433"/>
              <a:ext cx="1094232" cy="377951"/>
            </a:xfrm>
            <a:prstGeom prst="rect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1" name="object 21">
              <a:extLst>
                <a:ext uri="{FF2B5EF4-FFF2-40B4-BE49-F238E27FC236}">
                  <a16:creationId xmlns:a16="http://schemas.microsoft.com/office/drawing/2014/main" id="{49975341-BCAC-9370-C1E4-985053C15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121" y="2276857"/>
              <a:ext cx="1057655" cy="350519"/>
            </a:xfrm>
            <a:prstGeom prst="rect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2" name="object 22">
              <a:extLst>
                <a:ext uri="{FF2B5EF4-FFF2-40B4-BE49-F238E27FC236}">
                  <a16:creationId xmlns:a16="http://schemas.microsoft.com/office/drawing/2014/main" id="{4F2D88BF-040F-C586-6A8A-DE330B3BA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119" y="2276856"/>
              <a:ext cx="1057910" cy="350520"/>
            </a:xfrm>
            <a:custGeom>
              <a:avLst/>
              <a:gdLst>
                <a:gd name="T0" fmla="*/ 0 w 1057910"/>
                <a:gd name="T1" fmla="*/ 0 h 350519"/>
                <a:gd name="T2" fmla="*/ 0 w 1057910"/>
                <a:gd name="T3" fmla="*/ 350533 h 350519"/>
                <a:gd name="T4" fmla="*/ 1057655 w 1057910"/>
                <a:gd name="T5" fmla="*/ 350533 h 350519"/>
                <a:gd name="T6" fmla="*/ 1057655 w 1057910"/>
                <a:gd name="T7" fmla="*/ 0 h 350519"/>
                <a:gd name="T8" fmla="*/ 0 w 1057910"/>
                <a:gd name="T9" fmla="*/ 0 h 3505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7910" h="350519">
                  <a:moveTo>
                    <a:pt x="0" y="0"/>
                  </a:moveTo>
                  <a:lnTo>
                    <a:pt x="0" y="350519"/>
                  </a:lnTo>
                  <a:lnTo>
                    <a:pt x="1057655" y="350519"/>
                  </a:lnTo>
                  <a:lnTo>
                    <a:pt x="105765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23" name="object 23">
              <a:extLst>
                <a:ext uri="{FF2B5EF4-FFF2-40B4-BE49-F238E27FC236}">
                  <a16:creationId xmlns:a16="http://schemas.microsoft.com/office/drawing/2014/main" id="{D48E9FA4-425D-DEA8-8218-1019CD95C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839" y="2392679"/>
              <a:ext cx="219456" cy="292608"/>
            </a:xfrm>
            <a:prstGeom prst="rect">
              <a:avLst/>
            </a:prstGeom>
            <a:blipFill dpi="0" rotWithShape="1">
              <a:blip r:embed="rId9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4" name="object 24">
              <a:extLst>
                <a:ext uri="{FF2B5EF4-FFF2-40B4-BE49-F238E27FC236}">
                  <a16:creationId xmlns:a16="http://schemas.microsoft.com/office/drawing/2014/main" id="{210914DD-FD19-BE82-EB77-7D6AE34D3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535" y="2392679"/>
              <a:ext cx="73152" cy="292608"/>
            </a:xfrm>
            <a:prstGeom prst="rect">
              <a:avLst/>
            </a:prstGeom>
            <a:blipFill dpi="0" rotWithShape="1">
              <a:blip r:embed="rId10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5" name="object 25">
              <a:extLst>
                <a:ext uri="{FF2B5EF4-FFF2-40B4-BE49-F238E27FC236}">
                  <a16:creationId xmlns:a16="http://schemas.microsoft.com/office/drawing/2014/main" id="{A8CD466C-670F-DB39-A566-F032903AC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594" y="2392679"/>
              <a:ext cx="524255" cy="292608"/>
            </a:xfrm>
            <a:prstGeom prst="rect">
              <a:avLst/>
            </a:prstGeom>
            <a:blipFill dpi="0" rotWithShape="1">
              <a:blip r:embed="rId11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6" name="object 26">
              <a:extLst>
                <a:ext uri="{FF2B5EF4-FFF2-40B4-BE49-F238E27FC236}">
                  <a16:creationId xmlns:a16="http://schemas.microsoft.com/office/drawing/2014/main" id="{35364060-74CF-ABE4-8D06-1C7CCD72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473" y="2478023"/>
              <a:ext cx="97535" cy="36576"/>
            </a:xfrm>
            <a:prstGeom prst="rect">
              <a:avLst/>
            </a:prstGeom>
            <a:blipFill dpi="0" rotWithShape="1">
              <a:blip r:embed="rId1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7" name="object 27">
              <a:extLst>
                <a:ext uri="{FF2B5EF4-FFF2-40B4-BE49-F238E27FC236}">
                  <a16:creationId xmlns:a16="http://schemas.microsoft.com/office/drawing/2014/main" id="{3E7EEDE7-5C1F-FBBA-5E5A-14CC8F155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745" y="4529327"/>
              <a:ext cx="1082039" cy="374903"/>
            </a:xfrm>
            <a:prstGeom prst="rect">
              <a:avLst/>
            </a:prstGeom>
            <a:blipFill dpi="0" rotWithShape="1">
              <a:blip r:embed="rId1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8" name="object 28">
              <a:extLst>
                <a:ext uri="{FF2B5EF4-FFF2-40B4-BE49-F238E27FC236}">
                  <a16:creationId xmlns:a16="http://schemas.microsoft.com/office/drawing/2014/main" id="{9E462DE1-0BB7-283C-2625-CFF2B3E21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121" y="4489704"/>
              <a:ext cx="1057655" cy="353567"/>
            </a:xfrm>
            <a:prstGeom prst="rect">
              <a:avLst/>
            </a:prstGeom>
            <a:blipFill dpi="0" rotWithShape="1">
              <a:blip r:embed="rId1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29" name="object 29">
              <a:extLst>
                <a:ext uri="{FF2B5EF4-FFF2-40B4-BE49-F238E27FC236}">
                  <a16:creationId xmlns:a16="http://schemas.microsoft.com/office/drawing/2014/main" id="{78BEF9D7-50A0-0140-840F-F1114F10F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119" y="4489705"/>
              <a:ext cx="1057910" cy="353695"/>
            </a:xfrm>
            <a:custGeom>
              <a:avLst/>
              <a:gdLst>
                <a:gd name="T0" fmla="*/ 0 w 1057910"/>
                <a:gd name="T1" fmla="*/ 0 h 353695"/>
                <a:gd name="T2" fmla="*/ 0 w 1057910"/>
                <a:gd name="T3" fmla="*/ 353567 h 353695"/>
                <a:gd name="T4" fmla="*/ 1057655 w 1057910"/>
                <a:gd name="T5" fmla="*/ 353567 h 353695"/>
                <a:gd name="T6" fmla="*/ 1057655 w 1057910"/>
                <a:gd name="T7" fmla="*/ 0 h 353695"/>
                <a:gd name="T8" fmla="*/ 0 w 1057910"/>
                <a:gd name="T9" fmla="*/ 0 h 3536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7910" h="353695">
                  <a:moveTo>
                    <a:pt x="0" y="0"/>
                  </a:moveTo>
                  <a:lnTo>
                    <a:pt x="0" y="353567"/>
                  </a:lnTo>
                  <a:lnTo>
                    <a:pt x="1057655" y="353567"/>
                  </a:lnTo>
                  <a:lnTo>
                    <a:pt x="105765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30" name="object 30">
              <a:extLst>
                <a:ext uri="{FF2B5EF4-FFF2-40B4-BE49-F238E27FC236}">
                  <a16:creationId xmlns:a16="http://schemas.microsoft.com/office/drawing/2014/main" id="{5A5872D9-3D62-0264-D1FB-39EB302E3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809" y="4608576"/>
              <a:ext cx="725423" cy="292608"/>
            </a:xfrm>
            <a:prstGeom prst="rect">
              <a:avLst/>
            </a:prstGeom>
            <a:blipFill dpi="0" rotWithShape="1">
              <a:blip r:embed="rId1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31" name="object 31">
              <a:extLst>
                <a:ext uri="{FF2B5EF4-FFF2-40B4-BE49-F238E27FC236}">
                  <a16:creationId xmlns:a16="http://schemas.microsoft.com/office/drawing/2014/main" id="{997DC6B6-84AA-48D6-365E-EC4DB7F2C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210" y="2502408"/>
              <a:ext cx="868679" cy="643127"/>
            </a:xfrm>
            <a:prstGeom prst="rect">
              <a:avLst/>
            </a:prstGeom>
            <a:blipFill dpi="0" rotWithShape="1">
              <a:blip r:embed="rId1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32" name="object 32">
              <a:extLst>
                <a:ext uri="{FF2B5EF4-FFF2-40B4-BE49-F238E27FC236}">
                  <a16:creationId xmlns:a16="http://schemas.microsoft.com/office/drawing/2014/main" id="{B0040A39-EC40-A387-F8D5-98DD07D9B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6631" y="2499362"/>
              <a:ext cx="792480" cy="582295"/>
            </a:xfrm>
            <a:custGeom>
              <a:avLst/>
              <a:gdLst>
                <a:gd name="T0" fmla="*/ 0 w 792480"/>
                <a:gd name="T1" fmla="*/ 582181 h 582294"/>
                <a:gd name="T2" fmla="*/ 792479 w 792480"/>
                <a:gd name="T3" fmla="*/ 0 h 5822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2480" h="582294">
                  <a:moveTo>
                    <a:pt x="0" y="582167"/>
                  </a:moveTo>
                  <a:lnTo>
                    <a:pt x="792479" y="0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33" name="object 33">
              <a:extLst>
                <a:ext uri="{FF2B5EF4-FFF2-40B4-BE49-F238E27FC236}">
                  <a16:creationId xmlns:a16="http://schemas.microsoft.com/office/drawing/2014/main" id="{6DD0086B-27F0-9C51-70B2-D5577B154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295" y="2450591"/>
              <a:ext cx="116205" cy="106680"/>
            </a:xfrm>
            <a:custGeom>
              <a:avLst/>
              <a:gdLst>
                <a:gd name="T0" fmla="*/ 115823 w 116205"/>
                <a:gd name="T1" fmla="*/ 0 h 106680"/>
                <a:gd name="T2" fmla="*/ 0 w 116205"/>
                <a:gd name="T3" fmla="*/ 21335 h 106680"/>
                <a:gd name="T4" fmla="*/ 3109 w 116205"/>
                <a:gd name="T5" fmla="*/ 22818 h 106680"/>
                <a:gd name="T6" fmla="*/ 14465 w 116205"/>
                <a:gd name="T7" fmla="*/ 29521 h 106680"/>
                <a:gd name="T8" fmla="*/ 41721 w 116205"/>
                <a:gd name="T9" fmla="*/ 57408 h 106680"/>
                <a:gd name="T10" fmla="*/ 58080 w 116205"/>
                <a:gd name="T11" fmla="*/ 93554 h 106680"/>
                <a:gd name="T12" fmla="*/ 60959 w 116205"/>
                <a:gd name="T13" fmla="*/ 106679 h 106680"/>
                <a:gd name="T14" fmla="*/ 115823 w 116205"/>
                <a:gd name="T15" fmla="*/ 0 h 1066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205" h="106680">
                  <a:moveTo>
                    <a:pt x="115823" y="0"/>
                  </a:moveTo>
                  <a:lnTo>
                    <a:pt x="0" y="21335"/>
                  </a:lnTo>
                  <a:lnTo>
                    <a:pt x="3109" y="22818"/>
                  </a:lnTo>
                  <a:lnTo>
                    <a:pt x="14465" y="29521"/>
                  </a:lnTo>
                  <a:lnTo>
                    <a:pt x="41721" y="57408"/>
                  </a:lnTo>
                  <a:lnTo>
                    <a:pt x="58080" y="93554"/>
                  </a:lnTo>
                  <a:lnTo>
                    <a:pt x="60959" y="106679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34" name="object 34">
              <a:extLst>
                <a:ext uri="{FF2B5EF4-FFF2-40B4-BE49-F238E27FC236}">
                  <a16:creationId xmlns:a16="http://schemas.microsoft.com/office/drawing/2014/main" id="{1402874C-F74D-E915-8049-3EC820E94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210" y="4123944"/>
              <a:ext cx="868679" cy="594359"/>
            </a:xfrm>
            <a:prstGeom prst="rect">
              <a:avLst/>
            </a:prstGeom>
            <a:blipFill dpi="0" rotWithShape="1">
              <a:blip r:embed="rId1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35" name="object 35">
              <a:extLst>
                <a:ext uri="{FF2B5EF4-FFF2-40B4-BE49-F238E27FC236}">
                  <a16:creationId xmlns:a16="http://schemas.microsoft.com/office/drawing/2014/main" id="{9C2B3286-1D71-6B6B-3B58-3E0FA333D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6631" y="4087367"/>
              <a:ext cx="789940" cy="533400"/>
            </a:xfrm>
            <a:custGeom>
              <a:avLst/>
              <a:gdLst>
                <a:gd name="T0" fmla="*/ 0 w 789939"/>
                <a:gd name="T1" fmla="*/ 0 h 533400"/>
                <a:gd name="T2" fmla="*/ 789445 w 789939"/>
                <a:gd name="T3" fmla="*/ 533399 h 5334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9939" h="533400">
                  <a:moveTo>
                    <a:pt x="0" y="0"/>
                  </a:moveTo>
                  <a:lnTo>
                    <a:pt x="789431" y="533399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36" name="object 36">
              <a:extLst>
                <a:ext uri="{FF2B5EF4-FFF2-40B4-BE49-F238E27FC236}">
                  <a16:creationId xmlns:a16="http://schemas.microsoft.com/office/drawing/2014/main" id="{59B67220-A51F-BA60-E688-3F39F05AC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295" y="4565903"/>
              <a:ext cx="116205" cy="100965"/>
            </a:xfrm>
            <a:custGeom>
              <a:avLst/>
              <a:gdLst>
                <a:gd name="T0" fmla="*/ 115823 w 116205"/>
                <a:gd name="T1" fmla="*/ 100597 h 100964"/>
                <a:gd name="T2" fmla="*/ 57911 w 116205"/>
                <a:gd name="T3" fmla="*/ 0 h 100964"/>
                <a:gd name="T4" fmla="*/ 57761 w 116205"/>
                <a:gd name="T5" fmla="*/ 1631 h 100964"/>
                <a:gd name="T6" fmla="*/ 55470 w 116205"/>
                <a:gd name="T7" fmla="*/ 14782 h 100964"/>
                <a:gd name="T8" fmla="*/ 38780 w 116205"/>
                <a:gd name="T9" fmla="*/ 50176 h 100964"/>
                <a:gd name="T10" fmla="*/ 10953 w 116205"/>
                <a:gd name="T11" fmla="*/ 78059 h 100964"/>
                <a:gd name="T12" fmla="*/ 0 w 116205"/>
                <a:gd name="T13" fmla="*/ 85357 h 100964"/>
                <a:gd name="T14" fmla="*/ 115823 w 116205"/>
                <a:gd name="T15" fmla="*/ 100597 h 1009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205" h="100964">
                  <a:moveTo>
                    <a:pt x="115823" y="100583"/>
                  </a:moveTo>
                  <a:lnTo>
                    <a:pt x="57911" y="0"/>
                  </a:lnTo>
                  <a:lnTo>
                    <a:pt x="57761" y="1631"/>
                  </a:lnTo>
                  <a:lnTo>
                    <a:pt x="55470" y="14782"/>
                  </a:lnTo>
                  <a:lnTo>
                    <a:pt x="38780" y="50176"/>
                  </a:lnTo>
                  <a:lnTo>
                    <a:pt x="10953" y="78045"/>
                  </a:lnTo>
                  <a:lnTo>
                    <a:pt x="0" y="85343"/>
                  </a:lnTo>
                  <a:lnTo>
                    <a:pt x="115823" y="1005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37" name="object 37">
              <a:extLst>
                <a:ext uri="{FF2B5EF4-FFF2-40B4-BE49-F238E27FC236}">
                  <a16:creationId xmlns:a16="http://schemas.microsoft.com/office/drawing/2014/main" id="{5801DF46-B1A4-6FA1-9141-B36A31455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257" y="3118105"/>
              <a:ext cx="832103" cy="1033271"/>
            </a:xfrm>
            <a:prstGeom prst="rect">
              <a:avLst/>
            </a:prstGeom>
            <a:blipFill dpi="0" rotWithShape="1">
              <a:blip r:embed="rId1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38" name="object 38">
              <a:extLst>
                <a:ext uri="{FF2B5EF4-FFF2-40B4-BE49-F238E27FC236}">
                  <a16:creationId xmlns:a16="http://schemas.microsoft.com/office/drawing/2014/main" id="{AB8584D9-5255-5325-5EAC-5B9668FFA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679" y="3081529"/>
              <a:ext cx="804671" cy="1005839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39" name="object 39">
              <a:extLst>
                <a:ext uri="{FF2B5EF4-FFF2-40B4-BE49-F238E27FC236}">
                  <a16:creationId xmlns:a16="http://schemas.microsoft.com/office/drawing/2014/main" id="{F220655D-0E3F-0DB4-D5AE-1C3E9F329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679" y="3081527"/>
              <a:ext cx="805180" cy="1005840"/>
            </a:xfrm>
            <a:custGeom>
              <a:avLst/>
              <a:gdLst>
                <a:gd name="T0" fmla="*/ 0 w 805179"/>
                <a:gd name="T1" fmla="*/ 0 h 1005839"/>
                <a:gd name="T2" fmla="*/ 0 w 805179"/>
                <a:gd name="T3" fmla="*/ 1005853 h 1005839"/>
                <a:gd name="T4" fmla="*/ 804685 w 805179"/>
                <a:gd name="T5" fmla="*/ 1005853 h 1005839"/>
                <a:gd name="T6" fmla="*/ 804685 w 805179"/>
                <a:gd name="T7" fmla="*/ 0 h 1005839"/>
                <a:gd name="T8" fmla="*/ 0 w 805179"/>
                <a:gd name="T9" fmla="*/ 0 h 10058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5179" h="1005839">
                  <a:moveTo>
                    <a:pt x="0" y="0"/>
                  </a:moveTo>
                  <a:lnTo>
                    <a:pt x="0" y="1005839"/>
                  </a:lnTo>
                  <a:lnTo>
                    <a:pt x="804671" y="1005839"/>
                  </a:lnTo>
                  <a:lnTo>
                    <a:pt x="80467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40" name="object 40">
              <a:extLst>
                <a:ext uri="{FF2B5EF4-FFF2-40B4-BE49-F238E27FC236}">
                  <a16:creationId xmlns:a16="http://schemas.microsoft.com/office/drawing/2014/main" id="{94586401-EBB0-9F0C-3C77-CD67CF181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7264" y="3364991"/>
              <a:ext cx="609600" cy="374904"/>
            </a:xfrm>
            <a:prstGeom prst="rect">
              <a:avLst/>
            </a:prstGeom>
            <a:blipFill dpi="0" rotWithShape="1">
              <a:blip r:embed="rId19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41" name="object 41">
              <a:extLst>
                <a:ext uri="{FF2B5EF4-FFF2-40B4-BE49-F238E27FC236}">
                  <a16:creationId xmlns:a16="http://schemas.microsoft.com/office/drawing/2014/main" id="{341D3C4C-3FB2-EFE9-C7E9-A57BAEAA8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8808" y="3526535"/>
              <a:ext cx="292608" cy="292608"/>
            </a:xfrm>
            <a:prstGeom prst="rect">
              <a:avLst/>
            </a:prstGeom>
            <a:blipFill dpi="0" rotWithShape="1">
              <a:blip r:embed="rId20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42" name="object 42">
              <a:extLst>
                <a:ext uri="{FF2B5EF4-FFF2-40B4-BE49-F238E27FC236}">
                  <a16:creationId xmlns:a16="http://schemas.microsoft.com/office/drawing/2014/main" id="{F56B7A52-5BF9-3FAB-E466-DE553A57A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322" y="3688079"/>
              <a:ext cx="121920" cy="374904"/>
            </a:xfrm>
            <a:prstGeom prst="rect">
              <a:avLst/>
            </a:prstGeom>
            <a:blipFill dpi="0" rotWithShape="1">
              <a:blip r:embed="rId21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43" name="object 43">
              <a:extLst>
                <a:ext uri="{FF2B5EF4-FFF2-40B4-BE49-F238E27FC236}">
                  <a16:creationId xmlns:a16="http://schemas.microsoft.com/office/drawing/2014/main" id="{753A4FA0-8C81-FC0B-55CF-F5FB08C88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384" y="3688079"/>
              <a:ext cx="353567" cy="374904"/>
            </a:xfrm>
            <a:prstGeom prst="rect">
              <a:avLst/>
            </a:prstGeom>
            <a:blipFill dpi="0" rotWithShape="1">
              <a:blip r:embed="rId2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44" name="object 44">
              <a:extLst>
                <a:ext uri="{FF2B5EF4-FFF2-40B4-BE49-F238E27FC236}">
                  <a16:creationId xmlns:a16="http://schemas.microsoft.com/office/drawing/2014/main" id="{154EE22E-9843-7170-A25A-6BAF93F89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351" y="2487169"/>
              <a:ext cx="1173479" cy="643127"/>
            </a:xfrm>
            <a:prstGeom prst="rect">
              <a:avLst/>
            </a:prstGeom>
            <a:blipFill dpi="0" rotWithShape="1">
              <a:blip r:embed="rId2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45" name="object 45">
              <a:extLst>
                <a:ext uri="{FF2B5EF4-FFF2-40B4-BE49-F238E27FC236}">
                  <a16:creationId xmlns:a16="http://schemas.microsoft.com/office/drawing/2014/main" id="{0E5F8C82-D2F4-3BAD-CF6F-0F0FF49D0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777" y="2450591"/>
              <a:ext cx="1088390" cy="591820"/>
            </a:xfrm>
            <a:custGeom>
              <a:avLst/>
              <a:gdLst>
                <a:gd name="T0" fmla="*/ 0 w 1088389"/>
                <a:gd name="T1" fmla="*/ 0 h 591819"/>
                <a:gd name="T2" fmla="*/ 1088149 w 1088389"/>
                <a:gd name="T3" fmla="*/ 591325 h 5918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88389" h="591819">
                  <a:moveTo>
                    <a:pt x="0" y="0"/>
                  </a:moveTo>
                  <a:lnTo>
                    <a:pt x="1088135" y="591311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46" name="object 46">
              <a:extLst>
                <a:ext uri="{FF2B5EF4-FFF2-40B4-BE49-F238E27FC236}">
                  <a16:creationId xmlns:a16="http://schemas.microsoft.com/office/drawing/2014/main" id="{2D8BA8B9-9183-638E-D801-8DB233704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192" y="2983991"/>
              <a:ext cx="116205" cy="97790"/>
            </a:xfrm>
            <a:custGeom>
              <a:avLst/>
              <a:gdLst>
                <a:gd name="T0" fmla="*/ 115837 w 116204"/>
                <a:gd name="T1" fmla="*/ 97549 h 97789"/>
                <a:gd name="T2" fmla="*/ 48767 w 116204"/>
                <a:gd name="T3" fmla="*/ 0 h 97789"/>
                <a:gd name="T4" fmla="*/ 48659 w 116204"/>
                <a:gd name="T5" fmla="*/ 4880 h 97789"/>
                <a:gd name="T6" fmla="*/ 47320 w 116204"/>
                <a:gd name="T7" fmla="*/ 17920 h 97789"/>
                <a:gd name="T8" fmla="*/ 34672 w 116204"/>
                <a:gd name="T9" fmla="*/ 55148 h 97789"/>
                <a:gd name="T10" fmla="*/ 10389 w 116204"/>
                <a:gd name="T11" fmla="*/ 86230 h 97789"/>
                <a:gd name="T12" fmla="*/ 0 w 116204"/>
                <a:gd name="T13" fmla="*/ 94501 h 97789"/>
                <a:gd name="T14" fmla="*/ 115837 w 116204"/>
                <a:gd name="T15" fmla="*/ 97549 h 977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204" h="97789">
                  <a:moveTo>
                    <a:pt x="115823" y="97535"/>
                  </a:moveTo>
                  <a:lnTo>
                    <a:pt x="48767" y="0"/>
                  </a:lnTo>
                  <a:lnTo>
                    <a:pt x="48659" y="4880"/>
                  </a:lnTo>
                  <a:lnTo>
                    <a:pt x="47320" y="17920"/>
                  </a:lnTo>
                  <a:lnTo>
                    <a:pt x="34672" y="55134"/>
                  </a:lnTo>
                  <a:lnTo>
                    <a:pt x="10389" y="86216"/>
                  </a:lnTo>
                  <a:lnTo>
                    <a:pt x="0" y="94487"/>
                  </a:lnTo>
                  <a:lnTo>
                    <a:pt x="115823" y="975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47" name="object 47">
              <a:extLst>
                <a:ext uri="{FF2B5EF4-FFF2-40B4-BE49-F238E27FC236}">
                  <a16:creationId xmlns:a16="http://schemas.microsoft.com/office/drawing/2014/main" id="{631F00CE-CC8D-1DFA-7F09-F791645E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351" y="4139185"/>
              <a:ext cx="1173479" cy="591311"/>
            </a:xfrm>
            <a:prstGeom prst="rect">
              <a:avLst/>
            </a:prstGeom>
            <a:blipFill dpi="0" rotWithShape="1">
              <a:blip r:embed="rId2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48" name="object 48">
              <a:extLst>
                <a:ext uri="{FF2B5EF4-FFF2-40B4-BE49-F238E27FC236}">
                  <a16:creationId xmlns:a16="http://schemas.microsoft.com/office/drawing/2014/main" id="{F6D9A517-7307-20EA-6A74-143EF9FCF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777" y="4123946"/>
              <a:ext cx="1088390" cy="542925"/>
            </a:xfrm>
            <a:custGeom>
              <a:avLst/>
              <a:gdLst>
                <a:gd name="T0" fmla="*/ 0 w 1088389"/>
                <a:gd name="T1" fmla="*/ 542543 h 542925"/>
                <a:gd name="T2" fmla="*/ 1088149 w 1088389"/>
                <a:gd name="T3" fmla="*/ 0 h 5429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88389" h="542925">
                  <a:moveTo>
                    <a:pt x="0" y="542543"/>
                  </a:moveTo>
                  <a:lnTo>
                    <a:pt x="1088135" y="0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49" name="object 49">
              <a:extLst>
                <a:ext uri="{FF2B5EF4-FFF2-40B4-BE49-F238E27FC236}">
                  <a16:creationId xmlns:a16="http://schemas.microsoft.com/office/drawing/2014/main" id="{B429A60A-9B75-1767-01FA-12D52A58A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804" y="4087369"/>
              <a:ext cx="113664" cy="94615"/>
            </a:xfrm>
            <a:custGeom>
              <a:avLst/>
              <a:gdLst>
                <a:gd name="T0" fmla="*/ 113211 w 113664"/>
                <a:gd name="T1" fmla="*/ 0 h 94614"/>
                <a:gd name="T2" fmla="*/ 0 w 113664"/>
                <a:gd name="T3" fmla="*/ 2100 h 94614"/>
                <a:gd name="T4" fmla="*/ 9309 w 113664"/>
                <a:gd name="T5" fmla="*/ 10814 h 94614"/>
                <a:gd name="T6" fmla="*/ 17693 w 113664"/>
                <a:gd name="T7" fmla="*/ 20662 h 94614"/>
                <a:gd name="T8" fmla="*/ 36317 w 113664"/>
                <a:gd name="T9" fmla="*/ 55403 h 94614"/>
                <a:gd name="T10" fmla="*/ 43107 w 113664"/>
                <a:gd name="T11" fmla="*/ 94501 h 94614"/>
                <a:gd name="T12" fmla="*/ 113211 w 113664"/>
                <a:gd name="T13" fmla="*/ 0 h 946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664" h="94614">
                  <a:moveTo>
                    <a:pt x="113211" y="0"/>
                  </a:moveTo>
                  <a:lnTo>
                    <a:pt x="0" y="2100"/>
                  </a:lnTo>
                  <a:lnTo>
                    <a:pt x="9309" y="10814"/>
                  </a:lnTo>
                  <a:lnTo>
                    <a:pt x="17693" y="20662"/>
                  </a:lnTo>
                  <a:lnTo>
                    <a:pt x="36317" y="55389"/>
                  </a:lnTo>
                  <a:lnTo>
                    <a:pt x="43107" y="94487"/>
                  </a:lnTo>
                  <a:lnTo>
                    <a:pt x="1132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2" name="object 50">
              <a:extLst>
                <a:ext uri="{FF2B5EF4-FFF2-40B4-BE49-F238E27FC236}">
                  <a16:creationId xmlns:a16="http://schemas.microsoft.com/office/drawing/2014/main" id="{0FF62A1E-3945-40CB-48F9-D46A84729324}"/>
                </a:ext>
              </a:extLst>
            </p:cNvPr>
            <p:cNvSpPr txBox="1"/>
            <p:nvPr/>
          </p:nvSpPr>
          <p:spPr>
            <a:xfrm>
              <a:off x="3423279" y="2572022"/>
              <a:ext cx="229626" cy="1973509"/>
            </a:xfrm>
            <a:prstGeom prst="rect">
              <a:avLst/>
            </a:prstGeom>
          </p:spPr>
          <p:txBody>
            <a:bodyPr vert="vert" lIns="0" tIns="0" rIns="0" bIns="0">
              <a:spAutoFit/>
            </a:bodyPr>
            <a:lstStyle/>
            <a:p>
              <a:pPr marL="12697">
                <a:spcBef>
                  <a:spcPct val="50000"/>
                </a:spcBef>
                <a:defRPr/>
              </a:pP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J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a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va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500" spc="-20">
                  <a:solidFill>
                    <a:srgbClr val="FF0000"/>
                  </a:solidFill>
                  <a:latin typeface="Arial"/>
                  <a:cs typeface="Arial"/>
                </a:rPr>
                <a:t>C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o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m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pi</a:t>
              </a:r>
              <a:r>
                <a:rPr sz="1500" spc="-20">
                  <a:solidFill>
                    <a:srgbClr val="FF0000"/>
                  </a:solidFill>
                  <a:latin typeface="Arial"/>
                  <a:cs typeface="Arial"/>
                </a:rPr>
                <a:t>l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e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r (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ja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v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a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c)</a:t>
              </a:r>
              <a:endParaRPr sz="1500">
                <a:latin typeface="Arial"/>
                <a:cs typeface="Arial"/>
              </a:endParaRPr>
            </a:p>
          </p:txBody>
        </p:sp>
        <p:sp>
          <p:nvSpPr>
            <p:cNvPr id="43" name="object 51">
              <a:extLst>
                <a:ext uri="{FF2B5EF4-FFF2-40B4-BE49-F238E27FC236}">
                  <a16:creationId xmlns:a16="http://schemas.microsoft.com/office/drawing/2014/main" id="{762BE337-2993-2A70-F6BD-513B86883445}"/>
                </a:ext>
              </a:extLst>
            </p:cNvPr>
            <p:cNvSpPr txBox="1"/>
            <p:nvPr/>
          </p:nvSpPr>
          <p:spPr>
            <a:xfrm>
              <a:off x="5284682" y="2583935"/>
              <a:ext cx="231061" cy="1997334"/>
            </a:xfrm>
            <a:prstGeom prst="rect">
              <a:avLst/>
            </a:prstGeom>
          </p:spPr>
          <p:txBody>
            <a:bodyPr vert="vert" lIns="0" tIns="0" rIns="0" bIns="0">
              <a:spAutoFit/>
            </a:bodyPr>
            <a:lstStyle/>
            <a:p>
              <a:pPr marL="12697">
                <a:spcBef>
                  <a:spcPct val="50000"/>
                </a:spcBef>
                <a:defRPr/>
              </a:pP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J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a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va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500" spc="15">
                  <a:solidFill>
                    <a:srgbClr val="FF0000"/>
                  </a:solidFill>
                  <a:latin typeface="Arial"/>
                  <a:cs typeface="Arial"/>
                </a:rPr>
                <a:t>I</a:t>
              </a:r>
              <a:r>
                <a:rPr sz="1500" spc="-20">
                  <a:solidFill>
                    <a:srgbClr val="FF0000"/>
                  </a:solidFill>
                  <a:latin typeface="Arial"/>
                  <a:cs typeface="Arial"/>
                </a:rPr>
                <a:t>n</a:t>
              </a:r>
              <a:r>
                <a:rPr sz="1500" spc="15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500" spc="-20">
                  <a:solidFill>
                    <a:srgbClr val="FF0000"/>
                  </a:solidFill>
                  <a:latin typeface="Arial"/>
                  <a:cs typeface="Arial"/>
                </a:rPr>
                <a:t>e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p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e</a:t>
              </a:r>
              <a:r>
                <a:rPr sz="1500" spc="-1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e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r (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ja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v</a:t>
              </a:r>
              <a:r>
                <a:rPr sz="1500" spc="5">
                  <a:solidFill>
                    <a:srgbClr val="FF0000"/>
                  </a:solidFill>
                  <a:latin typeface="Arial"/>
                  <a:cs typeface="Arial"/>
                </a:rPr>
                <a:t>a</a:t>
              </a:r>
              <a:r>
                <a:rPr sz="1500">
                  <a:solidFill>
                    <a:srgbClr val="FF0000"/>
                  </a:solidFill>
                  <a:latin typeface="Arial"/>
                  <a:cs typeface="Arial"/>
                </a:rPr>
                <a:t>)</a:t>
              </a:r>
              <a:endParaRPr sz="1500">
                <a:latin typeface="Arial"/>
                <a:cs typeface="Arial"/>
              </a:endParaRPr>
            </a:p>
          </p:txBody>
        </p:sp>
        <p:sp>
          <p:nvSpPr>
            <p:cNvPr id="17452" name="object 52">
              <a:extLst>
                <a:ext uri="{FF2B5EF4-FFF2-40B4-BE49-F238E27FC236}">
                  <a16:creationId xmlns:a16="http://schemas.microsoft.com/office/drawing/2014/main" id="{58284B2B-F9C9-37A1-033C-32C34A987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2434" y="2667001"/>
              <a:ext cx="1158239" cy="326135"/>
            </a:xfrm>
            <a:prstGeom prst="rect">
              <a:avLst/>
            </a:prstGeom>
            <a:blipFill dpi="0" rotWithShape="1">
              <a:blip r:embed="rId2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53" name="object 53">
              <a:extLst>
                <a:ext uri="{FF2B5EF4-FFF2-40B4-BE49-F238E27FC236}">
                  <a16:creationId xmlns:a16="http://schemas.microsoft.com/office/drawing/2014/main" id="{6065E85C-1B8A-F410-0F04-CFD2061B0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857" y="2627376"/>
              <a:ext cx="1130807" cy="301751"/>
            </a:xfrm>
            <a:prstGeom prst="rect">
              <a:avLst/>
            </a:prstGeom>
            <a:blipFill dpi="0" rotWithShape="1">
              <a:blip r:embed="rId2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54" name="object 54">
              <a:extLst>
                <a:ext uri="{FF2B5EF4-FFF2-40B4-BE49-F238E27FC236}">
                  <a16:creationId xmlns:a16="http://schemas.microsoft.com/office/drawing/2014/main" id="{C29D4804-2943-4328-3E62-D82F007F2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856" y="2627375"/>
              <a:ext cx="1130935" cy="302260"/>
            </a:xfrm>
            <a:custGeom>
              <a:avLst/>
              <a:gdLst>
                <a:gd name="T0" fmla="*/ 0 w 1130934"/>
                <a:gd name="T1" fmla="*/ 0 h 302260"/>
                <a:gd name="T2" fmla="*/ 0 w 1130934"/>
                <a:gd name="T3" fmla="*/ 301751 h 302260"/>
                <a:gd name="T4" fmla="*/ 1130821 w 1130934"/>
                <a:gd name="T5" fmla="*/ 301751 h 302260"/>
                <a:gd name="T6" fmla="*/ 1130821 w 1130934"/>
                <a:gd name="T7" fmla="*/ 0 h 302260"/>
                <a:gd name="T8" fmla="*/ 0 w 1130934"/>
                <a:gd name="T9" fmla="*/ 0 h 3022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0934" h="302260">
                  <a:moveTo>
                    <a:pt x="0" y="0"/>
                  </a:moveTo>
                  <a:lnTo>
                    <a:pt x="0" y="301751"/>
                  </a:lnTo>
                  <a:lnTo>
                    <a:pt x="1130807" y="301751"/>
                  </a:lnTo>
                  <a:lnTo>
                    <a:pt x="113080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55" name="object 55">
              <a:extLst>
                <a:ext uri="{FF2B5EF4-FFF2-40B4-BE49-F238E27FC236}">
                  <a16:creationId xmlns:a16="http://schemas.microsoft.com/office/drawing/2014/main" id="{5D016B2D-76EA-5A84-BB1C-F59CE858F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3808" y="2721864"/>
              <a:ext cx="219456" cy="292608"/>
            </a:xfrm>
            <a:prstGeom prst="rect">
              <a:avLst/>
            </a:prstGeom>
            <a:blipFill dpi="0" rotWithShape="1">
              <a:blip r:embed="rId9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56" name="object 56">
              <a:extLst>
                <a:ext uri="{FF2B5EF4-FFF2-40B4-BE49-F238E27FC236}">
                  <a16:creationId xmlns:a16="http://schemas.microsoft.com/office/drawing/2014/main" id="{88C8D040-DB36-F777-A5D1-562189268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503" y="2721864"/>
              <a:ext cx="146304" cy="292608"/>
            </a:xfrm>
            <a:prstGeom prst="rect">
              <a:avLst/>
            </a:prstGeom>
            <a:blipFill dpi="0" rotWithShape="1">
              <a:blip r:embed="rId2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57" name="object 57">
              <a:extLst>
                <a:ext uri="{FF2B5EF4-FFF2-40B4-BE49-F238E27FC236}">
                  <a16:creationId xmlns:a16="http://schemas.microsoft.com/office/drawing/2014/main" id="{48476EBC-CF17-BA63-FBE1-5282CF6B3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2434" y="3169920"/>
              <a:ext cx="1158239" cy="326135"/>
            </a:xfrm>
            <a:prstGeom prst="rect">
              <a:avLst/>
            </a:prstGeom>
            <a:blipFill dpi="0" rotWithShape="1">
              <a:blip r:embed="rId2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58" name="object 58">
              <a:extLst>
                <a:ext uri="{FF2B5EF4-FFF2-40B4-BE49-F238E27FC236}">
                  <a16:creationId xmlns:a16="http://schemas.microsoft.com/office/drawing/2014/main" id="{EC51D12F-721A-EC4F-13CC-B1B103E95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857" y="3130295"/>
              <a:ext cx="1130807" cy="301751"/>
            </a:xfrm>
            <a:prstGeom prst="rect">
              <a:avLst/>
            </a:prstGeom>
            <a:blipFill dpi="0" rotWithShape="1">
              <a:blip r:embed="rId29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59" name="object 59">
              <a:extLst>
                <a:ext uri="{FF2B5EF4-FFF2-40B4-BE49-F238E27FC236}">
                  <a16:creationId xmlns:a16="http://schemas.microsoft.com/office/drawing/2014/main" id="{B5536166-7146-4D00-D281-4F5AC00C5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856" y="3130295"/>
              <a:ext cx="1130935" cy="302260"/>
            </a:xfrm>
            <a:custGeom>
              <a:avLst/>
              <a:gdLst>
                <a:gd name="T0" fmla="*/ 0 w 1130934"/>
                <a:gd name="T1" fmla="*/ 0 h 302260"/>
                <a:gd name="T2" fmla="*/ 0 w 1130934"/>
                <a:gd name="T3" fmla="*/ 301751 h 302260"/>
                <a:gd name="T4" fmla="*/ 1130821 w 1130934"/>
                <a:gd name="T5" fmla="*/ 301751 h 302260"/>
                <a:gd name="T6" fmla="*/ 1130821 w 1130934"/>
                <a:gd name="T7" fmla="*/ 0 h 302260"/>
                <a:gd name="T8" fmla="*/ 0 w 1130934"/>
                <a:gd name="T9" fmla="*/ 0 h 3022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0934" h="302260">
                  <a:moveTo>
                    <a:pt x="0" y="0"/>
                  </a:moveTo>
                  <a:lnTo>
                    <a:pt x="0" y="301751"/>
                  </a:lnTo>
                  <a:lnTo>
                    <a:pt x="1130807" y="301751"/>
                  </a:lnTo>
                  <a:lnTo>
                    <a:pt x="113080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60" name="object 60">
              <a:extLst>
                <a:ext uri="{FF2B5EF4-FFF2-40B4-BE49-F238E27FC236}">
                  <a16:creationId xmlns:a16="http://schemas.microsoft.com/office/drawing/2014/main" id="{58320F0A-E39A-C510-3150-8AD7DFF2C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0384" y="3224783"/>
              <a:ext cx="316991" cy="292608"/>
            </a:xfrm>
            <a:prstGeom prst="rect">
              <a:avLst/>
            </a:prstGeom>
            <a:blipFill dpi="0" rotWithShape="1">
              <a:blip r:embed="rId30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1" name="object 61">
              <a:extLst>
                <a:ext uri="{FF2B5EF4-FFF2-40B4-BE49-F238E27FC236}">
                  <a16:creationId xmlns:a16="http://schemas.microsoft.com/office/drawing/2014/main" id="{DC278914-C810-CC51-D8D2-5013DF3DE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2434" y="3697223"/>
              <a:ext cx="1158239" cy="326135"/>
            </a:xfrm>
            <a:prstGeom prst="rect">
              <a:avLst/>
            </a:prstGeom>
            <a:blipFill dpi="0" rotWithShape="1">
              <a:blip r:embed="rId31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2" name="object 62">
              <a:extLst>
                <a:ext uri="{FF2B5EF4-FFF2-40B4-BE49-F238E27FC236}">
                  <a16:creationId xmlns:a16="http://schemas.microsoft.com/office/drawing/2014/main" id="{296CAC1E-100C-8A40-40A4-CC022AEB7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857" y="3660649"/>
              <a:ext cx="1130807" cy="301751"/>
            </a:xfrm>
            <a:prstGeom prst="rect">
              <a:avLst/>
            </a:prstGeom>
            <a:blipFill dpi="0" rotWithShape="1">
              <a:blip r:embed="rId3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3" name="object 63">
              <a:extLst>
                <a:ext uri="{FF2B5EF4-FFF2-40B4-BE49-F238E27FC236}">
                  <a16:creationId xmlns:a16="http://schemas.microsoft.com/office/drawing/2014/main" id="{0E3439DC-A912-1E7B-4508-208FBD713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856" y="3660647"/>
              <a:ext cx="1130935" cy="302260"/>
            </a:xfrm>
            <a:custGeom>
              <a:avLst/>
              <a:gdLst>
                <a:gd name="T0" fmla="*/ 0 w 1130934"/>
                <a:gd name="T1" fmla="*/ 0 h 302260"/>
                <a:gd name="T2" fmla="*/ 0 w 1130934"/>
                <a:gd name="T3" fmla="*/ 301751 h 302260"/>
                <a:gd name="T4" fmla="*/ 1130821 w 1130934"/>
                <a:gd name="T5" fmla="*/ 301751 h 302260"/>
                <a:gd name="T6" fmla="*/ 1130821 w 1130934"/>
                <a:gd name="T7" fmla="*/ 0 h 302260"/>
                <a:gd name="T8" fmla="*/ 0 w 1130934"/>
                <a:gd name="T9" fmla="*/ 0 h 3022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0934" h="302260">
                  <a:moveTo>
                    <a:pt x="0" y="0"/>
                  </a:moveTo>
                  <a:lnTo>
                    <a:pt x="0" y="301751"/>
                  </a:lnTo>
                  <a:lnTo>
                    <a:pt x="1130807" y="301751"/>
                  </a:lnTo>
                  <a:lnTo>
                    <a:pt x="113080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64" name="object 64">
              <a:extLst>
                <a:ext uri="{FF2B5EF4-FFF2-40B4-BE49-F238E27FC236}">
                  <a16:creationId xmlns:a16="http://schemas.microsoft.com/office/drawing/2014/main" id="{7C5D140B-EE60-8076-F444-92760C5B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1617" y="3752088"/>
              <a:ext cx="414527" cy="292608"/>
            </a:xfrm>
            <a:prstGeom prst="rect">
              <a:avLst/>
            </a:prstGeom>
            <a:blipFill dpi="0" rotWithShape="1">
              <a:blip r:embed="rId3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5" name="object 65">
              <a:extLst>
                <a:ext uri="{FF2B5EF4-FFF2-40B4-BE49-F238E27FC236}">
                  <a16:creationId xmlns:a16="http://schemas.microsoft.com/office/drawing/2014/main" id="{47C94566-5EB6-0A74-C988-E3E298978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2434" y="4251959"/>
              <a:ext cx="1158239" cy="326135"/>
            </a:xfrm>
            <a:prstGeom prst="rect">
              <a:avLst/>
            </a:prstGeom>
            <a:blipFill dpi="0" rotWithShape="1">
              <a:blip r:embed="rId3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6" name="object 66">
              <a:extLst>
                <a:ext uri="{FF2B5EF4-FFF2-40B4-BE49-F238E27FC236}">
                  <a16:creationId xmlns:a16="http://schemas.microsoft.com/office/drawing/2014/main" id="{ED539768-110D-1A99-4797-C1809E13D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857" y="4212335"/>
              <a:ext cx="1130807" cy="304799"/>
            </a:xfrm>
            <a:prstGeom prst="rect">
              <a:avLst/>
            </a:prstGeom>
            <a:blipFill dpi="0" rotWithShape="1">
              <a:blip r:embed="rId3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7" name="object 67">
              <a:extLst>
                <a:ext uri="{FF2B5EF4-FFF2-40B4-BE49-F238E27FC236}">
                  <a16:creationId xmlns:a16="http://schemas.microsoft.com/office/drawing/2014/main" id="{C3256C80-C29E-258B-D56E-2F17CE23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856" y="4212335"/>
              <a:ext cx="1130935" cy="304800"/>
            </a:xfrm>
            <a:custGeom>
              <a:avLst/>
              <a:gdLst>
                <a:gd name="T0" fmla="*/ 0 w 1130934"/>
                <a:gd name="T1" fmla="*/ 0 h 304800"/>
                <a:gd name="T2" fmla="*/ 0 w 1130934"/>
                <a:gd name="T3" fmla="*/ 304799 h 304800"/>
                <a:gd name="T4" fmla="*/ 1130821 w 1130934"/>
                <a:gd name="T5" fmla="*/ 304799 h 304800"/>
                <a:gd name="T6" fmla="*/ 1130821 w 1130934"/>
                <a:gd name="T7" fmla="*/ 0 h 304800"/>
                <a:gd name="T8" fmla="*/ 0 w 1130934"/>
                <a:gd name="T9" fmla="*/ 0 h 304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0934" h="304800">
                  <a:moveTo>
                    <a:pt x="0" y="0"/>
                  </a:moveTo>
                  <a:lnTo>
                    <a:pt x="0" y="304799"/>
                  </a:lnTo>
                  <a:lnTo>
                    <a:pt x="1130807" y="304799"/>
                  </a:lnTo>
                  <a:lnTo>
                    <a:pt x="113080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68" name="object 68">
              <a:extLst>
                <a:ext uri="{FF2B5EF4-FFF2-40B4-BE49-F238E27FC236}">
                  <a16:creationId xmlns:a16="http://schemas.microsoft.com/office/drawing/2014/main" id="{6AB0176D-E617-C212-DD3B-F1230BFDD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9632" y="4392167"/>
              <a:ext cx="155447" cy="36576"/>
            </a:xfrm>
            <a:prstGeom prst="rect">
              <a:avLst/>
            </a:prstGeom>
            <a:blipFill dpi="0" rotWithShape="1">
              <a:blip r:embed="rId3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69" name="object 69">
              <a:extLst>
                <a:ext uri="{FF2B5EF4-FFF2-40B4-BE49-F238E27FC236}">
                  <a16:creationId xmlns:a16="http://schemas.microsoft.com/office/drawing/2014/main" id="{458B0135-5E03-3EC1-B68B-B38F6DA05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929" y="2828546"/>
              <a:ext cx="996695" cy="819911"/>
            </a:xfrm>
            <a:prstGeom prst="rect">
              <a:avLst/>
            </a:prstGeom>
            <a:blipFill dpi="0" rotWithShape="1">
              <a:blip r:embed="rId3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70" name="object 70">
              <a:extLst>
                <a:ext uri="{FF2B5EF4-FFF2-40B4-BE49-F238E27FC236}">
                  <a16:creationId xmlns:a16="http://schemas.microsoft.com/office/drawing/2014/main" id="{1CB54308-9A07-61DB-D137-7EE935C3E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351" y="2828544"/>
              <a:ext cx="920750" cy="756285"/>
            </a:xfrm>
            <a:custGeom>
              <a:avLst/>
              <a:gdLst>
                <a:gd name="T0" fmla="*/ 0 w 920750"/>
                <a:gd name="T1" fmla="*/ 755903 h 756285"/>
                <a:gd name="T2" fmla="*/ 920495 w 920750"/>
                <a:gd name="T3" fmla="*/ 0 h 7562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0750" h="756285">
                  <a:moveTo>
                    <a:pt x="0" y="755903"/>
                  </a:moveTo>
                  <a:lnTo>
                    <a:pt x="920495" y="0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71" name="object 71">
              <a:extLst>
                <a:ext uri="{FF2B5EF4-FFF2-40B4-BE49-F238E27FC236}">
                  <a16:creationId xmlns:a16="http://schemas.microsoft.com/office/drawing/2014/main" id="{60FB5AEA-982A-023A-4019-26D328AE8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0033" y="2779775"/>
              <a:ext cx="116205" cy="106680"/>
            </a:xfrm>
            <a:custGeom>
              <a:avLst/>
              <a:gdLst>
                <a:gd name="T0" fmla="*/ 115837 w 116204"/>
                <a:gd name="T1" fmla="*/ 0 h 106680"/>
                <a:gd name="T2" fmla="*/ 0 w 116204"/>
                <a:gd name="T3" fmla="*/ 24383 h 106680"/>
                <a:gd name="T4" fmla="*/ 4266 w 116204"/>
                <a:gd name="T5" fmla="*/ 26429 h 106680"/>
                <a:gd name="T6" fmla="*/ 15599 w 116204"/>
                <a:gd name="T7" fmla="*/ 32984 h 106680"/>
                <a:gd name="T8" fmla="*/ 44126 w 116204"/>
                <a:gd name="T9" fmla="*/ 59360 h 106680"/>
                <a:gd name="T10" fmla="*/ 63144 w 116204"/>
                <a:gd name="T11" fmla="*/ 93830 h 106680"/>
                <a:gd name="T12" fmla="*/ 67069 w 116204"/>
                <a:gd name="T13" fmla="*/ 106679 h 106680"/>
                <a:gd name="T14" fmla="*/ 115837 w 116204"/>
                <a:gd name="T15" fmla="*/ 0 h 1066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204" h="106680">
                  <a:moveTo>
                    <a:pt x="115823" y="0"/>
                  </a:moveTo>
                  <a:lnTo>
                    <a:pt x="0" y="24383"/>
                  </a:lnTo>
                  <a:lnTo>
                    <a:pt x="4266" y="26429"/>
                  </a:lnTo>
                  <a:lnTo>
                    <a:pt x="15599" y="32984"/>
                  </a:lnTo>
                  <a:lnTo>
                    <a:pt x="44126" y="59360"/>
                  </a:lnTo>
                  <a:lnTo>
                    <a:pt x="63130" y="93830"/>
                  </a:lnTo>
                  <a:lnTo>
                    <a:pt x="67055" y="106679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72" name="object 72">
              <a:extLst>
                <a:ext uri="{FF2B5EF4-FFF2-40B4-BE49-F238E27FC236}">
                  <a16:creationId xmlns:a16="http://schemas.microsoft.com/office/drawing/2014/main" id="{441FB75B-08B8-B5B4-D64A-D8DBD22C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929" y="3319080"/>
              <a:ext cx="996695" cy="329377"/>
            </a:xfrm>
            <a:prstGeom prst="rect">
              <a:avLst/>
            </a:prstGeom>
            <a:blipFill dpi="0" rotWithShape="1">
              <a:blip r:embed="rId3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73" name="object 73">
              <a:extLst>
                <a:ext uri="{FF2B5EF4-FFF2-40B4-BE49-F238E27FC236}">
                  <a16:creationId xmlns:a16="http://schemas.microsoft.com/office/drawing/2014/main" id="{3166ADB5-B246-EF95-9CD1-BFBBD893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353" y="3307081"/>
              <a:ext cx="908685" cy="277495"/>
            </a:xfrm>
            <a:custGeom>
              <a:avLst/>
              <a:gdLst>
                <a:gd name="T0" fmla="*/ 0 w 908685"/>
                <a:gd name="T1" fmla="*/ 277367 h 277495"/>
                <a:gd name="T2" fmla="*/ 908303 w 908685"/>
                <a:gd name="T3" fmla="*/ 0 h 2774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8685" h="277495">
                  <a:moveTo>
                    <a:pt x="0" y="277367"/>
                  </a:moveTo>
                  <a:lnTo>
                    <a:pt x="908303" y="0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74" name="object 74">
              <a:extLst>
                <a:ext uri="{FF2B5EF4-FFF2-40B4-BE49-F238E27FC236}">
                  <a16:creationId xmlns:a16="http://schemas.microsoft.com/office/drawing/2014/main" id="{9DEBCA45-49B4-2BC1-3B96-5A207B520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3295" y="3267823"/>
              <a:ext cx="113030" cy="94615"/>
            </a:xfrm>
            <a:custGeom>
              <a:avLst/>
              <a:gdLst>
                <a:gd name="T0" fmla="*/ 112574 w 113029"/>
                <a:gd name="T1" fmla="*/ 14872 h 94614"/>
                <a:gd name="T2" fmla="*/ 0 w 113029"/>
                <a:gd name="T3" fmla="*/ 0 h 94614"/>
                <a:gd name="T4" fmla="*/ 7780 w 113029"/>
                <a:gd name="T5" fmla="*/ 9591 h 94614"/>
                <a:gd name="T6" fmla="*/ 14434 w 113029"/>
                <a:gd name="T7" fmla="*/ 20052 h 94614"/>
                <a:gd name="T8" fmla="*/ 28539 w 113029"/>
                <a:gd name="T9" fmla="*/ 68120 h 94614"/>
                <a:gd name="T10" fmla="*/ 28627 w 113029"/>
                <a:gd name="T11" fmla="*/ 92823 h 94614"/>
                <a:gd name="T12" fmla="*/ 112574 w 113029"/>
                <a:gd name="T13" fmla="*/ 14872 h 94614"/>
                <a:gd name="T14" fmla="*/ 28627 w 113029"/>
                <a:gd name="T15" fmla="*/ 92823 h 94614"/>
                <a:gd name="T16" fmla="*/ 28627 w 113029"/>
                <a:gd name="T17" fmla="*/ 81065 h 94614"/>
                <a:gd name="T18" fmla="*/ 27216 w 113029"/>
                <a:gd name="T19" fmla="*/ 94134 h 94614"/>
                <a:gd name="T20" fmla="*/ 28627 w 113029"/>
                <a:gd name="T21" fmla="*/ 92823 h 946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029" h="94614">
                  <a:moveTo>
                    <a:pt x="112560" y="14872"/>
                  </a:moveTo>
                  <a:lnTo>
                    <a:pt x="0" y="0"/>
                  </a:lnTo>
                  <a:lnTo>
                    <a:pt x="7780" y="9591"/>
                  </a:lnTo>
                  <a:lnTo>
                    <a:pt x="14434" y="20052"/>
                  </a:lnTo>
                  <a:lnTo>
                    <a:pt x="28539" y="68106"/>
                  </a:lnTo>
                  <a:lnTo>
                    <a:pt x="28627" y="92809"/>
                  </a:lnTo>
                  <a:lnTo>
                    <a:pt x="112560" y="14872"/>
                  </a:lnTo>
                  <a:close/>
                </a:path>
                <a:path w="113029" h="94614">
                  <a:moveTo>
                    <a:pt x="28627" y="92809"/>
                  </a:moveTo>
                  <a:lnTo>
                    <a:pt x="28627" y="81051"/>
                  </a:lnTo>
                  <a:lnTo>
                    <a:pt x="27216" y="94120"/>
                  </a:lnTo>
                  <a:lnTo>
                    <a:pt x="28627" y="928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75" name="object 75">
              <a:extLst>
                <a:ext uri="{FF2B5EF4-FFF2-40B4-BE49-F238E27FC236}">
                  <a16:creationId xmlns:a16="http://schemas.microsoft.com/office/drawing/2014/main" id="{D12BFA45-E59B-77D3-78C3-0A4CCBFDE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977" y="3621025"/>
              <a:ext cx="993647" cy="268223"/>
            </a:xfrm>
            <a:prstGeom prst="rect">
              <a:avLst/>
            </a:prstGeom>
            <a:blipFill dpi="0" rotWithShape="1">
              <a:blip r:embed="rId39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76" name="object 76">
              <a:extLst>
                <a:ext uri="{FF2B5EF4-FFF2-40B4-BE49-F238E27FC236}">
                  <a16:creationId xmlns:a16="http://schemas.microsoft.com/office/drawing/2014/main" id="{1139064C-AD46-85E3-3734-8618D99B2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353" y="3584447"/>
              <a:ext cx="905510" cy="207645"/>
            </a:xfrm>
            <a:custGeom>
              <a:avLst/>
              <a:gdLst>
                <a:gd name="T0" fmla="*/ 0 w 905510"/>
                <a:gd name="T1" fmla="*/ 0 h 207645"/>
                <a:gd name="T2" fmla="*/ 905255 w 905510"/>
                <a:gd name="T3" fmla="*/ 207263 h 2076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5510" h="207645">
                  <a:moveTo>
                    <a:pt x="0" y="0"/>
                  </a:moveTo>
                  <a:lnTo>
                    <a:pt x="905255" y="207263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77" name="object 77">
              <a:extLst>
                <a:ext uri="{FF2B5EF4-FFF2-40B4-BE49-F238E27FC236}">
                  <a16:creationId xmlns:a16="http://schemas.microsoft.com/office/drawing/2014/main" id="{28CD2470-6525-9033-0CFC-7E57D3BE2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0033" y="3736847"/>
              <a:ext cx="116205" cy="100965"/>
            </a:xfrm>
            <a:custGeom>
              <a:avLst/>
              <a:gdLst>
                <a:gd name="T0" fmla="*/ 27745 w 116204"/>
                <a:gd name="T1" fmla="*/ 94026 h 100964"/>
                <a:gd name="T2" fmla="*/ 27745 w 116204"/>
                <a:gd name="T3" fmla="*/ 32949 h 100964"/>
                <a:gd name="T4" fmla="*/ 26473 w 116204"/>
                <a:gd name="T5" fmla="*/ 45284 h 100964"/>
                <a:gd name="T6" fmla="*/ 23821 w 116204"/>
                <a:gd name="T7" fmla="*/ 57324 h 100964"/>
                <a:gd name="T8" fmla="*/ 19819 w 116204"/>
                <a:gd name="T9" fmla="*/ 68953 h 100964"/>
                <a:gd name="T10" fmla="*/ 14496 w 116204"/>
                <a:gd name="T11" fmla="*/ 80099 h 100964"/>
                <a:gd name="T12" fmla="*/ 7880 w 116204"/>
                <a:gd name="T13" fmla="*/ 90676 h 100964"/>
                <a:gd name="T14" fmla="*/ 0 w 116204"/>
                <a:gd name="T15" fmla="*/ 100597 h 100964"/>
                <a:gd name="T16" fmla="*/ 27745 w 116204"/>
                <a:gd name="T17" fmla="*/ 94026 h 100964"/>
                <a:gd name="T18" fmla="*/ 115837 w 116204"/>
                <a:gd name="T19" fmla="*/ 73165 h 100964"/>
                <a:gd name="T20" fmla="*/ 24383 w 116204"/>
                <a:gd name="T21" fmla="*/ 0 h 100964"/>
                <a:gd name="T22" fmla="*/ 26038 w 116204"/>
                <a:gd name="T23" fmla="*/ 7690 h 100964"/>
                <a:gd name="T24" fmla="*/ 27610 w 116204"/>
                <a:gd name="T25" fmla="*/ 20389 h 100964"/>
                <a:gd name="T26" fmla="*/ 27745 w 116204"/>
                <a:gd name="T27" fmla="*/ 32949 h 100964"/>
                <a:gd name="T28" fmla="*/ 27745 w 116204"/>
                <a:gd name="T29" fmla="*/ 94026 h 100964"/>
                <a:gd name="T30" fmla="*/ 115837 w 116204"/>
                <a:gd name="T31" fmla="*/ 73165 h 1009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6204" h="100964">
                  <a:moveTo>
                    <a:pt x="27745" y="94012"/>
                  </a:moveTo>
                  <a:lnTo>
                    <a:pt x="27745" y="32949"/>
                  </a:lnTo>
                  <a:lnTo>
                    <a:pt x="26473" y="45284"/>
                  </a:lnTo>
                  <a:lnTo>
                    <a:pt x="23821" y="57310"/>
                  </a:lnTo>
                  <a:lnTo>
                    <a:pt x="19819" y="68939"/>
                  </a:lnTo>
                  <a:lnTo>
                    <a:pt x="14496" y="80085"/>
                  </a:lnTo>
                  <a:lnTo>
                    <a:pt x="7880" y="90662"/>
                  </a:lnTo>
                  <a:lnTo>
                    <a:pt x="0" y="100583"/>
                  </a:lnTo>
                  <a:lnTo>
                    <a:pt x="27745" y="94012"/>
                  </a:lnTo>
                  <a:close/>
                </a:path>
                <a:path w="116204" h="100964">
                  <a:moveTo>
                    <a:pt x="115823" y="73151"/>
                  </a:moveTo>
                  <a:lnTo>
                    <a:pt x="24383" y="0"/>
                  </a:lnTo>
                  <a:lnTo>
                    <a:pt x="26038" y="7690"/>
                  </a:lnTo>
                  <a:lnTo>
                    <a:pt x="27610" y="20389"/>
                  </a:lnTo>
                  <a:lnTo>
                    <a:pt x="27745" y="32949"/>
                  </a:lnTo>
                  <a:lnTo>
                    <a:pt x="27745" y="94012"/>
                  </a:lnTo>
                  <a:lnTo>
                    <a:pt x="115823" y="731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78" name="object 78">
              <a:extLst>
                <a:ext uri="{FF2B5EF4-FFF2-40B4-BE49-F238E27FC236}">
                  <a16:creationId xmlns:a16="http://schemas.microsoft.com/office/drawing/2014/main" id="{8BDFE470-A7F2-0403-1C67-732FAB995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929" y="3621023"/>
              <a:ext cx="996695" cy="792479"/>
            </a:xfrm>
            <a:prstGeom prst="rect">
              <a:avLst/>
            </a:prstGeom>
            <a:blipFill dpi="0" rotWithShape="1">
              <a:blip r:embed="rId40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Helvetica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17479" name="object 79">
              <a:extLst>
                <a:ext uri="{FF2B5EF4-FFF2-40B4-BE49-F238E27FC236}">
                  <a16:creationId xmlns:a16="http://schemas.microsoft.com/office/drawing/2014/main" id="{B80846BB-5D98-E25C-D40C-CFDD94893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351" y="3584447"/>
              <a:ext cx="920750" cy="731520"/>
            </a:xfrm>
            <a:custGeom>
              <a:avLst/>
              <a:gdLst>
                <a:gd name="T0" fmla="*/ 0 w 920750"/>
                <a:gd name="T1" fmla="*/ 0 h 731520"/>
                <a:gd name="T2" fmla="*/ 920495 w 920750"/>
                <a:gd name="T3" fmla="*/ 731519 h 7315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0750" h="731520">
                  <a:moveTo>
                    <a:pt x="0" y="0"/>
                  </a:moveTo>
                  <a:lnTo>
                    <a:pt x="920495" y="731519"/>
                  </a:lnTo>
                </a:path>
              </a:pathLst>
            </a:custGeom>
            <a:noFill/>
            <a:ln w="2417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80" name="object 80">
              <a:extLst>
                <a:ext uri="{FF2B5EF4-FFF2-40B4-BE49-F238E27FC236}">
                  <a16:creationId xmlns:a16="http://schemas.microsoft.com/office/drawing/2014/main" id="{D027E1DC-1D43-F7E2-133B-C1E8DEF44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0033" y="4258055"/>
              <a:ext cx="116205" cy="106680"/>
            </a:xfrm>
            <a:custGeom>
              <a:avLst/>
              <a:gdLst>
                <a:gd name="T0" fmla="*/ 115837 w 116204"/>
                <a:gd name="T1" fmla="*/ 106693 h 106679"/>
                <a:gd name="T2" fmla="*/ 64021 w 116204"/>
                <a:gd name="T3" fmla="*/ 0 h 106679"/>
                <a:gd name="T4" fmla="*/ 63520 w 116204"/>
                <a:gd name="T5" fmla="*/ 2785 h 106679"/>
                <a:gd name="T6" fmla="*/ 60166 w 116204"/>
                <a:gd name="T7" fmla="*/ 15737 h 106679"/>
                <a:gd name="T8" fmla="*/ 41439 w 116204"/>
                <a:gd name="T9" fmla="*/ 50221 h 106679"/>
                <a:gd name="T10" fmla="*/ 11828 w 116204"/>
                <a:gd name="T11" fmla="*/ 76078 h 106679"/>
                <a:gd name="T12" fmla="*/ 0 w 116204"/>
                <a:gd name="T13" fmla="*/ 82309 h 106679"/>
                <a:gd name="T14" fmla="*/ 115837 w 116204"/>
                <a:gd name="T15" fmla="*/ 106693 h 1066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204" h="106679">
                  <a:moveTo>
                    <a:pt x="115823" y="106679"/>
                  </a:moveTo>
                  <a:lnTo>
                    <a:pt x="64007" y="0"/>
                  </a:lnTo>
                  <a:lnTo>
                    <a:pt x="63506" y="2785"/>
                  </a:lnTo>
                  <a:lnTo>
                    <a:pt x="60152" y="15737"/>
                  </a:lnTo>
                  <a:lnTo>
                    <a:pt x="41439" y="50221"/>
                  </a:lnTo>
                  <a:lnTo>
                    <a:pt x="11828" y="76064"/>
                  </a:lnTo>
                  <a:lnTo>
                    <a:pt x="0" y="82295"/>
                  </a:lnTo>
                  <a:lnTo>
                    <a:pt x="115823" y="1066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E8EB7992-963D-0E8F-5F8A-7DEED7EC23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F0EADCB-34C9-113E-9E26-A0C0BD0FB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Chương trình dịch của Java</a:t>
            </a:r>
          </a:p>
        </p:txBody>
      </p:sp>
      <p:pic>
        <p:nvPicPr>
          <p:cNvPr id="20484" name="Picture 54" descr="Compilation -n Java">
            <a:extLst>
              <a:ext uri="{FF2B5EF4-FFF2-40B4-BE49-F238E27FC236}">
                <a16:creationId xmlns:a16="http://schemas.microsoft.com/office/drawing/2014/main" id="{BDED6CD7-2FB0-3A13-072D-43A122592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5867400" cy="353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6690" name="Group 82">
            <a:extLst>
              <a:ext uri="{FF2B5EF4-FFF2-40B4-BE49-F238E27FC236}">
                <a16:creationId xmlns:a16="http://schemas.microsoft.com/office/drawing/2014/main" id="{6257D559-53BA-354B-B175-61FDA6DA50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234469"/>
              </p:ext>
            </p:extLst>
          </p:nvPr>
        </p:nvGraphicFramePr>
        <p:xfrm>
          <a:off x="419100" y="3862387"/>
          <a:ext cx="7162800" cy="2538413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Công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việc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Công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cụ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Kết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quả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Soạn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 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Text editor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*.java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Biên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dịch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 compiler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(javac.exe)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*.class (bytecode)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Chạy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chương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trình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 Interpreter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(java.exe)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!!!!!!!!!!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07" name="AutoShape 85">
            <a:extLst>
              <a:ext uri="{FF2B5EF4-FFF2-40B4-BE49-F238E27FC236}">
                <a16:creationId xmlns:a16="http://schemas.microsoft.com/office/drawing/2014/main" id="{6612BA0C-3978-C9E3-9B54-28065F1F9FC7}"/>
              </a:ext>
            </a:extLst>
          </p:cNvPr>
          <p:cNvSpPr>
            <a:spLocks/>
          </p:cNvSpPr>
          <p:nvPr/>
        </p:nvSpPr>
        <p:spPr bwMode="auto">
          <a:xfrm>
            <a:off x="609600" y="3086100"/>
            <a:ext cx="914400" cy="419100"/>
          </a:xfrm>
          <a:prstGeom prst="borderCallout2">
            <a:avLst>
              <a:gd name="adj1" fmla="val 27273"/>
              <a:gd name="adj2" fmla="val -8333"/>
              <a:gd name="adj3" fmla="val 27273"/>
              <a:gd name="adj4" fmla="val -8333"/>
              <a:gd name="adj5" fmla="val -154546"/>
              <a:gd name="adj6" fmla="val -8333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*.java</a:t>
            </a:r>
          </a:p>
        </p:txBody>
      </p:sp>
      <p:sp>
        <p:nvSpPr>
          <p:cNvPr id="20508" name="AutoShape 86">
            <a:extLst>
              <a:ext uri="{FF2B5EF4-FFF2-40B4-BE49-F238E27FC236}">
                <a16:creationId xmlns:a16="http://schemas.microsoft.com/office/drawing/2014/main" id="{4A727C0B-0489-4DD9-7CB5-D11D7FB6AB61}"/>
              </a:ext>
            </a:extLst>
          </p:cNvPr>
          <p:cNvSpPr>
            <a:spLocks/>
          </p:cNvSpPr>
          <p:nvPr/>
        </p:nvSpPr>
        <p:spPr bwMode="auto">
          <a:xfrm>
            <a:off x="3276600" y="3200400"/>
            <a:ext cx="914400" cy="419100"/>
          </a:xfrm>
          <a:prstGeom prst="borderCallout2">
            <a:avLst>
              <a:gd name="adj1" fmla="val 27273"/>
              <a:gd name="adj2" fmla="val -8333"/>
              <a:gd name="adj3" fmla="val 27273"/>
              <a:gd name="adj4" fmla="val -8333"/>
              <a:gd name="adj5" fmla="val -154546"/>
              <a:gd name="adj6" fmla="val -8333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*.class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6F07-5142-B160-1E9E-A2ABC4FB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Các dạng ứng dụng của Java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7769-992D-B64B-CB91-7B7986E9A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dirty="0"/>
              <a:t>J2SE: Desktop Application</a:t>
            </a:r>
          </a:p>
          <a:p>
            <a:pPr marL="799979" lvl="1" indent="-342900">
              <a:buFont typeface="Arial" pitchFamily="34" charset="0"/>
              <a:buChar char="•"/>
              <a:defRPr/>
            </a:pPr>
            <a:r>
              <a:rPr lang="en-US" dirty="0"/>
              <a:t>Java Application: 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desktop</a:t>
            </a:r>
          </a:p>
          <a:p>
            <a:pPr marL="1257058" lvl="2" indent="-342900">
              <a:buFont typeface="Arial" pitchFamily="34" charset="0"/>
              <a:buChar char="•"/>
              <a:defRPr/>
            </a:pPr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GUI</a:t>
            </a:r>
          </a:p>
          <a:p>
            <a:pPr marL="1257058" lvl="2" indent="-342900">
              <a:buFont typeface="Arial" pitchFamily="34" charset="0"/>
              <a:buChar char="•"/>
              <a:defRPr/>
            </a:pP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main</a:t>
            </a:r>
          </a:p>
          <a:p>
            <a:pPr marL="799979" lvl="1" indent="-342900">
              <a:buFont typeface="Arial" pitchFamily="34" charset="0"/>
              <a:buChar char="•"/>
              <a:defRPr/>
            </a:pPr>
            <a:r>
              <a:rPr lang="en-US" dirty="0"/>
              <a:t>Java Applet: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nhúng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Web</a:t>
            </a:r>
          </a:p>
          <a:p>
            <a:pPr marL="1257058" lvl="2" indent="-342900">
              <a:buFont typeface="Arial" pitchFamily="34" charset="0"/>
              <a:buChar char="•"/>
              <a:defRPr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diên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endParaRPr lang="en-US" dirty="0"/>
          </a:p>
          <a:p>
            <a:pPr marL="1257058" lvl="2" indent="-342900">
              <a:buFont typeface="Arial" pitchFamily="34" charset="0"/>
              <a:buChar char="•"/>
              <a:defRPr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client</a:t>
            </a:r>
            <a:endParaRPr lang="en-GB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dirty="0"/>
              <a:t>J2EE server </a:t>
            </a:r>
            <a:r>
              <a:rPr lang="en-US" dirty="0" err="1"/>
              <a:t>Apllication</a:t>
            </a:r>
            <a:endParaRPr lang="en-US" dirty="0"/>
          </a:p>
          <a:p>
            <a:pPr marL="799979" lvl="1" indent="-342900">
              <a:buFont typeface="Arial" pitchFamily="34" charset="0"/>
              <a:buChar char="•"/>
              <a:defRPr/>
            </a:pPr>
            <a:r>
              <a:rPr lang="en-US" dirty="0"/>
              <a:t>Java 2 Platform enterprise edition</a:t>
            </a:r>
          </a:p>
          <a:p>
            <a:pPr marL="799979" lvl="1" indent="-342900">
              <a:buFont typeface="Arial" pitchFamily="34" charset="0"/>
              <a:buChar char="•"/>
              <a:defRPr/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server, </a:t>
            </a:r>
            <a:r>
              <a:rPr lang="en-US" dirty="0" err="1"/>
              <a:t>hổ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: servlet, </a:t>
            </a:r>
            <a:r>
              <a:rPr lang="en-US" dirty="0" err="1"/>
              <a:t>jsp</a:t>
            </a:r>
            <a:r>
              <a:rPr lang="en-US" dirty="0"/>
              <a:t>, XML….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dirty="0"/>
              <a:t>J2ME: Mobile</a:t>
            </a:r>
          </a:p>
          <a:p>
            <a:pPr marL="799979" lvl="1" indent="-342900">
              <a:buFont typeface="Arial" pitchFamily="34" charset="0"/>
              <a:buChar char="•"/>
              <a:defRPr/>
            </a:pPr>
            <a:r>
              <a:rPr lang="en-US" dirty="0"/>
              <a:t>Java 2 Platform Micro </a:t>
            </a:r>
            <a:r>
              <a:rPr lang="en-US" dirty="0" err="1"/>
              <a:t>Edittion</a:t>
            </a:r>
            <a:endParaRPr lang="en-US" dirty="0"/>
          </a:p>
          <a:p>
            <a:pPr>
              <a:defRPr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9C742-183E-29FF-A2D6-FF2529031C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84E1C-605E-C5A1-15F9-5CD5533A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Một số công cụ phát triển</a:t>
            </a:r>
            <a:endParaRPr lang="en-GB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7483FAE3-94C3-4CA3-E71B-7859088DD7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/>
              <a:t>Giúp</a:t>
            </a:r>
            <a:r>
              <a:rPr lang="en-US" altLang="en-US" dirty="0"/>
              <a:t>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triển</a:t>
            </a:r>
            <a:r>
              <a:rPr lang="en-US" altLang="en-US" dirty="0"/>
              <a:t>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 </a:t>
            </a:r>
            <a:r>
              <a:rPr lang="en-US" altLang="en-US" dirty="0" err="1"/>
              <a:t>chóng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/>
              <a:t>Đơn</a:t>
            </a:r>
            <a:r>
              <a:rPr lang="en-US" altLang="en-US" dirty="0"/>
              <a:t> </a:t>
            </a:r>
            <a:r>
              <a:rPr lang="en-US" altLang="en-US" dirty="0" err="1"/>
              <a:t>giản</a:t>
            </a:r>
            <a:r>
              <a:rPr lang="en-US" altLang="en-US" dirty="0"/>
              <a:t> </a:t>
            </a:r>
            <a:r>
              <a:rPr lang="en-US" altLang="en-US" dirty="0" err="1"/>
              <a:t>hóa</a:t>
            </a:r>
            <a:r>
              <a:rPr lang="en-US" altLang="en-US" dirty="0"/>
              <a:t> </a:t>
            </a:r>
            <a:r>
              <a:rPr lang="en-US" altLang="en-US" dirty="0" err="1"/>
              <a:t>quá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triển</a:t>
            </a:r>
            <a:r>
              <a:rPr lang="en-US" altLang="en-US" dirty="0"/>
              <a:t> </a:t>
            </a:r>
            <a:r>
              <a:rPr lang="en-US" altLang="en-US" dirty="0" err="1"/>
              <a:t>phần</a:t>
            </a:r>
            <a:r>
              <a:rPr lang="en-US" altLang="en-US" dirty="0"/>
              <a:t> </a:t>
            </a:r>
            <a:r>
              <a:rPr lang="en-US" altLang="en-US" dirty="0" err="1"/>
              <a:t>mềm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IDE:</a:t>
            </a:r>
          </a:p>
          <a:p>
            <a:pPr lvl="1"/>
            <a:r>
              <a:rPr lang="en-GB" altLang="en-US" dirty="0">
                <a:highlight>
                  <a:srgbClr val="FFFF00"/>
                </a:highlight>
              </a:rPr>
              <a:t>Eclipse IDE </a:t>
            </a:r>
          </a:p>
          <a:p>
            <a:pPr lvl="1"/>
            <a:r>
              <a:rPr lang="en-GB" altLang="en-US" dirty="0"/>
              <a:t>Apache </a:t>
            </a:r>
            <a:r>
              <a:rPr lang="en-GB" altLang="en-US" dirty="0" err="1"/>
              <a:t>NetBean</a:t>
            </a:r>
            <a:r>
              <a:rPr lang="en-GB" altLang="en-US" dirty="0"/>
              <a:t> IDE</a:t>
            </a:r>
          </a:p>
          <a:p>
            <a:pPr lvl="1"/>
            <a:r>
              <a:rPr lang="vi-VN" altLang="en-US" dirty="0"/>
              <a:t>IntelIj</a:t>
            </a:r>
            <a:endParaRPr lang="en-GB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D53F7-FD91-DB23-BD2F-4D291AB2D1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D2D22-7177-0ED8-7B09-7178DA7677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95332EA-3531-BC0F-82BB-026F29BA7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JDK Versions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C8F6FD7-B38C-E583-4A87-A8C069E06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62000"/>
            <a:ext cx="8763000" cy="5486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 err="1"/>
              <a:t>Mội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trường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phát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triển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thực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thi</a:t>
            </a:r>
            <a:r>
              <a:rPr lang="en-US" altLang="en-US" sz="2000" dirty="0"/>
              <a:t> do Oracle </a:t>
            </a:r>
            <a:r>
              <a:rPr lang="en-US" altLang="en-US" sz="2000" dirty="0" err="1"/>
              <a:t>cung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cấp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GB" altLang="en-US" sz="2000" dirty="0">
                <a:hlinkClick r:id="rId2"/>
              </a:rPr>
              <a:t>www.oracle.com/technetwork/java/javase/downloads/</a:t>
            </a:r>
            <a:endParaRPr lang="en-GB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Bao </a:t>
            </a:r>
            <a:r>
              <a:rPr lang="en-US" altLang="en-US" sz="2000" dirty="0" err="1"/>
              <a:t>gồm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mềm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công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cụ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giúp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biên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dịch</a:t>
            </a:r>
            <a:r>
              <a:rPr lang="en-US" altLang="en-US" sz="2000" dirty="0"/>
              <a:t>, debug, execute….</a:t>
            </a:r>
            <a:endParaRPr lang="en-US" altLang="en-US" sz="21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JDK 1.02 (1995)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JDK 1.1 (1996)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JDK 1.2 (1998)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JDK 1.3 (2000)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JDK 1.4 (2002)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b="1" dirty="0">
                <a:solidFill>
                  <a:srgbClr val="FF0000"/>
                </a:solidFill>
              </a:rPr>
              <a:t>JDK 1.5 (2004) a. k. a. JDK 5 </a:t>
            </a:r>
            <a:r>
              <a:rPr lang="en-US" altLang="en-US" sz="2100" b="1" dirty="0" err="1">
                <a:solidFill>
                  <a:srgbClr val="FF0000"/>
                </a:solidFill>
              </a:rPr>
              <a:t>hoặc</a:t>
            </a:r>
            <a:r>
              <a:rPr lang="en-US" altLang="en-US" sz="2100" b="1" dirty="0">
                <a:solidFill>
                  <a:srgbClr val="FF0000"/>
                </a:solidFill>
              </a:rPr>
              <a:t> Java 5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b="1" dirty="0"/>
              <a:t>Java 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b="1" dirty="0"/>
              <a:t>Java 7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b="1" dirty="0"/>
              <a:t>Java 8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b="1" dirty="0">
                <a:solidFill>
                  <a:srgbClr val="FF0000"/>
                </a:solidFill>
              </a:rPr>
              <a:t>Java 17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 b="1" dirty="0"/>
              <a:t>Java 21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116A347E-0FA8-6737-2554-0BEE2AEFE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JDK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054EB-F8A0-8131-86E0-4C55684C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/>
              <a:t>javac: biên dịch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/>
              <a:t>java: thông dịch, thực thi chương trình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/>
              <a:t>appletviewer: thực thi java applet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/>
              <a:t>javadoc tạo tài liệu từ mã nguồn và chú thích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/>
              <a:t>jdb: gở lỗi (degug)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/>
              <a:t>javap: biên dịch ngược</a:t>
            </a:r>
          </a:p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1AC0D-27D5-C78D-470B-AD7A34F6E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D5FC0-CC82-8EBB-C6CC-F0719AF3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Chương trình java đầu tiên</a:t>
            </a:r>
            <a:endParaRPr lang="en-GB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43ED685-22FB-627F-930B-23F7B2029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Ví dụ 1: HelloWorlk.java</a:t>
            </a: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EE822-C840-DCF7-E78E-9BD73CC2B7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0D7B6E-06DF-C11E-9D57-12B61AAA847D}"/>
              </a:ext>
            </a:extLst>
          </p:cNvPr>
          <p:cNvSpPr/>
          <p:nvPr/>
        </p:nvSpPr>
        <p:spPr bwMode="auto">
          <a:xfrm>
            <a:off x="685800" y="2133600"/>
            <a:ext cx="6477000" cy="29241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latin typeface="Helvetica" pitchFamily="34" charset="0"/>
                <a:cs typeface="Times New Roman" pitchFamily="18" charset="0"/>
              </a:rPr>
              <a:t>public class HelloWorlk</a:t>
            </a:r>
          </a:p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latin typeface="Helvetica" pitchFamily="34" charset="0"/>
                <a:cs typeface="Times New Roman" pitchFamily="18" charset="0"/>
              </a:rPr>
              <a:t>{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	</a:t>
            </a:r>
          </a:p>
          <a:p>
            <a:pPr>
              <a:spcBef>
                <a:spcPct val="50000"/>
              </a:spcBef>
              <a:defRPr/>
            </a:pPr>
            <a:endParaRPr lang="en-US"/>
          </a:p>
          <a:p>
            <a:pPr>
              <a:spcBef>
                <a:spcPct val="50000"/>
              </a:spcBef>
              <a:defRPr/>
            </a:pPr>
            <a:r>
              <a:rPr lang="en-US"/>
              <a:t>	public static void main(String[] avgs){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		System.out.println(“Hello Worlk”);</a:t>
            </a:r>
          </a:p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rPr>
              <a:t>	}//end phương thức</a:t>
            </a:r>
          </a:p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</a:rPr>
              <a:t>}/</a:t>
            </a:r>
            <a:r>
              <a:rPr lang="en-US"/>
              <a:t>/end class</a:t>
            </a:r>
            <a:endParaRPr lang="en-GB">
              <a:solidFill>
                <a:schemeClr val="tx1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659D7-6196-F6C8-4D18-C21475340187}"/>
              </a:ext>
            </a:extLst>
          </p:cNvPr>
          <p:cNvSpPr/>
          <p:nvPr/>
        </p:nvSpPr>
        <p:spPr bwMode="auto">
          <a:xfrm>
            <a:off x="3429000" y="1497013"/>
            <a:ext cx="3505200" cy="338137"/>
          </a:xfrm>
          <a:prstGeom prst="rect">
            <a:avLst/>
          </a:prstGeom>
          <a:solidFill>
            <a:srgbClr val="EBFBFF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/>
              <a:t>Định nghĩa class tên HelloWorlk</a:t>
            </a:r>
            <a:endParaRPr lang="en-GB">
              <a:solidFill>
                <a:schemeClr val="tx1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9C220-CB64-8400-6621-7035F1EBFEE9}"/>
              </a:ext>
            </a:extLst>
          </p:cNvPr>
          <p:cNvSpPr/>
          <p:nvPr/>
        </p:nvSpPr>
        <p:spPr bwMode="auto">
          <a:xfrm>
            <a:off x="1981200" y="2522538"/>
            <a:ext cx="3505200" cy="339725"/>
          </a:xfrm>
          <a:prstGeom prst="rect">
            <a:avLst/>
          </a:prstGeom>
          <a:solidFill>
            <a:srgbClr val="EBFBFF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/>
              <a:t>Bắt đầu khối lệnh</a:t>
            </a:r>
            <a:endParaRPr lang="en-GB">
              <a:solidFill>
                <a:schemeClr val="tx1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A79B5-2804-E9DA-733B-40C69FF46F4B}"/>
              </a:ext>
            </a:extLst>
          </p:cNvPr>
          <p:cNvSpPr/>
          <p:nvPr/>
        </p:nvSpPr>
        <p:spPr bwMode="auto">
          <a:xfrm>
            <a:off x="1360488" y="5284788"/>
            <a:ext cx="3505200" cy="339725"/>
          </a:xfrm>
          <a:prstGeom prst="rect">
            <a:avLst/>
          </a:prstGeom>
          <a:solidFill>
            <a:srgbClr val="EBFBFF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/>
              <a:t>Kết thúc khối lệnh</a:t>
            </a:r>
            <a:endParaRPr lang="en-GB">
              <a:solidFill>
                <a:schemeClr val="tx1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A9C3CC-6BFF-5092-914E-16B23F29CF85}"/>
              </a:ext>
            </a:extLst>
          </p:cNvPr>
          <p:cNvSpPr/>
          <p:nvPr/>
        </p:nvSpPr>
        <p:spPr bwMode="auto">
          <a:xfrm>
            <a:off x="4876800" y="3048000"/>
            <a:ext cx="3505200" cy="338138"/>
          </a:xfrm>
          <a:prstGeom prst="rect">
            <a:avLst/>
          </a:prstGeom>
          <a:solidFill>
            <a:srgbClr val="EBFBFF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/>
              <a:t>Phương thức main</a:t>
            </a:r>
            <a:endParaRPr lang="en-GB">
              <a:solidFill>
                <a:schemeClr val="tx1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F7BE6C-D285-DFAF-5365-50CB3776BE88}"/>
              </a:ext>
            </a:extLst>
          </p:cNvPr>
          <p:cNvSpPr/>
          <p:nvPr/>
        </p:nvSpPr>
        <p:spPr bwMode="auto">
          <a:xfrm>
            <a:off x="5181600" y="4343400"/>
            <a:ext cx="3505200" cy="338138"/>
          </a:xfrm>
          <a:prstGeom prst="rect">
            <a:avLst/>
          </a:prstGeom>
          <a:solidFill>
            <a:srgbClr val="EBFBFF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/>
              <a:t>Xuất ra console thông báo</a:t>
            </a:r>
            <a:endParaRPr lang="en-GB">
              <a:solidFill>
                <a:schemeClr val="tx1"/>
              </a:solidFill>
              <a:latin typeface="Helvetica" pitchFamily="34" charset="0"/>
              <a:cs typeface="Times New Roman" pitchFamily="18" charset="0"/>
            </a:endParaRPr>
          </a:p>
        </p:txBody>
      </p:sp>
      <p:cxnSp>
        <p:nvCxnSpPr>
          <p:cNvPr id="26635" name="Elbow Connector 11">
            <a:extLst>
              <a:ext uri="{FF2B5EF4-FFF2-40B4-BE49-F238E27FC236}">
                <a16:creationId xmlns:a16="http://schemas.microsoft.com/office/drawing/2014/main" id="{259CE7C5-B28F-3192-DC1F-F111B06E7AE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28937" y="1709738"/>
            <a:ext cx="542925" cy="45720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6" name="Straight Arrow Connector 15">
            <a:extLst>
              <a:ext uri="{FF2B5EF4-FFF2-40B4-BE49-F238E27FC236}">
                <a16:creationId xmlns:a16="http://schemas.microsoft.com/office/drawing/2014/main" id="{2248766A-A027-3D31-2544-F3A6932155E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8200" y="2692400"/>
            <a:ext cx="1143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7" name="Straight Arrow Connector 17">
            <a:extLst>
              <a:ext uri="{FF2B5EF4-FFF2-40B4-BE49-F238E27FC236}">
                <a16:creationId xmlns:a16="http://schemas.microsoft.com/office/drawing/2014/main" id="{1A4104FA-2129-CD41-66F2-E207A8AC206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8200" y="4876800"/>
            <a:ext cx="522288" cy="5778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8" name="Straight Arrow Connector 19">
            <a:extLst>
              <a:ext uri="{FF2B5EF4-FFF2-40B4-BE49-F238E27FC236}">
                <a16:creationId xmlns:a16="http://schemas.microsoft.com/office/drawing/2014/main" id="{2C0E25F4-83D4-B37A-62BE-83FFDC1028FA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3733800" y="3217863"/>
            <a:ext cx="1143000" cy="3778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9" name="Straight Arrow Connector 21">
            <a:extLst>
              <a:ext uri="{FF2B5EF4-FFF2-40B4-BE49-F238E27FC236}">
                <a16:creationId xmlns:a16="http://schemas.microsoft.com/office/drawing/2014/main" id="{22EC5CA9-0B9A-0911-98E5-DD4237CE374D}"/>
              </a:ext>
            </a:extLst>
          </p:cNvPr>
          <p:cNvCxnSpPr>
            <a:cxnSpLocks noChangeShapeType="1"/>
            <a:stCxn id="10" idx="0"/>
          </p:cNvCxnSpPr>
          <p:nvPr/>
        </p:nvCxnSpPr>
        <p:spPr bwMode="auto">
          <a:xfrm flipH="1" flipV="1">
            <a:off x="5943600" y="4114800"/>
            <a:ext cx="9906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F285-C817-6817-0FA3-888BB6EC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Biên dịch chương trình</a:t>
            </a:r>
            <a:endParaRPr lang="en-GB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6B748CD-3525-3186-254A-E49C42620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Biện dịch chương trình sang mã Bytecode</a:t>
            </a:r>
          </a:p>
          <a:p>
            <a:pPr lvl="1"/>
            <a:r>
              <a:rPr lang="en-US" altLang="en-US" b="1">
                <a:solidFill>
                  <a:srgbClr val="0070C0"/>
                </a:solidFill>
              </a:rPr>
              <a:t>javac</a:t>
            </a:r>
            <a:r>
              <a:rPr lang="en-US" altLang="en-US"/>
              <a:t> HelloWorlk.java</a:t>
            </a:r>
          </a:p>
          <a:p>
            <a:pPr lvl="1"/>
            <a:r>
              <a:rPr lang="en-US" altLang="en-US"/>
              <a:t>Nếu không có lỗi sẽ tạo ra tập tin: HelloWorlk.class</a:t>
            </a:r>
          </a:p>
          <a:p>
            <a:r>
              <a:rPr lang="en-US" altLang="en-US"/>
              <a:t>Thông dịch (chạy chương trình)</a:t>
            </a:r>
          </a:p>
          <a:p>
            <a:pPr lvl="1"/>
            <a:r>
              <a:rPr lang="en-US" altLang="en-US" b="1">
                <a:solidFill>
                  <a:srgbClr val="0070C0"/>
                </a:solidFill>
              </a:rPr>
              <a:t>java</a:t>
            </a:r>
            <a:r>
              <a:rPr lang="en-US" altLang="en-US"/>
              <a:t> HelloWorlk</a:t>
            </a:r>
          </a:p>
          <a:p>
            <a:pPr lvl="1"/>
            <a:r>
              <a:rPr lang="en-US" altLang="en-US"/>
              <a:t>Lưu ý: phải khai báo đường dẫn chỉ tới thư mục thực thi chương trình java và thư mục chứa tập tin .class</a:t>
            </a:r>
          </a:p>
          <a:p>
            <a:pPr lvl="2"/>
            <a:r>
              <a:rPr lang="en-US" altLang="en-US"/>
              <a:t>Set path=…c:\.....\jdk\bin</a:t>
            </a:r>
          </a:p>
          <a:p>
            <a:pPr lvl="2"/>
            <a:r>
              <a:rPr lang="en-US" altLang="en-US"/>
              <a:t>Set classpath=…..</a:t>
            </a:r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E0335-6D6A-3EC4-4EE2-E42209CFFD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5F3B101-CEF7-CA13-D230-5E41C67F1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Bài tập</a:t>
            </a:r>
            <a:endParaRPr lang="en-GB" alt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44269731-D70C-31FD-D583-8A219AC43A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hlinkClick r:id="rId2" action="ppaction://hlinkpres?slideindex=1&amp;slidetitle="/>
              </a:rPr>
              <a:t>Cài đặt công cụ và môi trường</a:t>
            </a:r>
            <a:endParaRPr lang="en-US" altLang="en-US"/>
          </a:p>
          <a:p>
            <a:r>
              <a:rPr lang="en-US" altLang="en-US">
                <a:hlinkClick r:id="rId3" action="ppaction://hlinkpres?slideindex=1&amp;slidetitle="/>
              </a:rPr>
              <a:t>Sử dụng IDE </a:t>
            </a:r>
            <a:r>
              <a:rPr lang="en-US" altLang="en-US"/>
              <a:t>eclipse</a:t>
            </a:r>
            <a:endParaRPr lang="en-GB" altLang="en-US"/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4C86F-54E3-955B-4747-69AA2C05EA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OOP JAVA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Axis">
  <a:themeElements>
    <a:clrScheme name="2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2_Axi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2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4_1  khai bao Classe</Template>
  <TotalTime>6986</TotalTime>
  <Words>1334</Words>
  <Application>Microsoft Office PowerPoint</Application>
  <PresentationFormat>On-screen Show (4:3)</PresentationFormat>
  <Paragraphs>185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Google Sans</vt:lpstr>
      <vt:lpstr>Helvetica</vt:lpstr>
      <vt:lpstr>Tahoma</vt:lpstr>
      <vt:lpstr>Times New Roman</vt:lpstr>
      <vt:lpstr>Wingdings</vt:lpstr>
      <vt:lpstr>2_Axis</vt:lpstr>
      <vt:lpstr>PowerPoint Presentation</vt:lpstr>
      <vt:lpstr>Giới thiệu chung</vt:lpstr>
      <vt:lpstr>Giới thiệu chung</vt:lpstr>
      <vt:lpstr>NỘI DUNG</vt:lpstr>
      <vt:lpstr>Tài liệu tham khảo</vt:lpstr>
      <vt:lpstr>Chương 1</vt:lpstr>
      <vt:lpstr>Nội dung</vt:lpstr>
      <vt:lpstr>Lịch sử phát triển</vt:lpstr>
      <vt:lpstr>Lịch sử phát triển</vt:lpstr>
      <vt:lpstr>Một số đặc tính của Java</vt:lpstr>
      <vt:lpstr>Một số đặc tính của Java</vt:lpstr>
      <vt:lpstr>Chương trình dịch của Java</vt:lpstr>
      <vt:lpstr>Các dạng ứng dụng của Java</vt:lpstr>
      <vt:lpstr>Một số công cụ phát triển</vt:lpstr>
      <vt:lpstr>JDK Versions</vt:lpstr>
      <vt:lpstr>JDK</vt:lpstr>
      <vt:lpstr>Chương trình java đầu tiên</vt:lpstr>
      <vt:lpstr>Biên dịch chương trình</vt:lpstr>
      <vt:lpstr>Bài tập</vt:lpstr>
    </vt:vector>
  </TitlesOfParts>
  <Company>Aptech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</dc:title>
  <dc:creator>rg</dc:creator>
  <cp:lastModifiedBy>ThS.BS. Đỗ Thu Hằng</cp:lastModifiedBy>
  <cp:revision>472</cp:revision>
  <cp:lastPrinted>1601-01-01T00:00:00Z</cp:lastPrinted>
  <dcterms:created xsi:type="dcterms:W3CDTF">2000-10-19T05:36:23Z</dcterms:created>
  <dcterms:modified xsi:type="dcterms:W3CDTF">2025-02-02T05:54:18Z</dcterms:modified>
</cp:coreProperties>
</file>