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5"/>
  </p:notesMasterIdLst>
  <p:sldIdLst>
    <p:sldId id="257" r:id="rId2"/>
    <p:sldId id="258" r:id="rId3"/>
    <p:sldId id="395" r:id="rId4"/>
    <p:sldId id="394" r:id="rId5"/>
    <p:sldId id="366" r:id="rId6"/>
    <p:sldId id="367" r:id="rId7"/>
    <p:sldId id="368" r:id="rId8"/>
    <p:sldId id="369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02" r:id="rId32"/>
    <p:sldId id="318" r:id="rId33"/>
    <p:sldId id="311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 autoAdjust="0"/>
    <p:restoredTop sz="94670" autoAdjust="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F663E6-9CFA-2507-1620-04376359F5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03758EE-70BA-BAB2-D10D-A5E344A3FC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56CF412-7E9C-BB4C-1008-D7D7401856C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8C304F5-CED8-2714-CD6C-FA58A77F4C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8CA0E02-F80D-A7B2-D310-236311E68C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E10772D-D570-997F-C437-C1DF68B22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89DC9DF-BBA8-46DE-9C44-846781B6B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08A50CC-0C63-0133-1B06-662BF92E5C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369D8D1-6EAC-4D6A-90A7-2AE0703BF82B}" type="slidenum">
              <a:rPr lang="en-US" altLang="en-US" sz="12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 sz="12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EA1365E-D379-3D06-D550-0CAC77B9E1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8F97A0D-3CA1-A5D9-67FA-D64FA02BA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F2E274B-4471-ABAD-09EF-1C633BD1DB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B50A717-4768-4535-97BC-898F6E78BFFE}" type="slidenum">
              <a:rPr lang="en-US" altLang="en-US" sz="12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altLang="en-US" sz="12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62C0C22-5FCF-EC8E-DA31-4A081E67FC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AF92D23-A8FC-4CBB-9C0A-D6AA7B7F8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7E74D7-C377-4FD8-287B-8C46E1B8BA76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447800"/>
            <a:ext cx="9144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itchFamily="18" charset="0"/>
              <a:cs typeface="Arial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63D5B3A3-AD46-1F35-4853-A6B86D328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E055C233-A726-D2C5-8E52-8B554E21F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86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E3B8235F-2FAC-1EA0-2252-179B6455F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257800"/>
            <a:ext cx="838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1AFBFDF0-3877-75B8-F0D3-5DDD23B2CB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4648200"/>
            <a:ext cx="1143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6E76B1D-79A4-93F6-EBCD-AB827152C4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F9E04112-550F-9852-9E45-C6279AD15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257800"/>
            <a:ext cx="3048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A3A1B686-2D06-B060-F4B3-D407DF87C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562600"/>
            <a:ext cx="3048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E162C09-A81C-55E2-341C-DD5465072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52578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B8F16683-4F39-02DA-A979-448B95001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257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83453D67-2D4F-D0EB-05C1-0AEBFFE11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715000"/>
            <a:ext cx="60960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2400" b="0">
                <a:latin typeface="Arial" charset="0"/>
                <a:cs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2400" b="0">
                <a:latin typeface="Arial" charset="0"/>
                <a:cs typeface="Arial" charset="0"/>
              </a:rPr>
              <a:t>Khoa Công nghệ Thông tin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DD0FD048-EDA4-E186-D3CC-ED0CC8D03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5486400"/>
            <a:ext cx="2185987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352800"/>
            <a:ext cx="64008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443038"/>
            <a:ext cx="64008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210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2E5CF3D-6F13-BBE4-F498-9D0D4B4BE3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854701-3DCA-D123-EA69-42623CD3EF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BF4CD-800B-4AC4-B722-537A3BF593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79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C28B564-AEEE-46EE-6F31-F8599F3D00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321DDB0-CB36-C873-9DEC-4A8057E8E5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7F5B0-D0E4-4B21-B30F-9D7CC7B78C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52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8FC8CE-EA8B-3A37-6512-0AC451546F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CA56991-D19E-CB34-DDFB-1F2264B513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027AF-B301-4930-A9E8-E8586CAE4D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2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DB7BC8-6E5F-9C2A-4153-BA147BB69E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4230C-1F10-805B-D0D6-FC2B305388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B2BC3-29ED-4056-933A-09BCF7B680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10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916F25A-5E26-5ECE-91FF-BE70CB468E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83C78EF-9474-5B09-1687-D489F6FB5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BCE17-EA7E-4306-B314-D453446C9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C2C858D-56A6-D4C3-A29A-90BE0986F0A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AE9884A-373D-A872-7115-8B360A00C0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F1754-E1E3-472F-905B-251E5AE642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75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BE9D22-8230-E2FE-12E2-C259E856FB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5B28CE1-3165-8ECF-8F75-3FA351F26E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0AE28-448A-4C67-9E6B-4CD4F8E92B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35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23740F-8848-B26F-DAE9-F32017FB23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080FDD9-E222-C874-F833-3F7CD21CF6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0F909-50B3-43CA-96BF-2928947896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264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4A9521-F946-8267-9072-130DF254C5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8F4E891-05AB-7152-BD83-4BF5AB67512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34B1C-7EE5-4F5A-873D-C4410F149C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2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4925"/>
            <a:ext cx="2286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5"/>
            <a:ext cx="67056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B5CC42-27F8-7AD2-E03B-67DF3E0100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4AD857A-19B3-D1DF-0BAD-44EAA36D70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28D54-3D36-4B94-AD63-C2965C817A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948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8001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39243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1100" y="1981200"/>
            <a:ext cx="39243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EB5C-7C41-4C8E-CA06-F0A1B8BC9D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477000"/>
            <a:ext cx="70104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Java Programming: From Problem Analysis to Program Design, Second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1FC58-AAA2-68F0-F893-EB5C5B9A79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72400" y="6477000"/>
            <a:ext cx="12192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8BED5-B8F6-4736-835D-C935DD956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016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8001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39243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91100" y="1981200"/>
            <a:ext cx="39243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91100" y="4114800"/>
            <a:ext cx="39243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4DE12-BC8A-D0AF-CC0E-90767D677A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477000"/>
            <a:ext cx="70104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Java Programming: From Problem Analysis to Program Design, Second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7C9C3-4624-5138-74CE-FC158AD67F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72400" y="6477000"/>
            <a:ext cx="12192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6EFAE-E820-4388-ACC7-9F51A3EAB6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29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5641CAA-1EDB-A694-8643-DFF320975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3">
            <a:extLst>
              <a:ext uri="{FF2B5EF4-FFF2-40B4-BE49-F238E27FC236}">
                <a16:creationId xmlns:a16="http://schemas.microsoft.com/office/drawing/2014/main" id="{6C34EDFD-0FF5-FF3E-CCA4-91A56546A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629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D60665-EEA4-1A60-25BD-72208B985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925"/>
            <a:ext cx="9144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57831D-780D-842F-F74E-86CE63868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430" name="Rectangle 6">
            <a:extLst>
              <a:ext uri="{FF2B5EF4-FFF2-40B4-BE49-F238E27FC236}">
                <a16:creationId xmlns:a16="http://schemas.microsoft.com/office/drawing/2014/main" id="{F24A398F-D582-9598-B153-EC78E18D57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400800"/>
            <a:ext cx="5257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+mn-lt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40D5C557-B9FA-5748-2CC7-8E6FA3B7D5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38900"/>
            <a:ext cx="43815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4ED38B4-C818-4B0A-8877-843F7C84A0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64BD2B07-BF62-4083-8AD0-444CA6959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400800"/>
            <a:ext cx="2667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F5772027-A841-F9B9-399F-62E326D41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A7BA6A46-E108-516C-E5DC-BAD64AF1D8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2484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9630BE26-BD71-C542-1E5F-C77CDDA79C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" y="6248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DEF27C06-187D-F3A3-90F1-8CF1307DC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400800"/>
            <a:ext cx="152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9457DC25-069A-37C5-C6D8-8B117E46A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553200"/>
            <a:ext cx="3276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E396B74B-E4AA-75C8-D9D2-5970AC0836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6400800"/>
            <a:ext cx="2286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34CDA6A3-EBFC-087A-0CE9-A85AB5B4D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6400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B2E6E7EB-87AA-7D25-E4C2-374F76A33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6400800"/>
            <a:ext cx="2597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1200" b="0">
                <a:latin typeface="Arial" charset="0"/>
                <a:cs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1200" b="0">
                <a:latin typeface="Arial" charset="0"/>
                <a:cs typeface="Arial" charset="0"/>
              </a:rPr>
              <a:t>Khoa Công nghệ Thông tin</a:t>
            </a:r>
          </a:p>
        </p:txBody>
      </p:sp>
      <p:pic>
        <p:nvPicPr>
          <p:cNvPr id="1041" name="Picture 17">
            <a:extLst>
              <a:ext uri="{FF2B5EF4-FFF2-40B4-BE49-F238E27FC236}">
                <a16:creationId xmlns:a16="http://schemas.microsoft.com/office/drawing/2014/main" id="{35726F05-2CB0-1B74-8933-6AE6685AA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467475"/>
            <a:ext cx="5857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5" r:id="rId12"/>
    <p:sldLayoutId id="2147483946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../../Case%20study/Chuong%202%20NN%20Java.pptx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A24ED6A-CD0C-0757-0EE9-2F28F76D9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838200"/>
            <a:ext cx="2743200" cy="731838"/>
          </a:xfrm>
        </p:spPr>
        <p:txBody>
          <a:bodyPr/>
          <a:lstStyle/>
          <a:p>
            <a:pPr eaLnBrk="1" hangingPunct="1"/>
            <a:r>
              <a:rPr lang="en-GB" altLang="en-US" b="0">
                <a:latin typeface="Tahoma" panose="020B0604030504040204" pitchFamily="34" charset="0"/>
              </a:rPr>
              <a:t>Chương 2</a:t>
            </a:r>
            <a:endParaRPr lang="en-US" altLang="en-US" b="0">
              <a:latin typeface="Tahoma" panose="020B0604030504040204" pitchFamily="34" charset="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B74E463-AF48-F4B8-69BE-689C780C81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9600" y="1600200"/>
            <a:ext cx="8077200" cy="1371600"/>
          </a:xfrm>
        </p:spPr>
        <p:txBody>
          <a:bodyPr/>
          <a:lstStyle/>
          <a:p>
            <a:pPr eaLnBrk="1" hangingPunct="1"/>
            <a:r>
              <a:rPr lang="en-US" altLang="en-US" sz="4800" b="1"/>
              <a:t>Ngôn Ngữ Java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36453-9CAE-2CCF-670D-E9E98D619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476BEA-4BBD-84BA-7836-44061A20E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Nội dung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9E4D852-D0AB-E005-1C9D-D271C2D03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039" y="678426"/>
            <a:ext cx="7391400" cy="5638800"/>
          </a:xfrm>
        </p:spPr>
        <p:txBody>
          <a:bodyPr/>
          <a:lstStyle/>
          <a:p>
            <a:pPr marL="277495" indent="-264795">
              <a:buFont typeface="Wingdings"/>
              <a:buChar char=""/>
              <a:tabLst>
                <a:tab pos="278130" algn="l"/>
              </a:tabLst>
              <a:defRPr/>
            </a:pPr>
            <a:r>
              <a:rPr lang="en-US" sz="2400" spc="5" dirty="0" err="1">
                <a:cs typeface="Arial"/>
              </a:rPr>
              <a:t>Tổng</a:t>
            </a:r>
            <a:r>
              <a:rPr lang="en-US" sz="2400" spc="5" dirty="0">
                <a:cs typeface="Arial"/>
              </a:rPr>
              <a:t> </a:t>
            </a:r>
            <a:r>
              <a:rPr lang="en-US" sz="2400" spc="5" dirty="0" err="1">
                <a:cs typeface="Arial"/>
              </a:rPr>
              <a:t>quan</a:t>
            </a:r>
            <a:endParaRPr lang="en-US" sz="2400" spc="5" dirty="0">
              <a:cs typeface="Arial"/>
            </a:endParaRPr>
          </a:p>
          <a:p>
            <a:pPr marL="277495" indent="-264795">
              <a:buFont typeface="Wingdings"/>
              <a:buChar char=""/>
              <a:tabLst>
                <a:tab pos="278130" algn="l"/>
              </a:tabLst>
              <a:defRPr/>
            </a:pPr>
            <a:r>
              <a:rPr lang="en-US" sz="2400" spc="5" dirty="0" err="1">
                <a:cs typeface="Arial"/>
              </a:rPr>
              <a:t>Cấu</a:t>
            </a:r>
            <a:r>
              <a:rPr lang="en-US" sz="2400" spc="5" dirty="0">
                <a:cs typeface="Arial"/>
              </a:rPr>
              <a:t> </a:t>
            </a:r>
            <a:r>
              <a:rPr lang="en-US" sz="2400" spc="5" dirty="0" err="1">
                <a:cs typeface="Arial"/>
              </a:rPr>
              <a:t>trúc</a:t>
            </a:r>
            <a:r>
              <a:rPr lang="en-US" sz="2400" spc="5" dirty="0">
                <a:cs typeface="Arial"/>
              </a:rPr>
              <a:t> </a:t>
            </a:r>
            <a:r>
              <a:rPr lang="en-US" sz="2400" spc="5" dirty="0" err="1">
                <a:cs typeface="Arial"/>
              </a:rPr>
              <a:t>chương</a:t>
            </a:r>
            <a:r>
              <a:rPr lang="en-US" sz="2400" spc="5" dirty="0">
                <a:cs typeface="Arial"/>
              </a:rPr>
              <a:t> </a:t>
            </a:r>
            <a:r>
              <a:rPr lang="en-US" sz="2400" spc="5" dirty="0" err="1">
                <a:cs typeface="Arial"/>
              </a:rPr>
              <a:t>trình</a:t>
            </a:r>
            <a:r>
              <a:rPr lang="en-US" sz="2400" spc="5" dirty="0">
                <a:cs typeface="Arial"/>
              </a:rPr>
              <a:t> Java</a:t>
            </a:r>
          </a:p>
          <a:p>
            <a:pPr marL="277495" indent="-264795"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5" dirty="0">
                <a:cs typeface="Arial"/>
              </a:rPr>
              <a:t>B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ế</a:t>
            </a:r>
            <a:r>
              <a:rPr lang="vi-VN" sz="2400" spc="10" dirty="0">
                <a:cs typeface="Arial"/>
              </a:rPr>
              <a:t>n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&amp;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Hằn</a:t>
            </a:r>
            <a:r>
              <a:rPr lang="vi-VN" sz="2400" spc="10" dirty="0">
                <a:cs typeface="Arial"/>
              </a:rPr>
              <a:t>g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0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5" dirty="0">
                <a:cs typeface="Arial"/>
              </a:rPr>
              <a:t>K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ể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d</a:t>
            </a:r>
            <a:r>
              <a:rPr lang="vi-VN" sz="2400" spc="10" dirty="0">
                <a:cs typeface="Arial"/>
              </a:rPr>
              <a:t>ữ</a:t>
            </a:r>
            <a:r>
              <a:rPr lang="vi-VN" sz="2400" spc="5" dirty="0">
                <a:cs typeface="Arial"/>
              </a:rPr>
              <a:t> </a:t>
            </a:r>
            <a:r>
              <a:rPr lang="vi-VN" sz="2400" spc="-10" dirty="0">
                <a:cs typeface="Arial"/>
              </a:rPr>
              <a:t>li</a:t>
            </a:r>
            <a:r>
              <a:rPr lang="vi-VN" sz="2400" dirty="0">
                <a:cs typeface="Arial"/>
              </a:rPr>
              <a:t>ệ</a:t>
            </a:r>
            <a:r>
              <a:rPr lang="vi-VN" sz="2400" spc="10" dirty="0">
                <a:cs typeface="Arial"/>
              </a:rPr>
              <a:t>u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25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-10" dirty="0">
                <a:cs typeface="Arial"/>
              </a:rPr>
              <a:t>T</a:t>
            </a:r>
            <a:r>
              <a:rPr lang="vi-VN" sz="2400" dirty="0">
                <a:cs typeface="Arial"/>
              </a:rPr>
              <a:t>oá</a:t>
            </a:r>
            <a:r>
              <a:rPr lang="vi-VN" sz="2400" spc="10" dirty="0">
                <a:cs typeface="Arial"/>
              </a:rPr>
              <a:t>n</a:t>
            </a:r>
            <a:r>
              <a:rPr lang="vi-VN" sz="240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dirty="0">
                <a:cs typeface="Arial"/>
              </a:rPr>
              <a:t>ử</a:t>
            </a:r>
            <a:r>
              <a:rPr lang="vi-VN" sz="2400" spc="5" dirty="0">
                <a:cs typeface="Arial"/>
              </a:rPr>
              <a:t>,</a:t>
            </a:r>
            <a:r>
              <a:rPr lang="vi-VN" sz="2400" spc="-3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b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ể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dirty="0">
                <a:cs typeface="Arial"/>
              </a:rPr>
              <a:t>hứ</a:t>
            </a:r>
            <a:r>
              <a:rPr lang="vi-VN" sz="2400" spc="5" dirty="0">
                <a:cs typeface="Arial"/>
              </a:rPr>
              <a:t>c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0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dirty="0">
                <a:cs typeface="Arial"/>
              </a:rPr>
              <a:t>Cá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c</a:t>
            </a:r>
            <a:r>
              <a:rPr lang="vi-VN" sz="2400" dirty="0">
                <a:cs typeface="Arial"/>
              </a:rPr>
              <a:t>ấ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spc="5" dirty="0">
                <a:cs typeface="Arial"/>
              </a:rPr>
              <a:t>r</a:t>
            </a:r>
            <a:r>
              <a:rPr lang="vi-VN" sz="2400" dirty="0">
                <a:cs typeface="Arial"/>
              </a:rPr>
              <a:t>ú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đ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ề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dirty="0">
                <a:cs typeface="Arial"/>
              </a:rPr>
              <a:t> </a:t>
            </a:r>
            <a:r>
              <a:rPr lang="vi-VN" sz="2400" spc="25" dirty="0">
                <a:cs typeface="Arial"/>
              </a:rPr>
              <a:t>k</a:t>
            </a:r>
            <a:r>
              <a:rPr lang="vi-VN" sz="2400" dirty="0">
                <a:cs typeface="Arial"/>
              </a:rPr>
              <a:t>h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ể</a:t>
            </a:r>
            <a:r>
              <a:rPr lang="vi-VN" sz="2400" spc="10" dirty="0">
                <a:cs typeface="Arial"/>
              </a:rPr>
              <a:t>n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(c</a:t>
            </a:r>
            <a:r>
              <a:rPr lang="vi-VN" sz="2400" dirty="0">
                <a:cs typeface="Arial"/>
              </a:rPr>
              <a:t>họn</a:t>
            </a:r>
            <a:r>
              <a:rPr lang="vi-VN" sz="2400" spc="5" dirty="0">
                <a:cs typeface="Arial"/>
              </a:rPr>
              <a:t>,</a:t>
            </a:r>
            <a:r>
              <a:rPr lang="vi-VN" sz="2400" spc="-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r</a:t>
            </a:r>
            <a:r>
              <a:rPr lang="vi-VN" sz="2400" spc="10" dirty="0">
                <a:cs typeface="Arial"/>
              </a:rPr>
              <a:t>ẽ</a:t>
            </a:r>
            <a:r>
              <a:rPr lang="vi-VN" sz="2400" dirty="0">
                <a:cs typeface="Arial"/>
              </a:rPr>
              <a:t> nhánh</a:t>
            </a:r>
            <a:r>
              <a:rPr lang="vi-VN" sz="2400" spc="5" dirty="0">
                <a:cs typeface="Arial"/>
              </a:rPr>
              <a:t>,</a:t>
            </a:r>
            <a:r>
              <a:rPr lang="vi-VN" sz="2400" spc="20" dirty="0">
                <a:cs typeface="Arial"/>
              </a:rPr>
              <a:t> </a:t>
            </a:r>
            <a:r>
              <a:rPr lang="vi-VN" sz="2400" spc="-10" dirty="0">
                <a:cs typeface="Arial"/>
              </a:rPr>
              <a:t>l</a:t>
            </a:r>
            <a:r>
              <a:rPr lang="vi-VN" sz="2400" dirty="0">
                <a:cs typeface="Arial"/>
              </a:rPr>
              <a:t>ặp</a:t>
            </a:r>
            <a:r>
              <a:rPr lang="vi-VN" sz="2400" spc="5" dirty="0">
                <a:cs typeface="Arial"/>
              </a:rPr>
              <a:t>)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25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en-US" sz="2400" dirty="0" err="1">
                <a:cs typeface="Arial"/>
              </a:rPr>
              <a:t>Lớp</a:t>
            </a:r>
            <a:r>
              <a:rPr lang="en-US" sz="2400" dirty="0">
                <a:cs typeface="Arial"/>
              </a:rPr>
              <a:t> wrapper</a:t>
            </a:r>
            <a:r>
              <a:rPr lang="en-US" sz="2400" spc="-20" dirty="0">
                <a:cs typeface="Arial"/>
              </a:rPr>
              <a:t>.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0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5" dirty="0">
                <a:cs typeface="Arial"/>
              </a:rPr>
              <a:t>P</a:t>
            </a:r>
            <a:r>
              <a:rPr lang="vi-VN" sz="2400" dirty="0">
                <a:cs typeface="Arial"/>
              </a:rPr>
              <a:t>hư</a:t>
            </a:r>
            <a:r>
              <a:rPr lang="vi-VN" sz="2400" spc="5" dirty="0">
                <a:cs typeface="Arial"/>
              </a:rPr>
              <a:t>ơ</a:t>
            </a:r>
            <a:r>
              <a:rPr lang="vi-VN" sz="2400" dirty="0">
                <a:cs typeface="Arial"/>
              </a:rPr>
              <a:t>n</a:t>
            </a:r>
            <a:r>
              <a:rPr lang="vi-VN" sz="2400" spc="10" dirty="0">
                <a:cs typeface="Arial"/>
              </a:rPr>
              <a:t>g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dirty="0">
                <a:cs typeface="Arial"/>
              </a:rPr>
              <a:t>hứ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và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c</a:t>
            </a:r>
            <a:r>
              <a:rPr lang="vi-VN" sz="2400" dirty="0">
                <a:cs typeface="Arial"/>
              </a:rPr>
              <a:t>á</a:t>
            </a:r>
            <a:r>
              <a:rPr lang="vi-VN" sz="2400" spc="5" dirty="0">
                <a:cs typeface="Arial"/>
              </a:rPr>
              <a:t>ch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s</a:t>
            </a:r>
            <a:r>
              <a:rPr lang="vi-VN" sz="2400" spc="10" dirty="0">
                <a:cs typeface="Arial"/>
              </a:rPr>
              <a:t>ử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dụn</a:t>
            </a:r>
            <a:r>
              <a:rPr lang="vi-VN" sz="2400" spc="10" dirty="0">
                <a:cs typeface="Arial"/>
              </a:rPr>
              <a:t>g</a:t>
            </a:r>
            <a:endParaRPr lang="vi-VN" sz="2400" dirty="0">
              <a:cs typeface="Arial"/>
            </a:endParaRPr>
          </a:p>
          <a:p>
            <a:pPr marL="277495" indent="-264795">
              <a:spcBef>
                <a:spcPts val="925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15" dirty="0">
                <a:cs typeface="Arial"/>
              </a:rPr>
              <a:t>M</a:t>
            </a:r>
            <a:r>
              <a:rPr lang="vi-VN" sz="2400" dirty="0">
                <a:cs typeface="Arial"/>
              </a:rPr>
              <a:t>ộ</a:t>
            </a:r>
            <a:r>
              <a:rPr lang="vi-VN" sz="2400" spc="5" dirty="0">
                <a:cs typeface="Arial"/>
              </a:rPr>
              <a:t>t</a:t>
            </a:r>
            <a:r>
              <a:rPr lang="vi-VN" sz="2400" spc="-3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s</a:t>
            </a:r>
            <a:r>
              <a:rPr lang="vi-VN" sz="2400" spc="10" dirty="0">
                <a:cs typeface="Arial"/>
              </a:rPr>
              <a:t>ố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-10" dirty="0">
                <a:cs typeface="Arial"/>
              </a:rPr>
              <a:t>l</a:t>
            </a:r>
            <a:r>
              <a:rPr lang="vi-VN" sz="2400" spc="5" dirty="0">
                <a:cs typeface="Arial"/>
              </a:rPr>
              <a:t>ớ</a:t>
            </a:r>
            <a:r>
              <a:rPr lang="vi-VN" sz="2400" spc="10" dirty="0">
                <a:cs typeface="Arial"/>
              </a:rPr>
              <a:t>p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10" dirty="0">
                <a:cs typeface="Arial"/>
              </a:rPr>
              <a:t>ơ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bả</a:t>
            </a:r>
            <a:r>
              <a:rPr lang="vi-VN" sz="2400" spc="10" dirty="0">
                <a:cs typeface="Arial"/>
              </a:rPr>
              <a:t>n</a:t>
            </a:r>
            <a:endParaRPr lang="en-US" sz="2400" spc="10" dirty="0">
              <a:cs typeface="Arial"/>
            </a:endParaRPr>
          </a:p>
          <a:p>
            <a:pPr marL="277495" indent="-264795">
              <a:spcBef>
                <a:spcPts val="925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lang="en-US" sz="2400" spc="10" dirty="0">
                <a:cs typeface="Arial"/>
              </a:rPr>
              <a:t>Input/output</a:t>
            </a:r>
            <a:endParaRPr lang="vi-VN" sz="2400" dirty="0">
              <a:cs typeface="Arial"/>
            </a:endParaRPr>
          </a:p>
          <a:p>
            <a:pPr algn="just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1A179AE-FC1B-D373-6C40-516796CAA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8AA1173-D1C1-8C27-BE59-398242DC6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Java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 </a:t>
            </a:r>
            <a:r>
              <a:rPr lang="en-US" altLang="en-US" dirty="0" err="1"/>
              <a:t>hướng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t</a:t>
            </a:r>
            <a:r>
              <a:rPr lang="vi-VN" altLang="en-US" dirty="0"/>
              <a:t>ư</a:t>
            </a:r>
            <a:r>
              <a:rPr lang="en-US" altLang="en-US" dirty="0" err="1"/>
              <a:t>ợng</a:t>
            </a:r>
            <a:endParaRPr lang="en-US" altLang="en-US" dirty="0"/>
          </a:p>
          <a:p>
            <a:r>
              <a:rPr lang="en-US" altLang="en-US" dirty="0"/>
              <a:t>Java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sáng</a:t>
            </a:r>
            <a:r>
              <a:rPr lang="en-US" altLang="en-US" dirty="0"/>
              <a:t>: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c, </a:t>
            </a:r>
            <a:r>
              <a:rPr lang="en-US" altLang="en-US" dirty="0" err="1"/>
              <a:t>c++</a:t>
            </a:r>
            <a:r>
              <a:rPr lang="en-US" altLang="en-US" dirty="0"/>
              <a:t>-&gt; C#, </a:t>
            </a:r>
            <a:r>
              <a:rPr lang="en-US" altLang="en-US" dirty="0" err="1"/>
              <a:t>phython</a:t>
            </a:r>
            <a:r>
              <a:rPr lang="en-US" altLang="en-US" dirty="0"/>
              <a:t>, scalar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Java </a:t>
            </a:r>
            <a:r>
              <a:rPr lang="en-US" altLang="en-US" dirty="0" err="1">
                <a:solidFill>
                  <a:srgbClr val="FF0000"/>
                </a:solidFill>
              </a:rPr>
              <a:t>không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phụ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thuộc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nền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rgbClr val="FF0000"/>
                </a:solidFill>
              </a:rPr>
              <a:t>Java </a:t>
            </a:r>
            <a:r>
              <a:rPr lang="en-US" altLang="en-US" dirty="0" err="1">
                <a:solidFill>
                  <a:srgbClr val="FF0000"/>
                </a:solidFill>
              </a:rPr>
              <a:t>hỗ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trợ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phát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triển</a:t>
            </a:r>
            <a:r>
              <a:rPr lang="en-US" altLang="en-US" dirty="0">
                <a:solidFill>
                  <a:srgbClr val="FF0000"/>
                </a:solidFill>
              </a:rPr>
              <a:t> app : web, mobile, Windows form, console, </a:t>
            </a:r>
            <a:r>
              <a:rPr lang="en-US" altLang="en-US" dirty="0" err="1">
                <a:solidFill>
                  <a:srgbClr val="FF0000"/>
                </a:solidFill>
              </a:rPr>
              <a:t>nhúng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phân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bố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điều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khiển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rgbClr val="FF0000"/>
                </a:solidFill>
              </a:rPr>
              <a:t>Văn </a:t>
            </a:r>
            <a:r>
              <a:rPr lang="en-US" altLang="en-US" dirty="0" err="1">
                <a:solidFill>
                  <a:srgbClr val="FF0000"/>
                </a:solidFill>
              </a:rPr>
              <a:t>phạm</a:t>
            </a:r>
            <a:r>
              <a:rPr lang="en-US" altLang="en-US" dirty="0">
                <a:solidFill>
                  <a:srgbClr val="FF0000"/>
                </a:solidFill>
              </a:rPr>
              <a:t> Java </a:t>
            </a:r>
            <a:r>
              <a:rPr lang="en-US" altLang="en-US" dirty="0" err="1">
                <a:solidFill>
                  <a:srgbClr val="FF0000"/>
                </a:solidFill>
              </a:rPr>
              <a:t>giống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c#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 err="1">
                <a:solidFill>
                  <a:srgbClr val="FF0000"/>
                </a:solidFill>
              </a:rPr>
              <a:t>Khó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khăn</a:t>
            </a:r>
            <a:r>
              <a:rPr lang="en-US" altLang="en-US" dirty="0">
                <a:solidFill>
                  <a:srgbClr val="FF0000"/>
                </a:solidFill>
              </a:rPr>
              <a:t>: </a:t>
            </a:r>
            <a:r>
              <a:rPr lang="en-US" altLang="en-US" dirty="0" err="1">
                <a:solidFill>
                  <a:srgbClr val="FF0000"/>
                </a:solidFill>
              </a:rPr>
              <a:t>Công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cụ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đa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dạng</a:t>
            </a:r>
            <a:r>
              <a:rPr lang="en-US" altLang="en-US" dirty="0">
                <a:solidFill>
                  <a:srgbClr val="FF0000"/>
                </a:solidFill>
              </a:rPr>
              <a:t>  (</a:t>
            </a:r>
            <a:r>
              <a:rPr lang="en-US" altLang="en-US" dirty="0" err="1">
                <a:solidFill>
                  <a:srgbClr val="FF0000"/>
                </a:solidFill>
              </a:rPr>
              <a:t>intelij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myeclipse</a:t>
            </a:r>
            <a:r>
              <a:rPr lang="en-US" altLang="en-US" dirty="0">
                <a:solidFill>
                  <a:srgbClr val="FF0000"/>
                </a:solidFill>
              </a:rPr>
              <a:t>) (eclipse, </a:t>
            </a:r>
            <a:r>
              <a:rPr lang="en-US" altLang="en-US" dirty="0" err="1">
                <a:solidFill>
                  <a:srgbClr val="FF0000"/>
                </a:solidFill>
              </a:rPr>
              <a:t>apache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netbean</a:t>
            </a:r>
            <a:r>
              <a:rPr lang="en-US" altLang="en-US" dirty="0">
                <a:solidFill>
                  <a:srgbClr val="FF0000"/>
                </a:solidFill>
              </a:rPr>
              <a:t>), </a:t>
            </a:r>
            <a:r>
              <a:rPr lang="en-US" altLang="en-US" dirty="0" err="1">
                <a:solidFill>
                  <a:srgbClr val="FF0000"/>
                </a:solidFill>
              </a:rPr>
              <a:t>các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phiên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bản</a:t>
            </a:r>
            <a:r>
              <a:rPr lang="en-US" altLang="en-US" dirty="0">
                <a:solidFill>
                  <a:srgbClr val="FF0000"/>
                </a:solidFill>
              </a:rPr>
              <a:t> java (</a:t>
            </a:r>
            <a:r>
              <a:rPr lang="en-US" altLang="en-US" dirty="0" err="1">
                <a:solidFill>
                  <a:srgbClr val="FF0000"/>
                </a:solidFill>
              </a:rPr>
              <a:t>jdk</a:t>
            </a:r>
            <a:r>
              <a:rPr lang="en-US" altLang="en-US" dirty="0">
                <a:solidFill>
                  <a:srgbClr val="FF0000"/>
                </a:solidFill>
              </a:rPr>
              <a:t> 8.</a:t>
            </a:r>
            <a:r>
              <a:rPr lang="en-US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jdk</a:t>
            </a:r>
            <a:r>
              <a:rPr lang="en-US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21)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89C95-6187-C4AC-A1B2-606EF6BAA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9846052-309E-2183-3DF3-CB8B1F51D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Cấu trúc ch</a:t>
            </a:r>
            <a:r>
              <a:rPr lang="vi-VN" altLang="en-US"/>
              <a:t>ư</a:t>
            </a:r>
            <a:r>
              <a:rPr lang="en-US" altLang="en-US"/>
              <a:t>ơng trình Java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CD0CD04-BAC9-FCCD-50C5-9577860B1E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708025"/>
            <a:ext cx="7848600" cy="5486400"/>
          </a:xfrm>
        </p:spPr>
        <p:txBody>
          <a:bodyPr/>
          <a:lstStyle/>
          <a:p>
            <a:r>
              <a:rPr lang="en-US" altLang="en-US" sz="2000"/>
              <a:t>Cấu trúc khối </a:t>
            </a:r>
            <a:r>
              <a:rPr lang="en-US" altLang="en-US" sz="2000">
                <a:sym typeface="Wingdings" panose="05000000000000000000" pitchFamily="2" charset="2"/>
              </a:rPr>
              <a:t> </a:t>
            </a:r>
            <a:r>
              <a:rPr lang="en-US" altLang="en-US" sz="2000">
                <a:solidFill>
                  <a:srgbClr val="FF0000"/>
                </a:solidFill>
                <a:sym typeface="Wingdings" panose="05000000000000000000" pitchFamily="2" charset="2"/>
              </a:rPr>
              <a:t>class</a:t>
            </a:r>
            <a:r>
              <a:rPr lang="en-US" altLang="en-US" sz="2000">
                <a:sym typeface="Wingdings" panose="05000000000000000000" pitchFamily="2" charset="2"/>
              </a:rPr>
              <a:t> </a:t>
            </a:r>
          </a:p>
          <a:p>
            <a:r>
              <a:rPr lang="en-US" altLang="en-US" sz="2000">
                <a:sym typeface="Wingdings" panose="05000000000000000000" pitchFamily="2" charset="2"/>
              </a:rPr>
              <a:t>Khai báo biến</a:t>
            </a:r>
          </a:p>
          <a:p>
            <a:pPr lvl="1"/>
            <a:r>
              <a:rPr lang="en-US" altLang="en-US" sz="2000">
                <a:sym typeface="Wingdings" panose="05000000000000000000" pitchFamily="2" charset="2"/>
              </a:rPr>
              <a:t>Toàn cục-&gt; </a:t>
            </a:r>
            <a:r>
              <a:rPr lang="en-US" altLang="en-US" sz="2000">
                <a:solidFill>
                  <a:srgbClr val="FF0000"/>
                </a:solidFill>
                <a:sym typeface="Wingdings" panose="05000000000000000000" pitchFamily="2" charset="2"/>
              </a:rPr>
              <a:t>static</a:t>
            </a:r>
          </a:p>
          <a:p>
            <a:pPr lvl="1"/>
            <a:r>
              <a:rPr lang="en-US" altLang="en-US" sz="2000"/>
              <a:t>Cục bộ</a:t>
            </a:r>
          </a:p>
          <a:p>
            <a:pPr lvl="1"/>
            <a:r>
              <a:rPr lang="en-US" altLang="en-US" sz="2000"/>
              <a:t>Kiểu dữ liệu</a:t>
            </a:r>
          </a:p>
          <a:p>
            <a:pPr lvl="2"/>
            <a:r>
              <a:rPr lang="en-US" altLang="en-US" sz="2000">
                <a:solidFill>
                  <a:srgbClr val="FF0000"/>
                </a:solidFill>
              </a:rPr>
              <a:t>Primitive</a:t>
            </a:r>
            <a:r>
              <a:rPr lang="en-US" altLang="en-US" sz="2000"/>
              <a:t>: nguyên thủy, c</a:t>
            </a:r>
            <a:r>
              <a:rPr lang="vi-VN" altLang="en-US" sz="2000"/>
              <a:t>ơ</a:t>
            </a:r>
            <a:r>
              <a:rPr lang="en-US" altLang="en-US" sz="2000"/>
              <a:t> sở: int, double, char, boolean</a:t>
            </a:r>
          </a:p>
          <a:p>
            <a:pPr lvl="2"/>
            <a:r>
              <a:rPr lang="en-US" altLang="en-US" sz="2000"/>
              <a:t>Reference (Tham chiếu): đối t</a:t>
            </a:r>
            <a:r>
              <a:rPr lang="vi-VN" altLang="en-US" sz="2000"/>
              <a:t>ư</a:t>
            </a:r>
            <a:r>
              <a:rPr lang="en-US" altLang="en-US" sz="2000"/>
              <a:t>ợng: String, array, Object</a:t>
            </a:r>
          </a:p>
          <a:p>
            <a:pPr lvl="1"/>
            <a:r>
              <a:rPr lang="en-US" altLang="en-US" sz="2000"/>
              <a:t>Khai báo hàm và thủ tục</a:t>
            </a:r>
          </a:p>
          <a:p>
            <a:pPr lvl="2"/>
            <a:r>
              <a:rPr lang="en-US" altLang="en-US" sz="2000"/>
              <a:t>Tham số truyền</a:t>
            </a:r>
          </a:p>
          <a:p>
            <a:pPr lvl="3"/>
            <a:r>
              <a:rPr lang="en-US" altLang="en-US" sz="2000"/>
              <a:t>Tham trị</a:t>
            </a:r>
          </a:p>
          <a:p>
            <a:pPr lvl="3"/>
            <a:r>
              <a:rPr lang="en-US" altLang="en-US" sz="2000"/>
              <a:t>Tham khảo</a:t>
            </a:r>
          </a:p>
          <a:p>
            <a:pPr lvl="2"/>
            <a:r>
              <a:rPr lang="en-US" altLang="en-US" sz="2000"/>
              <a:t>Trả kết quả: </a:t>
            </a:r>
          </a:p>
          <a:p>
            <a:pPr lvl="3"/>
            <a:r>
              <a:rPr lang="en-US" altLang="en-US" sz="2000"/>
              <a:t>void</a:t>
            </a:r>
          </a:p>
          <a:p>
            <a:pPr lvl="3"/>
            <a:r>
              <a:rPr lang="en-US" altLang="en-US" sz="2000"/>
              <a:t>Kiểu dữ liệu trả về</a:t>
            </a:r>
          </a:p>
          <a:p>
            <a:pPr lvl="1"/>
            <a:r>
              <a:rPr lang="en-US" altLang="en-US" sz="2000"/>
              <a:t>Ph</a:t>
            </a:r>
            <a:r>
              <a:rPr lang="vi-VN" altLang="en-US" sz="2000"/>
              <a:t>ư</a:t>
            </a:r>
            <a:r>
              <a:rPr lang="en-US" altLang="en-US" sz="2000"/>
              <a:t>ơng thức </a:t>
            </a:r>
            <a:r>
              <a:rPr lang="en-US" altLang="en-US" sz="2000">
                <a:solidFill>
                  <a:srgbClr val="FF0000"/>
                </a:solidFill>
              </a:rPr>
              <a:t>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79409-DCFC-DDBF-05CD-59431FAF7C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47DA1C8-1F0B-0738-8617-EB8BA4FB2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Biến</a:t>
            </a:r>
            <a:endParaRPr lang="en-GB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44EB70F8-DCD3-3C0F-A6EA-B9316C0B9B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6225" indent="-263525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800" dirty="0">
                <a:cs typeface="Arial" panose="020B0604020202020204" pitchFamily="34" charset="0"/>
              </a:rPr>
              <a:t>Tên biến: </a:t>
            </a:r>
            <a:r>
              <a:rPr lang="vi-VN" altLang="en-US" sz="1800" i="1" dirty="0">
                <a:solidFill>
                  <a:srgbClr val="FF0303"/>
                </a:solidFill>
                <a:cs typeface="Arial" panose="020B0604020202020204" pitchFamily="34" charset="0"/>
              </a:rPr>
              <a:t>Phân biệt chữ hoa chữ thường</a:t>
            </a:r>
            <a:r>
              <a:rPr lang="en-US" altLang="en-US" sz="1800" i="1" dirty="0">
                <a:solidFill>
                  <a:srgbClr val="FF0303"/>
                </a:solidFill>
                <a:cs typeface="Arial" panose="020B0604020202020204" pitchFamily="34" charset="0"/>
              </a:rPr>
              <a:t> (</a:t>
            </a:r>
            <a:r>
              <a:rPr lang="en-US" altLang="en-US" sz="1800" i="1" dirty="0" err="1">
                <a:solidFill>
                  <a:srgbClr val="FF0303"/>
                </a:solidFill>
                <a:cs typeface="Arial" panose="020B0604020202020204" pitchFamily="34" charset="0"/>
              </a:rPr>
              <a:t>giống</a:t>
            </a:r>
            <a:r>
              <a:rPr lang="en-US" altLang="en-US" sz="1800" i="1" dirty="0">
                <a:solidFill>
                  <a:srgbClr val="FF0303"/>
                </a:solidFill>
                <a:cs typeface="Arial" panose="020B0604020202020204" pitchFamily="34" charset="0"/>
              </a:rPr>
              <a:t> C)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marL="276225" indent="-263525">
              <a:lnSpc>
                <a:spcPct val="121000"/>
              </a:lnSpc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800" dirty="0">
                <a:cs typeface="Arial" panose="020B0604020202020204" pitchFamily="34" charset="0"/>
              </a:rPr>
              <a:t>Trong java, biến có thể được khai báo ở bất kỳ nơi đâu trong chương trình.</a:t>
            </a:r>
          </a:p>
          <a:p>
            <a:pPr marL="276225" indent="-263525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800" dirty="0">
                <a:solidFill>
                  <a:srgbClr val="0000FF"/>
                </a:solidFill>
                <a:cs typeface="Arial" panose="020B0604020202020204" pitchFamily="34" charset="0"/>
              </a:rPr>
              <a:t>Biến toàn cục: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marL="587375" lvl="1" indent="-219075">
              <a:lnSpc>
                <a:spcPct val="120000"/>
              </a:lnSpc>
              <a:spcBef>
                <a:spcPts val="475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800" dirty="0">
                <a:cs typeface="Arial" panose="020B0604020202020204" pitchFamily="34" charset="0"/>
              </a:rPr>
              <a:t>Khai báo dùng từ khóa </a:t>
            </a:r>
            <a:r>
              <a:rPr lang="vi-VN" altLang="en-US" sz="1800" dirty="0">
                <a:solidFill>
                  <a:srgbClr val="0000FF"/>
                </a:solidFill>
                <a:cs typeface="Arial" panose="020B0604020202020204" pitchFamily="34" charset="0"/>
              </a:rPr>
              <a:t>public</a:t>
            </a:r>
            <a:r>
              <a:rPr lang="vi-VN" altLang="en-US" sz="1800" dirty="0">
                <a:cs typeface="Arial" panose="020B0604020202020204" pitchFamily="34" charset="0"/>
              </a:rPr>
              <a:t>, hoặc đặt chúng trong một class</a:t>
            </a:r>
          </a:p>
          <a:p>
            <a:pPr marL="276225" indent="-263525">
              <a:spcBef>
                <a:spcPts val="925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800" dirty="0">
                <a:solidFill>
                  <a:srgbClr val="0000FF"/>
                </a:solidFill>
                <a:cs typeface="Arial" panose="020B0604020202020204" pitchFamily="34" charset="0"/>
              </a:rPr>
              <a:t>Biến cục bộ: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marL="587375" lvl="1" indent="-219075">
              <a:spcBef>
                <a:spcPts val="900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800" i="1" dirty="0">
                <a:solidFill>
                  <a:srgbClr val="FF0303"/>
                </a:solidFill>
                <a:cs typeface="Arial" panose="020B0604020202020204" pitchFamily="34" charset="0"/>
              </a:rPr>
              <a:t>Bắt buộc phải khởi tạo giá trị trước khi sử dụng.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marL="276225" indent="-263525">
              <a:tabLst>
                <a:tab pos="277813" algn="l"/>
              </a:tabLst>
            </a:pPr>
            <a:r>
              <a:rPr lang="en-US" altLang="en-US" dirty="0" err="1"/>
              <a:t>Khai</a:t>
            </a:r>
            <a:r>
              <a:rPr lang="en-US" altLang="en-US" dirty="0"/>
              <a:t> </a:t>
            </a:r>
            <a:r>
              <a:rPr lang="en-US" altLang="en-US" dirty="0" err="1"/>
              <a:t>báo</a:t>
            </a:r>
            <a:r>
              <a:rPr lang="en-US" altLang="en-US" dirty="0"/>
              <a:t> </a:t>
            </a:r>
            <a:r>
              <a:rPr lang="en-US" altLang="en-US" dirty="0" err="1"/>
              <a:t>biến</a:t>
            </a:r>
            <a:r>
              <a:rPr lang="en-US" altLang="en-US" dirty="0"/>
              <a:t>:</a:t>
            </a:r>
          </a:p>
          <a:p>
            <a:pPr marL="587375" lvl="1" indent="-219075"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Cách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khai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báo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biến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:</a:t>
            </a:r>
            <a:endParaRPr lang="en-GB" altLang="en-US" sz="2400" dirty="0">
              <a:cs typeface="Arial" panose="020B0604020202020204" pitchFamily="34" charset="0"/>
            </a:endParaRPr>
          </a:p>
          <a:p>
            <a:pPr marL="930275" lvl="2" indent="-219075">
              <a:spcBef>
                <a:spcPts val="900"/>
              </a:spcBef>
              <a:tabLst>
                <a:tab pos="277813" algn="l"/>
              </a:tabLst>
            </a:pPr>
            <a:r>
              <a:rPr lang="en-GB" altLang="en-US" sz="2400" dirty="0">
                <a:cs typeface="Arial" panose="020B0604020202020204" pitchFamily="34" charset="0"/>
              </a:rPr>
              <a:t>&lt;</a:t>
            </a:r>
            <a:r>
              <a:rPr lang="en-GB" altLang="en-US" sz="2400" dirty="0" err="1">
                <a:cs typeface="Arial" panose="020B0604020202020204" pitchFamily="34" charset="0"/>
              </a:rPr>
              <a:t>kiểu_dữ_liệu</a:t>
            </a:r>
            <a:r>
              <a:rPr lang="en-GB" altLang="en-US" sz="2400" dirty="0">
                <a:cs typeface="Arial" panose="020B0604020202020204" pitchFamily="34" charset="0"/>
              </a:rPr>
              <a:t>&gt;   &lt;</a:t>
            </a:r>
            <a:r>
              <a:rPr lang="en-GB" altLang="en-US" sz="2400" dirty="0" err="1">
                <a:cs typeface="Arial" panose="020B0604020202020204" pitchFamily="34" charset="0"/>
              </a:rPr>
              <a:t>tên_biến</a:t>
            </a:r>
            <a:r>
              <a:rPr lang="en-GB" altLang="en-US" sz="2400" dirty="0">
                <a:cs typeface="Arial" panose="020B0604020202020204" pitchFamily="34" charset="0"/>
              </a:rPr>
              <a:t>&gt;;</a:t>
            </a:r>
          </a:p>
          <a:p>
            <a:pPr marL="930275" lvl="2" indent="-219075">
              <a:spcBef>
                <a:spcPts val="925"/>
              </a:spcBef>
              <a:tabLst>
                <a:tab pos="277813" algn="l"/>
              </a:tabLst>
            </a:pPr>
            <a:r>
              <a:rPr lang="en-GB" altLang="en-US" sz="2400" dirty="0">
                <a:cs typeface="Arial" panose="020B0604020202020204" pitchFamily="34" charset="0"/>
              </a:rPr>
              <a:t>&lt;</a:t>
            </a:r>
            <a:r>
              <a:rPr lang="en-GB" altLang="en-US" sz="2400" dirty="0" err="1">
                <a:cs typeface="Arial" panose="020B0604020202020204" pitchFamily="34" charset="0"/>
              </a:rPr>
              <a:t>kiểu_dữ_liệu</a:t>
            </a:r>
            <a:r>
              <a:rPr lang="en-GB" altLang="en-US" sz="2400" dirty="0">
                <a:cs typeface="Arial" panose="020B0604020202020204" pitchFamily="34" charset="0"/>
              </a:rPr>
              <a:t>&gt;   &lt;</a:t>
            </a:r>
            <a:r>
              <a:rPr lang="en-GB" altLang="en-US" sz="2400" dirty="0" err="1">
                <a:cs typeface="Arial" panose="020B0604020202020204" pitchFamily="34" charset="0"/>
              </a:rPr>
              <a:t>tên_biến</a:t>
            </a:r>
            <a:r>
              <a:rPr lang="en-GB" altLang="en-US" sz="2400" dirty="0">
                <a:cs typeface="Arial" panose="020B0604020202020204" pitchFamily="34" charset="0"/>
              </a:rPr>
              <a:t>&gt; = &lt;</a:t>
            </a:r>
            <a:r>
              <a:rPr lang="en-GB" altLang="en-US" sz="2400" dirty="0" err="1">
                <a:cs typeface="Arial" panose="020B0604020202020204" pitchFamily="34" charset="0"/>
              </a:rPr>
              <a:t>giá_trị</a:t>
            </a:r>
            <a:r>
              <a:rPr lang="en-GB" altLang="en-US" sz="2400" dirty="0">
                <a:cs typeface="Arial" panose="020B0604020202020204" pitchFamily="34" charset="0"/>
              </a:rPr>
              <a:t>&gt;;</a:t>
            </a:r>
          </a:p>
          <a:p>
            <a:pPr marL="587375" lvl="1" indent="-219075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Gán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giá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trị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cho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 err="1">
                <a:solidFill>
                  <a:srgbClr val="0000FF"/>
                </a:solidFill>
                <a:cs typeface="Arial" panose="020B0604020202020204" pitchFamily="34" charset="0"/>
              </a:rPr>
              <a:t>biến</a:t>
            </a:r>
            <a:r>
              <a:rPr lang="en-GB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:</a:t>
            </a:r>
            <a:endParaRPr lang="en-GB" altLang="en-US" sz="2400" dirty="0">
              <a:cs typeface="Arial" panose="020B0604020202020204" pitchFamily="34" charset="0"/>
            </a:endParaRPr>
          </a:p>
          <a:p>
            <a:pPr marL="930275" lvl="2" indent="-219075">
              <a:spcBef>
                <a:spcPts val="925"/>
              </a:spcBef>
              <a:tabLst>
                <a:tab pos="277813" algn="l"/>
              </a:tabLst>
            </a:pPr>
            <a:r>
              <a:rPr lang="en-GB" altLang="en-US" sz="2400" dirty="0">
                <a:cs typeface="Arial" panose="020B0604020202020204" pitchFamily="34" charset="0"/>
              </a:rPr>
              <a:t>&lt;</a:t>
            </a:r>
            <a:r>
              <a:rPr lang="en-GB" altLang="en-US" sz="2400" dirty="0" err="1">
                <a:cs typeface="Arial" panose="020B0604020202020204" pitchFamily="34" charset="0"/>
              </a:rPr>
              <a:t>tên_biến</a:t>
            </a:r>
            <a:r>
              <a:rPr lang="en-GB" altLang="en-US" sz="2400" dirty="0">
                <a:cs typeface="Arial" panose="020B0604020202020204" pitchFamily="34" charset="0"/>
              </a:rPr>
              <a:t>&gt; = &lt;</a:t>
            </a:r>
            <a:r>
              <a:rPr lang="en-GB" altLang="en-US" sz="2400" dirty="0" err="1">
                <a:cs typeface="Arial" panose="020B0604020202020204" pitchFamily="34" charset="0"/>
              </a:rPr>
              <a:t>giá_trị</a:t>
            </a:r>
            <a:r>
              <a:rPr lang="en-GB" altLang="en-US" sz="2400" dirty="0">
                <a:cs typeface="Arial" panose="020B0604020202020204" pitchFamily="34" charset="0"/>
              </a:rPr>
              <a:t>&gt;;</a:t>
            </a:r>
          </a:p>
          <a:p>
            <a:pPr marL="276225" indent="-263525">
              <a:tabLst>
                <a:tab pos="277813" algn="l"/>
              </a:tabLst>
            </a:pPr>
            <a:endParaRPr lang="en-GB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C7AC5-D67C-FB4F-EF94-0AE003BBB5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19D58A4-5EFB-566C-5686-11770941A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Biến</a:t>
            </a:r>
            <a:endParaRPr lang="en-GB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92298BE-B3E1-2E82-6F09-D8ED3E220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6225" indent="-263525"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vi-VN" sz="1800">
                <a:solidFill>
                  <a:srgbClr val="0000FF"/>
                </a:solidFill>
                <a:cs typeface="Arial" charset="0"/>
              </a:rPr>
              <a:t>Lưu ý:</a:t>
            </a:r>
            <a:endParaRPr lang="vi-VN" sz="1800">
              <a:cs typeface="Arial" charset="0"/>
            </a:endParaRPr>
          </a:p>
          <a:p>
            <a:pPr marL="587375" lvl="1" indent="-219075" algn="just">
              <a:lnSpc>
                <a:spcPct val="121000"/>
              </a:lnSpc>
              <a:spcBef>
                <a:spcPts val="425"/>
              </a:spcBef>
              <a:buClr>
                <a:srgbClr val="3066D3"/>
              </a:buClr>
              <a:buSzPct val="49000"/>
              <a:buFont typeface="Arial" charset="0"/>
              <a:buChar char="o"/>
              <a:tabLst>
                <a:tab pos="277813" algn="l"/>
              </a:tabLst>
              <a:defRPr/>
            </a:pPr>
            <a:r>
              <a:rPr lang="vi-VN" sz="1800">
                <a:cs typeface="Arial" charset="0"/>
              </a:rPr>
              <a:t>Trong java nếu lúc khai báo không khởi tạo giá trị cho biến  thì  nó  sẽ  nhận  1  giá  trị  mặc  định.  Mỗi  kiểu  dữ liệu có 1 giá trị mặc định khác nhau.</a:t>
            </a:r>
          </a:p>
          <a:p>
            <a:pPr marL="898525" lvl="2" indent="-176213">
              <a:spcBef>
                <a:spcPts val="925"/>
              </a:spcBef>
              <a:buClr>
                <a:srgbClr val="90B54C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vi-VN" sz="1800">
                <a:cs typeface="Arial" charset="0"/>
              </a:rPr>
              <a:t>0 nếu kiểu dữ liệu là kiểu số</a:t>
            </a:r>
          </a:p>
          <a:p>
            <a:pPr marL="898525" lvl="2" indent="-176213">
              <a:spcBef>
                <a:spcPts val="900"/>
              </a:spcBef>
              <a:buClr>
                <a:srgbClr val="90B54C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vi-VN" sz="1800">
                <a:cs typeface="Arial" charset="0"/>
              </a:rPr>
              <a:t>‘\0’ nếu kiểu dữ liệu là ký tự</a:t>
            </a:r>
          </a:p>
          <a:p>
            <a:pPr marL="898525" lvl="2" indent="-176213">
              <a:spcBef>
                <a:spcPts val="900"/>
              </a:spcBef>
              <a:buClr>
                <a:srgbClr val="90B54C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vi-VN" sz="1800">
                <a:cs typeface="Arial" charset="0"/>
              </a:rPr>
              <a:t>false nếu kiểu dữ liệu là boolean</a:t>
            </a:r>
          </a:p>
          <a:p>
            <a:pPr marL="898525" lvl="2" indent="-176213">
              <a:spcBef>
                <a:spcPts val="925"/>
              </a:spcBef>
              <a:buClr>
                <a:srgbClr val="90B54C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vi-VN" sz="1800">
                <a:cs typeface="Arial" charset="0"/>
              </a:rPr>
              <a:t>null nếu kiểu dữ liệu là class</a:t>
            </a:r>
            <a:endParaRPr lang="en-US" sz="1800">
              <a:cs typeface="Arial" charset="0"/>
            </a:endParaRPr>
          </a:p>
          <a:p>
            <a:pPr marL="555625" lvl="1" indent="-176213">
              <a:spcBef>
                <a:spcPts val="925"/>
              </a:spcBef>
              <a:buClr>
                <a:srgbClr val="90B54C"/>
              </a:buClr>
              <a:buFont typeface="Wingdings" panose="05000000000000000000" pitchFamily="2" charset="2"/>
              <a:buChar char=""/>
              <a:tabLst>
                <a:tab pos="277813" algn="l"/>
              </a:tabLst>
              <a:defRPr/>
            </a:pPr>
            <a:r>
              <a:rPr lang="en-US" sz="1800">
                <a:highlight>
                  <a:srgbClr val="FFFF00"/>
                </a:highlight>
                <a:cs typeface="Arial" charset="0"/>
              </a:rPr>
              <a:t>Nên chủ động khởi tạo giá trị ban đầu!!!!</a:t>
            </a:r>
            <a:endParaRPr lang="vi-VN" sz="1800">
              <a:highlight>
                <a:srgbClr val="FFFF00"/>
              </a:highlight>
              <a:cs typeface="Arial" charset="0"/>
            </a:endParaRPr>
          </a:p>
          <a:p>
            <a:pPr marL="276225" indent="-263525">
              <a:tabLst>
                <a:tab pos="277813" algn="l"/>
              </a:tabLst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6CA4F-E0C7-5CB2-8D86-F7626679A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CF7443F-34CE-5C78-E2EA-5143F02BC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Hằng</a:t>
            </a:r>
            <a:endParaRPr lang="en-GB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6FFC5B7-2999-754E-29C7-BF3CFDAEB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838200"/>
            <a:ext cx="7848600" cy="5486400"/>
          </a:xfrm>
        </p:spPr>
        <p:txBody>
          <a:bodyPr/>
          <a:lstStyle/>
          <a:p>
            <a:pPr marL="338138" indent="-325438"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Hằng?</a:t>
            </a:r>
            <a:endParaRPr lang="vi-VN" altLang="en-US" sz="2400">
              <a:cs typeface="Arial" panose="020B0604020202020204" pitchFamily="34" charset="0"/>
            </a:endParaRPr>
          </a:p>
          <a:p>
            <a:pPr marL="681038" lvl="1" indent="-325438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cs typeface="Arial" panose="020B0604020202020204" pitchFamily="34" charset="0"/>
              </a:rPr>
              <a:t>Tên đặt theo qui ước như tên biến</a:t>
            </a:r>
          </a:p>
          <a:p>
            <a:pPr marL="681038" lvl="1" indent="-325438">
              <a:spcBef>
                <a:spcPts val="925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cs typeface="Arial" panose="020B0604020202020204" pitchFamily="34" charset="0"/>
              </a:rPr>
              <a:t>Khai báo dùng từ khóa </a:t>
            </a: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final</a:t>
            </a:r>
            <a:endParaRPr lang="vi-VN" altLang="en-US" sz="2400">
              <a:cs typeface="Arial" panose="020B0604020202020204" pitchFamily="34" charset="0"/>
            </a:endParaRPr>
          </a:p>
          <a:p>
            <a:pPr marL="338138" indent="-325438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cs typeface="Arial" panose="020B0604020202020204" pitchFamily="34" charset="0"/>
              </a:rPr>
              <a:t>Ví dụ:</a:t>
            </a:r>
          </a:p>
          <a:p>
            <a:pPr marL="681038" lvl="1" indent="-325438">
              <a:lnSpc>
                <a:spcPct val="141000"/>
              </a:lnSpc>
              <a:spcBef>
                <a:spcPts val="25"/>
              </a:spcBef>
              <a:tabLst>
                <a:tab pos="338138" algn="l"/>
              </a:tabLst>
            </a:pP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final int </a:t>
            </a:r>
            <a:r>
              <a:rPr lang="vi-VN" altLang="en-US" sz="2400">
                <a:cs typeface="Arial" panose="020B0604020202020204" pitchFamily="34" charset="0"/>
              </a:rPr>
              <a:t>x = 10;	</a:t>
            </a:r>
            <a:r>
              <a:rPr lang="vi-VN" altLang="en-US" sz="2400">
                <a:solidFill>
                  <a:srgbClr val="007F00"/>
                </a:solidFill>
                <a:cs typeface="Arial" panose="020B0604020202020204" pitchFamily="34" charset="0"/>
              </a:rPr>
              <a:t>// khai báo hằng số nguyên x = 10 </a:t>
            </a:r>
            <a:endParaRPr lang="en-US" altLang="en-US" sz="2400">
              <a:solidFill>
                <a:srgbClr val="007F00"/>
              </a:solidFill>
              <a:cs typeface="Arial" panose="020B0604020202020204" pitchFamily="34" charset="0"/>
            </a:endParaRPr>
          </a:p>
          <a:p>
            <a:pPr marL="681038" lvl="1" indent="-325438">
              <a:lnSpc>
                <a:spcPct val="141000"/>
              </a:lnSpc>
              <a:spcBef>
                <a:spcPts val="25"/>
              </a:spcBef>
              <a:tabLst>
                <a:tab pos="338138" algn="l"/>
              </a:tabLst>
            </a:pP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final long </a:t>
            </a:r>
            <a:r>
              <a:rPr lang="vi-VN" altLang="en-US" sz="2400">
                <a:cs typeface="Arial" panose="020B0604020202020204" pitchFamily="34" charset="0"/>
              </a:rPr>
              <a:t>y = 20; </a:t>
            </a:r>
            <a:r>
              <a:rPr lang="vi-VN" altLang="en-US" sz="2400">
                <a:solidFill>
                  <a:srgbClr val="007F00"/>
                </a:solidFill>
                <a:cs typeface="Arial" panose="020B0604020202020204" pitchFamily="34" charset="0"/>
              </a:rPr>
              <a:t>// khai báo hằng số long y = 20</a:t>
            </a:r>
            <a:endParaRPr lang="vi-VN" altLang="en-US" sz="2400">
              <a:cs typeface="Arial" panose="020B0604020202020204" pitchFamily="34" charset="0"/>
            </a:endParaRPr>
          </a:p>
          <a:p>
            <a:pPr marL="338138" indent="-325438">
              <a:spcBef>
                <a:spcPts val="925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Hằng ký tự: </a:t>
            </a:r>
            <a:r>
              <a:rPr lang="vi-VN" altLang="en-US" sz="2400">
                <a:cs typeface="Arial" panose="020B0604020202020204" pitchFamily="34" charset="0"/>
              </a:rPr>
              <a:t>đặt giữa cặp nháy đơn ‘ ’</a:t>
            </a:r>
          </a:p>
          <a:p>
            <a:pPr marL="338138" indent="-325438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338138" algn="l"/>
              </a:tabLst>
            </a:pPr>
            <a:r>
              <a:rPr lang="vi-VN" altLang="en-US" sz="2400">
                <a:solidFill>
                  <a:srgbClr val="0000FF"/>
                </a:solidFill>
                <a:cs typeface="Arial" panose="020B0604020202020204" pitchFamily="34" charset="0"/>
              </a:rPr>
              <a:t>Hằng chuỗi: </a:t>
            </a:r>
            <a:r>
              <a:rPr lang="vi-VN" altLang="en-US" sz="2400">
                <a:cs typeface="Arial" panose="020B0604020202020204" pitchFamily="34" charset="0"/>
              </a:rPr>
              <a:t>là một dãy ký tự đặt giữa cặp nháy đôi “ ”</a:t>
            </a:r>
          </a:p>
          <a:p>
            <a:pPr marL="338138" indent="-325438">
              <a:tabLst>
                <a:tab pos="338138" algn="l"/>
              </a:tabLst>
            </a:pP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DE7CC-D875-839B-E8A6-791F7E8EF2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ABB2C89-7776-73E5-AC7C-F7E38C4B8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Hằng kí tự đặc biệt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211F0-4DA0-3484-EEAD-97529DCDF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BCDEAD8E-E673-EBF8-44AF-BE2D0722403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914400"/>
          <a:ext cx="7772400" cy="5029200"/>
        </p:xfrm>
        <a:graphic>
          <a:graphicData uri="http://schemas.openxmlformats.org/drawingml/2006/table">
            <a:tbl>
              <a:tblPr/>
              <a:tblGrid>
                <a:gridCol w="3370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7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Ký tự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C5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Ý nghĩa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C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\b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Xóa lùi (BackSpace)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\t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Tab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\n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Xuống hàng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\r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Dấu enter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\”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Nháy kép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73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\’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Nháy đơn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62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\\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84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\f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đẩy trang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4621">
                <a:tc>
                  <a:txBody>
                    <a:bodyPr/>
                    <a:lstStyle/>
                    <a:p>
                      <a:pPr marL="571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\uxxxx</a:t>
                      </a:r>
                    </a:p>
                  </a:txBody>
                  <a:tcPr marL="0" marR="0" marT="0" marB="0" horzOverflow="overflow">
                    <a:lnL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Ký tự unicode</a:t>
                      </a: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173B7B9-DB55-7711-5537-CDCD491E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5"/>
              <a:t>K</a:t>
            </a:r>
            <a:r>
              <a:rPr lang="en-GB" spc="-10"/>
              <a:t>i</a:t>
            </a:r>
            <a:r>
              <a:rPr lang="en-GB" spc="-15">
                <a:latin typeface="Arial"/>
                <a:cs typeface="Arial"/>
              </a:rPr>
              <a:t>ể</a:t>
            </a:r>
            <a:r>
              <a:rPr lang="en-GB" spc="-20"/>
              <a:t>u</a:t>
            </a:r>
            <a:r>
              <a:rPr lang="en-GB" spc="-60"/>
              <a:t> </a:t>
            </a:r>
            <a:r>
              <a:rPr lang="en-GB" spc="-10"/>
              <a:t>d</a:t>
            </a:r>
            <a:r>
              <a:rPr lang="en-GB" spc="-20">
                <a:latin typeface="Arial"/>
                <a:cs typeface="Arial"/>
              </a:rPr>
              <a:t>ữ</a:t>
            </a:r>
            <a:r>
              <a:rPr lang="en-GB" spc="-55">
                <a:latin typeface="Arial"/>
                <a:cs typeface="Arial"/>
              </a:rPr>
              <a:t> </a:t>
            </a:r>
            <a:r>
              <a:rPr lang="en-GB" spc="-10"/>
              <a:t>li</a:t>
            </a:r>
            <a:r>
              <a:rPr lang="en-GB" spc="-15">
                <a:latin typeface="Arial"/>
                <a:cs typeface="Arial"/>
              </a:rPr>
              <a:t>ệ</a:t>
            </a:r>
            <a:r>
              <a:rPr lang="en-GB" spc="-20"/>
              <a:t>u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8EB34-29AE-B0BC-09C6-BA74EDDBFC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pic>
        <p:nvPicPr>
          <p:cNvPr id="15364" name="Picture 7" descr="Fig03-06">
            <a:extLst>
              <a:ext uri="{FF2B5EF4-FFF2-40B4-BE49-F238E27FC236}">
                <a16:creationId xmlns:a16="http://schemas.microsoft.com/office/drawing/2014/main" id="{73BF0592-CAAA-A095-5238-C55CAB2F4060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19200"/>
            <a:ext cx="8305800" cy="32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object 16">
            <a:extLst>
              <a:ext uri="{FF2B5EF4-FFF2-40B4-BE49-F238E27FC236}">
                <a16:creationId xmlns:a16="http://schemas.microsoft.com/office/drawing/2014/main" id="{DED862D0-C983-BED6-8C3F-3528767644E6}"/>
              </a:ext>
            </a:extLst>
          </p:cNvPr>
          <p:cNvSpPr txBox="1"/>
          <p:nvPr/>
        </p:nvSpPr>
        <p:spPr>
          <a:xfrm>
            <a:off x="685800" y="1371600"/>
            <a:ext cx="1219200" cy="22669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77495" indent="-264795">
              <a:spcBef>
                <a:spcPct val="5000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5" dirty="0">
                <a:latin typeface="Arial"/>
                <a:cs typeface="Arial"/>
              </a:rPr>
              <a:t>b</a:t>
            </a:r>
            <a:r>
              <a:rPr sz="1550" spc="-40" dirty="0">
                <a:latin typeface="Arial"/>
                <a:cs typeface="Arial"/>
              </a:rPr>
              <a:t>y</a:t>
            </a:r>
            <a:r>
              <a:rPr sz="1550" spc="-5" dirty="0">
                <a:latin typeface="Arial"/>
                <a:cs typeface="Arial"/>
              </a:rPr>
              <a:t>t</a:t>
            </a:r>
            <a:r>
              <a:rPr sz="1550" dirty="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10" dirty="0">
                <a:latin typeface="Arial"/>
                <a:cs typeface="Arial"/>
              </a:rPr>
              <a:t>c</a:t>
            </a:r>
            <a:r>
              <a:rPr sz="1550" spc="-5" dirty="0">
                <a:latin typeface="Arial"/>
                <a:cs typeface="Arial"/>
              </a:rPr>
              <a:t>ha</a:t>
            </a:r>
            <a:r>
              <a:rPr sz="1550" dirty="0">
                <a:latin typeface="Arial"/>
                <a:cs typeface="Arial"/>
              </a:rPr>
              <a:t>r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5" dirty="0">
                <a:latin typeface="Arial"/>
                <a:cs typeface="Arial"/>
              </a:rPr>
              <a:t>boo</a:t>
            </a:r>
            <a:r>
              <a:rPr sz="1550" spc="-15" dirty="0">
                <a:latin typeface="Arial"/>
                <a:cs typeface="Arial"/>
              </a:rPr>
              <a:t>l</a:t>
            </a:r>
            <a:r>
              <a:rPr sz="1550" spc="-5" dirty="0">
                <a:latin typeface="Arial"/>
                <a:cs typeface="Arial"/>
              </a:rPr>
              <a:t>ea</a:t>
            </a:r>
            <a:r>
              <a:rPr sz="1550" dirty="0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95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10" dirty="0">
                <a:latin typeface="Arial"/>
                <a:cs typeface="Arial"/>
              </a:rPr>
              <a:t>s</a:t>
            </a:r>
            <a:r>
              <a:rPr sz="1550" spc="-5" dirty="0">
                <a:latin typeface="Arial"/>
                <a:cs typeface="Arial"/>
              </a:rPr>
              <a:t>ho</a:t>
            </a:r>
            <a:r>
              <a:rPr sz="1550" spc="5" dirty="0">
                <a:latin typeface="Arial"/>
                <a:cs typeface="Arial"/>
              </a:rPr>
              <a:t>r</a:t>
            </a:r>
            <a:r>
              <a:rPr sz="15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15" dirty="0">
                <a:latin typeface="Arial"/>
                <a:cs typeface="Arial"/>
              </a:rPr>
              <a:t>i</a:t>
            </a:r>
            <a:r>
              <a:rPr sz="1550" spc="-5" dirty="0">
                <a:latin typeface="Arial"/>
                <a:cs typeface="Arial"/>
              </a:rPr>
              <a:t>n</a:t>
            </a:r>
            <a:r>
              <a:rPr sz="15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15" dirty="0">
                <a:latin typeface="Arial"/>
                <a:cs typeface="Arial"/>
              </a:rPr>
              <a:t>l</a:t>
            </a:r>
            <a:r>
              <a:rPr sz="1550" spc="-5" dirty="0">
                <a:latin typeface="Arial"/>
                <a:cs typeface="Arial"/>
              </a:rPr>
              <a:t>on</a:t>
            </a:r>
            <a:r>
              <a:rPr sz="1550" dirty="0">
                <a:latin typeface="Arial"/>
                <a:cs typeface="Arial"/>
              </a:rPr>
              <a:t>g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5" dirty="0">
                <a:latin typeface="Arial"/>
                <a:cs typeface="Arial"/>
              </a:rPr>
              <a:t>f</a:t>
            </a:r>
            <a:r>
              <a:rPr sz="1550" spc="-15" dirty="0">
                <a:latin typeface="Arial"/>
                <a:cs typeface="Arial"/>
              </a:rPr>
              <a:t>l</a:t>
            </a:r>
            <a:r>
              <a:rPr sz="1550" spc="-5" dirty="0">
                <a:latin typeface="Arial"/>
                <a:cs typeface="Arial"/>
              </a:rPr>
              <a:t>oa</a:t>
            </a:r>
            <a:r>
              <a:rPr sz="15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5" dirty="0">
                <a:latin typeface="Arial"/>
                <a:cs typeface="Arial"/>
              </a:rPr>
              <a:t>doub</a:t>
            </a:r>
            <a:r>
              <a:rPr sz="1550" spc="-15" dirty="0">
                <a:latin typeface="Arial"/>
                <a:cs typeface="Arial"/>
              </a:rPr>
              <a:t>l</a:t>
            </a:r>
            <a:r>
              <a:rPr sz="1550" dirty="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17">
            <a:extLst>
              <a:ext uri="{FF2B5EF4-FFF2-40B4-BE49-F238E27FC236}">
                <a16:creationId xmlns:a16="http://schemas.microsoft.com/office/drawing/2014/main" id="{3DC8179C-B855-7CBE-49AE-D15185297344}"/>
              </a:ext>
            </a:extLst>
          </p:cNvPr>
          <p:cNvSpPr txBox="1"/>
          <p:nvPr/>
        </p:nvSpPr>
        <p:spPr>
          <a:xfrm>
            <a:off x="6934200" y="2224088"/>
            <a:ext cx="1430338" cy="81756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77495" indent="-264795">
              <a:spcBef>
                <a:spcPct val="5000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10" dirty="0">
                <a:latin typeface="Arial"/>
                <a:cs typeface="Arial"/>
              </a:rPr>
              <a:t>A</a:t>
            </a:r>
            <a:r>
              <a:rPr sz="1550" spc="5" dirty="0">
                <a:latin typeface="Arial"/>
                <a:cs typeface="Arial"/>
              </a:rPr>
              <a:t>rr</a:t>
            </a:r>
            <a:r>
              <a:rPr sz="1550" spc="-5" dirty="0">
                <a:latin typeface="Arial"/>
                <a:cs typeface="Arial"/>
              </a:rPr>
              <a:t>a</a:t>
            </a:r>
            <a:r>
              <a:rPr sz="1550" dirty="0">
                <a:latin typeface="Arial"/>
                <a:cs typeface="Arial"/>
              </a:rPr>
              <a:t>y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dirty="0">
                <a:latin typeface="Arial"/>
                <a:cs typeface="Arial"/>
              </a:rPr>
              <a:t>C</a:t>
            </a:r>
            <a:r>
              <a:rPr sz="1550" spc="-15" dirty="0">
                <a:latin typeface="Arial"/>
                <a:cs typeface="Arial"/>
              </a:rPr>
              <a:t>l</a:t>
            </a:r>
            <a:r>
              <a:rPr sz="1550" spc="-5" dirty="0">
                <a:latin typeface="Arial"/>
                <a:cs typeface="Arial"/>
              </a:rPr>
              <a:t>a</a:t>
            </a:r>
            <a:r>
              <a:rPr sz="1550" spc="10" dirty="0">
                <a:latin typeface="Arial"/>
                <a:cs typeface="Arial"/>
              </a:rPr>
              <a:t>s</a:t>
            </a:r>
            <a:r>
              <a:rPr sz="1550" dirty="0">
                <a:latin typeface="Arial"/>
                <a:cs typeface="Arial"/>
              </a:rPr>
              <a:t>s</a:t>
            </a:r>
            <a:endParaRPr sz="1550">
              <a:latin typeface="Arial"/>
              <a:cs typeface="Arial"/>
            </a:endParaRPr>
          </a:p>
          <a:p>
            <a:pPr marL="277495" indent="-264795">
              <a:spcBef>
                <a:spcPts val="370"/>
              </a:spcBef>
              <a:buFont typeface="Wingdings"/>
              <a:buChar char=""/>
              <a:tabLst>
                <a:tab pos="278130" algn="l"/>
              </a:tabLst>
              <a:defRPr/>
            </a:pPr>
            <a:r>
              <a:rPr sz="1550" spc="-5" dirty="0">
                <a:latin typeface="Arial"/>
                <a:cs typeface="Arial"/>
              </a:rPr>
              <a:t>Inte</a:t>
            </a:r>
            <a:r>
              <a:rPr sz="1550" spc="5" dirty="0">
                <a:latin typeface="Arial"/>
                <a:cs typeface="Arial"/>
              </a:rPr>
              <a:t>r</a:t>
            </a:r>
            <a:r>
              <a:rPr sz="1550" spc="-5" dirty="0">
                <a:latin typeface="Arial"/>
                <a:cs typeface="Arial"/>
              </a:rPr>
              <a:t>fa</a:t>
            </a:r>
            <a:r>
              <a:rPr sz="1550" spc="10" dirty="0">
                <a:latin typeface="Arial"/>
                <a:cs typeface="Arial"/>
              </a:rPr>
              <a:t>c</a:t>
            </a:r>
            <a:r>
              <a:rPr sz="1550" dirty="0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3B3354E-A9F5-27AE-EDF9-6E6ECE6B1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5"/>
              <a:t>K</a:t>
            </a:r>
            <a:r>
              <a:rPr lang="en-GB" spc="-10"/>
              <a:t>i</a:t>
            </a:r>
            <a:r>
              <a:rPr lang="en-GB" spc="-15">
                <a:latin typeface="Arial"/>
                <a:cs typeface="Arial"/>
              </a:rPr>
              <a:t>ể</a:t>
            </a:r>
            <a:r>
              <a:rPr lang="en-GB" spc="-20"/>
              <a:t>u</a:t>
            </a:r>
            <a:r>
              <a:rPr lang="en-GB" spc="-60"/>
              <a:t> </a:t>
            </a:r>
            <a:r>
              <a:rPr lang="en-GB" spc="-10"/>
              <a:t>d</a:t>
            </a:r>
            <a:r>
              <a:rPr lang="en-GB" spc="-20">
                <a:latin typeface="Arial"/>
                <a:cs typeface="Arial"/>
              </a:rPr>
              <a:t>ữ</a:t>
            </a:r>
            <a:r>
              <a:rPr lang="en-GB" spc="-55">
                <a:latin typeface="Arial"/>
                <a:cs typeface="Arial"/>
              </a:rPr>
              <a:t> </a:t>
            </a:r>
            <a:r>
              <a:rPr lang="en-GB" spc="-10"/>
              <a:t>li</a:t>
            </a:r>
            <a:r>
              <a:rPr lang="en-GB" spc="-15">
                <a:latin typeface="Arial"/>
                <a:cs typeface="Arial"/>
              </a:rPr>
              <a:t>ệ</a:t>
            </a:r>
            <a:r>
              <a:rPr lang="en-GB" spc="-20"/>
              <a:t>u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ACA4E-A57B-F30C-B762-D29F29FA3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367214-8BFB-3413-AFC7-B9EFEC1C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7848600" cy="1524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2pPr>
            <a:lvl3pPr marL="9715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14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4pPr>
            <a:lvl5pPr marL="16002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5pPr>
            <a:lvl6pPr marL="20574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6pPr>
            <a:lvl7pPr marL="25146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7pPr>
            <a:lvl8pPr marL="29718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8pPr>
            <a:lvl9pPr marL="34290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en-US" sz="2000" b="0" kern="0">
                <a:latin typeface="Courier New" pitchFamily="49" charset="0"/>
              </a:rPr>
              <a:t>int x;                     </a:t>
            </a:r>
            <a:r>
              <a:rPr lang="en-US" altLang="en-US" sz="2000" b="0" kern="0">
                <a:solidFill>
                  <a:srgbClr val="339933"/>
                </a:solidFill>
                <a:latin typeface="Courier New" pitchFamily="49" charset="0"/>
              </a:rPr>
              <a:t>//primitive type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2000" b="0" kern="0">
                <a:latin typeface="Courier New" pitchFamily="49" charset="0"/>
              </a:rPr>
              <a:t>String str;                </a:t>
            </a:r>
            <a:r>
              <a:rPr lang="en-US" altLang="en-US" sz="2000" b="0" kern="0">
                <a:solidFill>
                  <a:srgbClr val="339933"/>
                </a:solidFill>
                <a:latin typeface="Courier New" pitchFamily="49" charset="0"/>
              </a:rPr>
              <a:t>//Reference type</a:t>
            </a:r>
            <a:r>
              <a:rPr lang="en-US" altLang="en-US" sz="2000" b="0" kern="0">
                <a:latin typeface="Courier New" pitchFamily="49" charset="0"/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2000" b="0" kern="0">
                <a:latin typeface="Courier New" pitchFamily="49" charset="0"/>
              </a:rPr>
              <a:t>x = 45;                    </a:t>
            </a:r>
            <a:r>
              <a:rPr lang="en-US" altLang="en-US" sz="2000" b="0" kern="0">
                <a:solidFill>
                  <a:srgbClr val="339933"/>
                </a:solidFill>
                <a:latin typeface="Courier New" pitchFamily="49" charset="0"/>
              </a:rPr>
              <a:t>//gán trị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2000" b="0" kern="0">
                <a:latin typeface="Courier New" pitchFamily="49" charset="0"/>
              </a:rPr>
              <a:t>str = "Java Programming";  </a:t>
            </a:r>
            <a:r>
              <a:rPr lang="en-US" altLang="en-US" sz="2000" b="0" kern="0">
                <a:solidFill>
                  <a:srgbClr val="339933"/>
                </a:solidFill>
                <a:latin typeface="Courier New" pitchFamily="49" charset="0"/>
              </a:rPr>
              <a:t>//gán trị</a:t>
            </a:r>
          </a:p>
          <a:p>
            <a:pPr>
              <a:buFont typeface="Wingdings" pitchFamily="2" charset="2"/>
              <a:buNone/>
              <a:defRPr/>
            </a:pPr>
            <a:endParaRPr lang="en-US" altLang="en-US" sz="2000" b="0" kern="0">
              <a:latin typeface="Courier New" pitchFamily="49" charset="0"/>
            </a:endParaRPr>
          </a:p>
        </p:txBody>
      </p:sp>
      <p:pic>
        <p:nvPicPr>
          <p:cNvPr id="16389" name="Picture 9" descr="Fig03-01">
            <a:extLst>
              <a:ext uri="{FF2B5EF4-FFF2-40B4-BE49-F238E27FC236}">
                <a16:creationId xmlns:a16="http://schemas.microsoft.com/office/drawing/2014/main" id="{B4906988-687D-1371-759A-CEC66606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90800"/>
            <a:ext cx="70866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90" name="Picture 12" descr="Fig03-02">
            <a:extLst>
              <a:ext uri="{FF2B5EF4-FFF2-40B4-BE49-F238E27FC236}">
                <a16:creationId xmlns:a16="http://schemas.microsoft.com/office/drawing/2014/main" id="{D6895E2A-432E-FCFD-F17B-BEC79F6B6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0"/>
            <a:ext cx="731520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DDF8B3-B4D1-F561-AE3A-845BE69ACF71}"/>
              </a:ext>
            </a:extLst>
          </p:cNvPr>
          <p:cNvCxnSpPr/>
          <p:nvPr/>
        </p:nvCxnSpPr>
        <p:spPr bwMode="auto">
          <a:xfrm flipV="1">
            <a:off x="3733800" y="5181600"/>
            <a:ext cx="800100" cy="11271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913F-133C-1560-0971-82746E54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vi-VN" spc="-25"/>
              <a:t>C</a:t>
            </a:r>
            <a:r>
              <a:rPr lang="vi-VN" spc="-10"/>
              <a:t>hu</a:t>
            </a:r>
            <a:r>
              <a:rPr lang="vi-VN" spc="-85"/>
              <a:t>y</a:t>
            </a:r>
            <a:r>
              <a:rPr lang="vi-VN" spc="-15">
                <a:cs typeface="Arial"/>
              </a:rPr>
              <a:t>ể</a:t>
            </a:r>
            <a:r>
              <a:rPr lang="vi-VN" spc="-20"/>
              <a:t>n</a:t>
            </a:r>
            <a:r>
              <a:rPr lang="vi-VN" spc="-40"/>
              <a:t> </a:t>
            </a:r>
            <a:r>
              <a:rPr lang="vi-VN" spc="-10"/>
              <a:t>đ</a:t>
            </a:r>
            <a:r>
              <a:rPr lang="vi-VN" spc="-10">
                <a:cs typeface="Arial"/>
              </a:rPr>
              <a:t>ổ</a:t>
            </a:r>
            <a:r>
              <a:rPr lang="vi-VN" spc="-10"/>
              <a:t>i</a:t>
            </a:r>
            <a:r>
              <a:rPr lang="vi-VN" spc="-70"/>
              <a:t> </a:t>
            </a:r>
            <a:r>
              <a:rPr lang="vi-VN" spc="-15"/>
              <a:t>ki</a:t>
            </a:r>
            <a:r>
              <a:rPr lang="vi-VN" spc="-15">
                <a:cs typeface="Arial"/>
              </a:rPr>
              <a:t>ể</a:t>
            </a:r>
            <a:r>
              <a:rPr lang="vi-VN" spc="-20"/>
              <a:t>u</a:t>
            </a:r>
            <a:r>
              <a:rPr lang="vi-VN" spc="-40"/>
              <a:t> </a:t>
            </a:r>
            <a:r>
              <a:rPr lang="vi-VN" spc="-10"/>
              <a:t>d</a:t>
            </a:r>
            <a:r>
              <a:rPr lang="vi-VN" spc="-20">
                <a:cs typeface="Arial"/>
              </a:rPr>
              <a:t>ữ</a:t>
            </a:r>
            <a:r>
              <a:rPr lang="vi-VN" spc="-55">
                <a:cs typeface="Arial"/>
              </a:rPr>
              <a:t> </a:t>
            </a:r>
            <a:r>
              <a:rPr lang="vi-VN" spc="-10"/>
              <a:t>li</a:t>
            </a:r>
            <a:r>
              <a:rPr lang="vi-VN" spc="-15">
                <a:cs typeface="Arial"/>
              </a:rPr>
              <a:t>ệ</a:t>
            </a:r>
            <a:r>
              <a:rPr lang="vi-VN" spc="-20"/>
              <a:t>u</a:t>
            </a:r>
            <a:endParaRPr lang="en-GB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3C7E19A-C5C1-AE23-BDB8-1CDC860A6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6225" indent="-263525">
              <a:lnSpc>
                <a:spcPct val="121000"/>
              </a:lnSpc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800">
                <a:cs typeface="Arial" panose="020B0604020202020204" pitchFamily="34" charset="0"/>
              </a:rPr>
              <a:t>Khi  có  sự </a:t>
            </a:r>
            <a:r>
              <a:rPr lang="vi-VN" altLang="en-US" sz="1800">
                <a:solidFill>
                  <a:srgbClr val="0000FF"/>
                </a:solidFill>
                <a:cs typeface="Arial" panose="020B0604020202020204" pitchFamily="34" charset="0"/>
              </a:rPr>
              <a:t>không  tương thích  </a:t>
            </a:r>
            <a:r>
              <a:rPr lang="vi-VN" altLang="en-US" sz="1800">
                <a:cs typeface="Arial" panose="020B0604020202020204" pitchFamily="34" charset="0"/>
              </a:rPr>
              <a:t>về kiểu  dữ  liệu  (gán,  tính toán biểu thức, truyền </a:t>
            </a:r>
            <a:r>
              <a:rPr lang="en-US" altLang="en-US" sz="1800">
                <a:cs typeface="Arial" panose="020B0604020202020204" pitchFamily="34" charset="0"/>
              </a:rPr>
              <a:t>đ</a:t>
            </a:r>
            <a:r>
              <a:rPr lang="vi-VN" altLang="en-US" sz="1800">
                <a:cs typeface="Arial" panose="020B0604020202020204" pitchFamily="34" charset="0"/>
              </a:rPr>
              <a:t>ối số gọi phương thức)</a:t>
            </a:r>
          </a:p>
          <a:p>
            <a:pPr marL="587375" lvl="1" indent="-219075">
              <a:spcBef>
                <a:spcPts val="900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800">
                <a:cs typeface="Arial" panose="020B0604020202020204" pitchFamily="34" charset="0"/>
              </a:rPr>
              <a:t>Chuyển kiểu hẹp (lớn </a:t>
            </a:r>
            <a:r>
              <a:rPr lang="vi-VN" altLang="en-US" sz="180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</a:t>
            </a:r>
            <a:r>
              <a:rPr lang="vi-V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1800">
                <a:cs typeface="Arial" panose="020B0604020202020204" pitchFamily="34" charset="0"/>
              </a:rPr>
              <a:t>nhỏ): </a:t>
            </a:r>
            <a:r>
              <a:rPr lang="vi-VN" altLang="en-US" sz="1800">
                <a:solidFill>
                  <a:srgbClr val="0000FF"/>
                </a:solidFill>
                <a:cs typeface="Arial" panose="020B0604020202020204" pitchFamily="34" charset="0"/>
              </a:rPr>
              <a:t>cần ép kiểu</a:t>
            </a:r>
            <a:endParaRPr lang="vi-VN" altLang="en-US" sz="1800">
              <a:cs typeface="Arial" panose="020B0604020202020204" pitchFamily="34" charset="0"/>
            </a:endParaRPr>
          </a:p>
          <a:p>
            <a:pPr marL="962025" lvl="2" indent="-263525">
              <a:spcBef>
                <a:spcPts val="925"/>
              </a:spcBef>
              <a:tabLst>
                <a:tab pos="277813" algn="l"/>
              </a:tabLst>
            </a:pPr>
            <a:r>
              <a:rPr lang="vi-VN" altLang="en-US" sz="1800">
                <a:solidFill>
                  <a:srgbClr val="0000FF"/>
                </a:solidFill>
                <a:cs typeface="Arial" panose="020B0604020202020204" pitchFamily="34" charset="0"/>
              </a:rPr>
              <a:t>&lt;tên biến 2&gt; = (kiểu dữ liệu) &lt;tên biến 1&gt;;</a:t>
            </a:r>
            <a:endParaRPr lang="vi-VN" altLang="en-US" sz="1800">
              <a:cs typeface="Arial" panose="020B0604020202020204" pitchFamily="34" charset="0"/>
            </a:endParaRPr>
          </a:p>
          <a:p>
            <a:pPr marL="587375" lvl="1" indent="-219075">
              <a:spcBef>
                <a:spcPts val="900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800">
                <a:cs typeface="Arial" panose="020B0604020202020204" pitchFamily="34" charset="0"/>
              </a:rPr>
              <a:t>Chuyển kiểu rộng (nhỏ </a:t>
            </a:r>
            <a:r>
              <a:rPr lang="vi-VN" altLang="en-US" sz="180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</a:t>
            </a:r>
            <a:r>
              <a:rPr lang="vi-V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1800">
                <a:cs typeface="Arial" panose="020B0604020202020204" pitchFamily="34" charset="0"/>
              </a:rPr>
              <a:t>lớn): </a:t>
            </a:r>
            <a:r>
              <a:rPr lang="vi-VN" altLang="en-US" sz="1800">
                <a:solidFill>
                  <a:srgbClr val="0000FF"/>
                </a:solidFill>
                <a:cs typeface="Arial" panose="020B0604020202020204" pitchFamily="34" charset="0"/>
              </a:rPr>
              <a:t>tự động chuyển</a:t>
            </a:r>
            <a:endParaRPr lang="vi-VN" altLang="en-US" sz="1800">
              <a:cs typeface="Arial" panose="020B0604020202020204" pitchFamily="34" charset="0"/>
            </a:endParaRPr>
          </a:p>
          <a:p>
            <a:pPr marL="276225" indent="-263525">
              <a:tabLst>
                <a:tab pos="277813" algn="l"/>
              </a:tabLst>
            </a:pP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49B8C-BC7A-2ED9-53A2-FE42F17B34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17413" name="object 16">
            <a:extLst>
              <a:ext uri="{FF2B5EF4-FFF2-40B4-BE49-F238E27FC236}">
                <a16:creationId xmlns:a16="http://schemas.microsoft.com/office/drawing/2014/main" id="{4FB21BC1-DD31-728F-7394-6BC373BAC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078163"/>
            <a:ext cx="6632575" cy="18954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0B9E-AF52-4786-D4F1-B6F9902B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5"/>
              <a:t>K</a:t>
            </a:r>
            <a:r>
              <a:rPr lang="en-GB" spc="-10"/>
              <a:t>i</a:t>
            </a:r>
            <a:r>
              <a:rPr lang="en-GB" spc="-15">
                <a:cs typeface="Arial"/>
              </a:rPr>
              <a:t>ể</a:t>
            </a:r>
            <a:r>
              <a:rPr lang="en-GB" spc="-20"/>
              <a:t>u</a:t>
            </a:r>
            <a:r>
              <a:rPr lang="en-GB" spc="-60"/>
              <a:t> </a:t>
            </a:r>
            <a:r>
              <a:rPr lang="en-GB" spc="-10"/>
              <a:t>d</a:t>
            </a:r>
            <a:r>
              <a:rPr lang="en-GB" spc="-20">
                <a:cs typeface="Arial"/>
              </a:rPr>
              <a:t>ữ</a:t>
            </a:r>
            <a:r>
              <a:rPr lang="en-GB" spc="-55">
                <a:cs typeface="Arial"/>
              </a:rPr>
              <a:t> </a:t>
            </a:r>
            <a:r>
              <a:rPr lang="en-GB" spc="-10"/>
              <a:t>li</a:t>
            </a:r>
            <a:r>
              <a:rPr lang="en-GB" spc="-15">
                <a:cs typeface="Arial"/>
              </a:rPr>
              <a:t>ệ</a:t>
            </a:r>
            <a:r>
              <a:rPr lang="en-GB" spc="-20"/>
              <a:t>u</a:t>
            </a:r>
            <a:r>
              <a:rPr lang="en-GB" spc="-40"/>
              <a:t> </a:t>
            </a:r>
            <a:r>
              <a:rPr lang="en-GB" spc="-5"/>
              <a:t>t</a:t>
            </a:r>
            <a:r>
              <a:rPr lang="en-GB" spc="-10"/>
              <a:t>h</a:t>
            </a:r>
            <a:r>
              <a:rPr lang="en-GB" spc="-20"/>
              <a:t>am</a:t>
            </a:r>
            <a:r>
              <a:rPr lang="en-GB" spc="-60"/>
              <a:t> </a:t>
            </a:r>
            <a:r>
              <a:rPr lang="en-GB" spc="-15"/>
              <a:t>c</a:t>
            </a:r>
            <a:r>
              <a:rPr lang="en-GB" spc="-10"/>
              <a:t>hi</a:t>
            </a:r>
            <a:r>
              <a:rPr lang="en-GB" spc="-15">
                <a:cs typeface="Arial"/>
              </a:rPr>
              <a:t>ế</a:t>
            </a:r>
            <a:r>
              <a:rPr lang="en-GB" spc="-20"/>
              <a:t>u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0F54-3706-EBDF-4D1A-6623C9D8C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00100"/>
            <a:ext cx="7162800" cy="5486400"/>
          </a:xfrm>
        </p:spPr>
        <p:txBody>
          <a:bodyPr/>
          <a:lstStyle/>
          <a:p>
            <a:pPr marL="355600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spc="5">
                <a:solidFill>
                  <a:srgbClr val="0000FF"/>
                </a:solidFill>
                <a:cs typeface="Arial"/>
              </a:rPr>
              <a:t>K</a:t>
            </a:r>
            <a:r>
              <a:rPr lang="en-GB" sz="1600" spc="-10">
                <a:solidFill>
                  <a:srgbClr val="0000FF"/>
                </a:solidFill>
                <a:cs typeface="Arial"/>
              </a:rPr>
              <a:t>i</a:t>
            </a:r>
            <a:r>
              <a:rPr lang="en-GB" sz="1600">
                <a:solidFill>
                  <a:srgbClr val="0000FF"/>
                </a:solidFill>
                <a:cs typeface="Arial"/>
              </a:rPr>
              <a:t>ể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u</a:t>
            </a:r>
            <a:r>
              <a:rPr lang="en-GB" sz="16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5">
                <a:solidFill>
                  <a:srgbClr val="0000FF"/>
                </a:solidFill>
                <a:cs typeface="Arial"/>
              </a:rPr>
              <a:t>m</a:t>
            </a:r>
            <a:r>
              <a:rPr lang="en-GB" sz="1600">
                <a:solidFill>
                  <a:srgbClr val="0000FF"/>
                </a:solidFill>
                <a:cs typeface="Arial"/>
              </a:rPr>
              <a:t>ảng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:</a:t>
            </a: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spc="5">
                <a:cs typeface="Arial"/>
              </a:rPr>
              <a:t>K</a:t>
            </a:r>
            <a:r>
              <a:rPr lang="en-GB" sz="1600">
                <a:cs typeface="Arial"/>
              </a:rPr>
              <a:t>hai</a:t>
            </a:r>
            <a:r>
              <a:rPr lang="en-GB" sz="1600" spc="-20">
                <a:cs typeface="Arial"/>
              </a:rPr>
              <a:t> </a:t>
            </a:r>
            <a:r>
              <a:rPr lang="en-GB" sz="1600">
                <a:cs typeface="Arial"/>
              </a:rPr>
              <a:t>báo</a:t>
            </a:r>
            <a:r>
              <a:rPr lang="en-GB" sz="1600" spc="5">
                <a:cs typeface="Arial"/>
              </a:rPr>
              <a:t>:</a:t>
            </a:r>
          </a:p>
          <a:p>
            <a:pPr marL="1041400" lvl="2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20">
                <a:cs typeface="Arial"/>
              </a:rPr>
              <a:t>&lt;</a:t>
            </a:r>
            <a:r>
              <a:rPr lang="en-GB" sz="1600" i="1" spc="5">
                <a:cs typeface="Arial"/>
              </a:rPr>
              <a:t>k</a:t>
            </a:r>
            <a:r>
              <a:rPr lang="en-GB" sz="1600" i="1" spc="-10">
                <a:cs typeface="Arial"/>
              </a:rPr>
              <a:t>i</a:t>
            </a:r>
            <a:r>
              <a:rPr lang="en-GB" sz="1600" i="1">
                <a:cs typeface="Arial"/>
              </a:rPr>
              <a:t>ể</a:t>
            </a:r>
            <a:r>
              <a:rPr lang="en-GB" sz="1600" i="1" spc="10">
                <a:cs typeface="Arial"/>
              </a:rPr>
              <a:t>u</a:t>
            </a:r>
            <a:r>
              <a:rPr lang="en-GB" sz="1600" i="1" spc="-20">
                <a:cs typeface="Arial"/>
              </a:rPr>
              <a:t> </a:t>
            </a:r>
            <a:r>
              <a:rPr lang="en-GB" sz="1600" i="1">
                <a:cs typeface="Arial"/>
              </a:rPr>
              <a:t>d</a:t>
            </a:r>
            <a:r>
              <a:rPr lang="en-GB" sz="1600" i="1" spc="10">
                <a:cs typeface="Arial"/>
              </a:rPr>
              <a:t>ữ</a:t>
            </a:r>
            <a:r>
              <a:rPr lang="en-GB" sz="1600" i="1">
                <a:cs typeface="Arial"/>
              </a:rPr>
              <a:t> </a:t>
            </a:r>
            <a:r>
              <a:rPr lang="en-GB" sz="1600" i="1" spc="-10">
                <a:cs typeface="Arial"/>
              </a:rPr>
              <a:t>li</a:t>
            </a:r>
            <a:r>
              <a:rPr lang="en-GB" sz="1600" i="1">
                <a:cs typeface="Arial"/>
              </a:rPr>
              <a:t>ệu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 spc="5">
                <a:cs typeface="Arial"/>
              </a:rPr>
              <a:t>] </a:t>
            </a:r>
            <a:r>
              <a:rPr lang="en-GB" sz="1600" i="1" spc="20">
                <a:cs typeface="Arial"/>
              </a:rPr>
              <a:t>&lt;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>
                <a:cs typeface="Arial"/>
              </a:rPr>
              <a:t>ê</a:t>
            </a:r>
            <a:r>
              <a:rPr lang="en-GB" sz="1600" i="1" spc="10">
                <a:cs typeface="Arial"/>
              </a:rPr>
              <a:t>n</a:t>
            </a:r>
            <a:r>
              <a:rPr lang="en-GB" sz="1600" i="1" spc="-45">
                <a:cs typeface="Arial"/>
              </a:rPr>
              <a:t> </a:t>
            </a:r>
            <a:r>
              <a:rPr lang="en-GB" sz="1600" i="1" spc="-10">
                <a:cs typeface="Arial"/>
              </a:rPr>
              <a:t>m</a:t>
            </a:r>
            <a:r>
              <a:rPr lang="en-GB" sz="1600" i="1">
                <a:cs typeface="Arial"/>
              </a:rPr>
              <a:t>ảng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;</a:t>
            </a:r>
            <a:r>
              <a:rPr lang="en-GB" sz="1600" i="1" spc="20"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//</a:t>
            </a:r>
            <a:r>
              <a:rPr lang="en-GB" sz="1600" i="1" spc="-10">
                <a:solidFill>
                  <a:srgbClr val="007F00"/>
                </a:solidFill>
                <a:cs typeface="Arial"/>
              </a:rPr>
              <a:t>m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ản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g</a:t>
            </a:r>
            <a:r>
              <a:rPr lang="en-GB" sz="1600" i="1" spc="-20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1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007F00"/>
                </a:solidFill>
                <a:cs typeface="Arial"/>
              </a:rPr>
              <a:t>c</a:t>
            </a:r>
            <a:r>
              <a:rPr lang="en-GB" sz="1600" i="1" spc="-5">
                <a:solidFill>
                  <a:srgbClr val="007F00"/>
                </a:solidFill>
                <a:cs typeface="Arial"/>
              </a:rPr>
              <a:t>hi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ề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u</a:t>
            </a:r>
          </a:p>
          <a:p>
            <a:pPr marL="1041400" lvl="2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20">
                <a:cs typeface="Arial"/>
              </a:rPr>
              <a:t>&lt;</a:t>
            </a:r>
            <a:r>
              <a:rPr lang="en-GB" sz="1600" i="1" spc="5">
                <a:cs typeface="Arial"/>
              </a:rPr>
              <a:t>k</a:t>
            </a:r>
            <a:r>
              <a:rPr lang="en-GB" sz="1600" i="1" spc="-10">
                <a:cs typeface="Arial"/>
              </a:rPr>
              <a:t>i</a:t>
            </a:r>
            <a:r>
              <a:rPr lang="en-GB" sz="1600" i="1">
                <a:cs typeface="Arial"/>
              </a:rPr>
              <a:t>ể</a:t>
            </a:r>
            <a:r>
              <a:rPr lang="en-GB" sz="1600" i="1" spc="10">
                <a:cs typeface="Arial"/>
              </a:rPr>
              <a:t>u</a:t>
            </a:r>
            <a:r>
              <a:rPr lang="en-GB" sz="1600" i="1" spc="-20">
                <a:cs typeface="Arial"/>
              </a:rPr>
              <a:t> </a:t>
            </a:r>
            <a:r>
              <a:rPr lang="en-GB" sz="1600" i="1">
                <a:cs typeface="Arial"/>
              </a:rPr>
              <a:t>d</a:t>
            </a:r>
            <a:r>
              <a:rPr lang="en-GB" sz="1600" i="1" spc="10">
                <a:cs typeface="Arial"/>
              </a:rPr>
              <a:t>ữ</a:t>
            </a:r>
            <a:r>
              <a:rPr lang="en-GB" sz="1600" i="1">
                <a:cs typeface="Arial"/>
              </a:rPr>
              <a:t> </a:t>
            </a:r>
            <a:r>
              <a:rPr lang="en-GB" sz="1600" i="1" spc="-10">
                <a:cs typeface="Arial"/>
              </a:rPr>
              <a:t>li</a:t>
            </a:r>
            <a:r>
              <a:rPr lang="en-GB" sz="1600" i="1">
                <a:cs typeface="Arial"/>
              </a:rPr>
              <a:t>ệu</a:t>
            </a:r>
            <a:r>
              <a:rPr lang="en-GB" sz="1600" i="1" spc="10">
                <a:cs typeface="Arial"/>
              </a:rPr>
              <a:t>&gt;  </a:t>
            </a:r>
            <a:r>
              <a:rPr lang="en-GB" sz="1600" i="1" spc="20">
                <a:cs typeface="Arial"/>
              </a:rPr>
              <a:t>&lt;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>
                <a:cs typeface="Arial"/>
              </a:rPr>
              <a:t>ê</a:t>
            </a:r>
            <a:r>
              <a:rPr lang="en-GB" sz="1600" i="1" spc="10">
                <a:cs typeface="Arial"/>
              </a:rPr>
              <a:t>n</a:t>
            </a:r>
            <a:r>
              <a:rPr lang="en-GB" sz="1600" i="1" spc="-45">
                <a:cs typeface="Arial"/>
              </a:rPr>
              <a:t> </a:t>
            </a:r>
            <a:r>
              <a:rPr lang="en-GB" sz="1600" i="1" spc="-10">
                <a:cs typeface="Arial"/>
              </a:rPr>
              <a:t>m</a:t>
            </a:r>
            <a:r>
              <a:rPr lang="en-GB" sz="1600" i="1">
                <a:cs typeface="Arial"/>
              </a:rPr>
              <a:t>ảng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20">
                <a:cs typeface="Arial"/>
              </a:rPr>
              <a:t> 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;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//</a:t>
            </a:r>
            <a:r>
              <a:rPr lang="en-GB" sz="1600" i="1" spc="-10">
                <a:solidFill>
                  <a:srgbClr val="007F00"/>
                </a:solidFill>
                <a:cs typeface="Arial"/>
              </a:rPr>
              <a:t>m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ản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g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1</a:t>
            </a:r>
            <a:r>
              <a:rPr lang="en-GB" sz="1600" i="1" spc="-20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007F00"/>
                </a:solidFill>
                <a:cs typeface="Arial"/>
              </a:rPr>
              <a:t>c</a:t>
            </a:r>
            <a:r>
              <a:rPr lang="en-GB" sz="1600" i="1" spc="-5">
                <a:solidFill>
                  <a:srgbClr val="007F00"/>
                </a:solidFill>
                <a:cs typeface="Arial"/>
              </a:rPr>
              <a:t>hi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ề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u</a:t>
            </a:r>
          </a:p>
          <a:p>
            <a:pPr marL="1041400" lvl="2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20">
                <a:cs typeface="Arial"/>
              </a:rPr>
              <a:t>&lt;</a:t>
            </a:r>
            <a:r>
              <a:rPr lang="en-GB" sz="1600" i="1" spc="5">
                <a:cs typeface="Arial"/>
              </a:rPr>
              <a:t>k</a:t>
            </a:r>
            <a:r>
              <a:rPr lang="en-GB" sz="1600" i="1" spc="-10">
                <a:cs typeface="Arial"/>
              </a:rPr>
              <a:t>i</a:t>
            </a:r>
            <a:r>
              <a:rPr lang="en-GB" sz="1600" i="1">
                <a:cs typeface="Arial"/>
              </a:rPr>
              <a:t>ể</a:t>
            </a:r>
            <a:r>
              <a:rPr lang="en-GB" sz="1600" i="1" spc="10">
                <a:cs typeface="Arial"/>
              </a:rPr>
              <a:t>u</a:t>
            </a:r>
            <a:r>
              <a:rPr lang="en-GB" sz="1600" i="1" spc="-20">
                <a:cs typeface="Arial"/>
              </a:rPr>
              <a:t> </a:t>
            </a:r>
            <a:r>
              <a:rPr lang="en-GB" sz="1600" i="1">
                <a:cs typeface="Arial"/>
              </a:rPr>
              <a:t>d</a:t>
            </a:r>
            <a:r>
              <a:rPr lang="en-GB" sz="1600" i="1" spc="10">
                <a:cs typeface="Arial"/>
              </a:rPr>
              <a:t>ữ</a:t>
            </a:r>
            <a:r>
              <a:rPr lang="en-GB" sz="1600" i="1">
                <a:cs typeface="Arial"/>
              </a:rPr>
              <a:t> </a:t>
            </a:r>
            <a:r>
              <a:rPr lang="en-GB" sz="1600" i="1" spc="-10">
                <a:cs typeface="Arial"/>
              </a:rPr>
              <a:t>li</a:t>
            </a:r>
            <a:r>
              <a:rPr lang="en-GB" sz="1600" i="1">
                <a:cs typeface="Arial"/>
              </a:rPr>
              <a:t>ệu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5">
                <a:cs typeface="Arial"/>
              </a:rPr>
              <a:t>] </a:t>
            </a:r>
            <a:r>
              <a:rPr lang="en-GB" sz="1600" i="1" spc="20">
                <a:cs typeface="Arial"/>
              </a:rPr>
              <a:t>&lt;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>
                <a:cs typeface="Arial"/>
              </a:rPr>
              <a:t>ê</a:t>
            </a:r>
            <a:r>
              <a:rPr lang="en-GB" sz="1600" i="1" spc="10">
                <a:cs typeface="Arial"/>
              </a:rPr>
              <a:t>n</a:t>
            </a:r>
            <a:r>
              <a:rPr lang="en-GB" sz="1600" i="1" spc="-45">
                <a:cs typeface="Arial"/>
              </a:rPr>
              <a:t> </a:t>
            </a:r>
            <a:r>
              <a:rPr lang="en-GB" sz="1600" i="1" spc="-10">
                <a:cs typeface="Arial"/>
              </a:rPr>
              <a:t>m</a:t>
            </a:r>
            <a:r>
              <a:rPr lang="en-GB" sz="1600" i="1">
                <a:cs typeface="Arial"/>
              </a:rPr>
              <a:t>ảng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;</a:t>
            </a:r>
            <a:r>
              <a:rPr lang="en-GB" sz="1600" i="1" spc="20"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//</a:t>
            </a:r>
            <a:r>
              <a:rPr lang="en-GB" sz="1600" i="1" spc="-10">
                <a:solidFill>
                  <a:srgbClr val="007F00"/>
                </a:solidFill>
                <a:cs typeface="Arial"/>
              </a:rPr>
              <a:t>m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ản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g</a:t>
            </a:r>
            <a:r>
              <a:rPr lang="en-GB" sz="1600" i="1" spc="-20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2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007F00"/>
                </a:solidFill>
                <a:cs typeface="Arial"/>
              </a:rPr>
              <a:t>c</a:t>
            </a:r>
            <a:r>
              <a:rPr lang="en-GB" sz="1600" i="1" spc="-5">
                <a:solidFill>
                  <a:srgbClr val="007F00"/>
                </a:solidFill>
                <a:cs typeface="Arial"/>
              </a:rPr>
              <a:t>hi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ề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u</a:t>
            </a:r>
          </a:p>
          <a:p>
            <a:pPr marL="1041400" lvl="2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20">
                <a:cs typeface="Arial"/>
              </a:rPr>
              <a:t>&lt;</a:t>
            </a:r>
            <a:r>
              <a:rPr lang="en-GB" sz="1600" i="1" spc="5">
                <a:cs typeface="Arial"/>
              </a:rPr>
              <a:t>k</a:t>
            </a:r>
            <a:r>
              <a:rPr lang="en-GB" sz="1600" i="1" spc="-10">
                <a:cs typeface="Arial"/>
              </a:rPr>
              <a:t>i</a:t>
            </a:r>
            <a:r>
              <a:rPr lang="en-GB" sz="1600" i="1">
                <a:cs typeface="Arial"/>
              </a:rPr>
              <a:t>ể</a:t>
            </a:r>
            <a:r>
              <a:rPr lang="en-GB" sz="1600" i="1" spc="10">
                <a:cs typeface="Arial"/>
              </a:rPr>
              <a:t>u</a:t>
            </a:r>
            <a:r>
              <a:rPr lang="en-GB" sz="1600" i="1" spc="-20">
                <a:cs typeface="Arial"/>
              </a:rPr>
              <a:t> </a:t>
            </a:r>
            <a:r>
              <a:rPr lang="en-GB" sz="1600" i="1">
                <a:cs typeface="Arial"/>
              </a:rPr>
              <a:t>d</a:t>
            </a:r>
            <a:r>
              <a:rPr lang="en-GB" sz="1600" i="1" spc="10">
                <a:cs typeface="Arial"/>
              </a:rPr>
              <a:t>ữ</a:t>
            </a:r>
            <a:r>
              <a:rPr lang="en-GB" sz="1600" i="1">
                <a:cs typeface="Arial"/>
              </a:rPr>
              <a:t> </a:t>
            </a:r>
            <a:r>
              <a:rPr lang="en-GB" sz="1600" i="1" spc="-10">
                <a:cs typeface="Arial"/>
              </a:rPr>
              <a:t>li</a:t>
            </a:r>
            <a:r>
              <a:rPr lang="en-GB" sz="1600" i="1">
                <a:cs typeface="Arial"/>
              </a:rPr>
              <a:t>ệu</a:t>
            </a:r>
            <a:r>
              <a:rPr lang="en-GB" sz="1600" i="1" spc="10">
                <a:cs typeface="Arial"/>
              </a:rPr>
              <a:t>&gt;  </a:t>
            </a:r>
            <a:r>
              <a:rPr lang="en-GB" sz="1600" i="1" spc="20">
                <a:cs typeface="Arial"/>
              </a:rPr>
              <a:t>&lt;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>
                <a:cs typeface="Arial"/>
              </a:rPr>
              <a:t>ê</a:t>
            </a:r>
            <a:r>
              <a:rPr lang="en-GB" sz="1600" i="1" spc="10">
                <a:cs typeface="Arial"/>
              </a:rPr>
              <a:t>n</a:t>
            </a:r>
            <a:r>
              <a:rPr lang="en-GB" sz="1600" i="1" spc="-45">
                <a:cs typeface="Arial"/>
              </a:rPr>
              <a:t> </a:t>
            </a:r>
            <a:r>
              <a:rPr lang="en-GB" sz="1600" i="1" spc="-10">
                <a:cs typeface="Arial"/>
              </a:rPr>
              <a:t>m</a:t>
            </a:r>
            <a:r>
              <a:rPr lang="en-GB" sz="1600" i="1">
                <a:cs typeface="Arial"/>
              </a:rPr>
              <a:t>ảng</a:t>
            </a:r>
            <a:r>
              <a:rPr lang="en-GB" sz="1600" i="1" spc="20">
                <a:cs typeface="Arial"/>
              </a:rPr>
              <a:t>&gt;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20">
                <a:cs typeface="Arial"/>
              </a:rPr>
              <a:t> 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;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//</a:t>
            </a:r>
            <a:r>
              <a:rPr lang="en-GB" sz="1600" i="1" spc="-10">
                <a:solidFill>
                  <a:srgbClr val="007F00"/>
                </a:solidFill>
                <a:cs typeface="Arial"/>
              </a:rPr>
              <a:t>m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ản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g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2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007F00"/>
                </a:solidFill>
                <a:cs typeface="Arial"/>
              </a:rPr>
              <a:t>c</a:t>
            </a:r>
            <a:r>
              <a:rPr lang="en-GB" sz="1600" i="1" spc="-5">
                <a:solidFill>
                  <a:srgbClr val="007F00"/>
                </a:solidFill>
                <a:cs typeface="Arial"/>
              </a:rPr>
              <a:t>hi</a:t>
            </a:r>
            <a:r>
              <a:rPr lang="en-GB" sz="1600" i="1">
                <a:solidFill>
                  <a:srgbClr val="007F00"/>
                </a:solidFill>
                <a:cs typeface="Arial"/>
              </a:rPr>
              <a:t>ề</a:t>
            </a:r>
            <a:r>
              <a:rPr lang="en-GB" sz="1600" i="1" spc="10">
                <a:solidFill>
                  <a:srgbClr val="007F00"/>
                </a:solidFill>
                <a:cs typeface="Arial"/>
              </a:rPr>
              <a:t>u</a:t>
            </a:r>
          </a:p>
          <a:p>
            <a:pPr marL="355600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spc="5">
                <a:solidFill>
                  <a:srgbClr val="0000FF"/>
                </a:solidFill>
                <a:cs typeface="Arial"/>
              </a:rPr>
              <a:t>K</a:t>
            </a:r>
            <a:r>
              <a:rPr lang="en-GB" sz="1600">
                <a:solidFill>
                  <a:srgbClr val="0000FF"/>
                </a:solidFill>
                <a:cs typeface="Arial"/>
              </a:rPr>
              <a:t>h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ở</a:t>
            </a:r>
            <a:r>
              <a:rPr lang="en-GB" sz="1600">
                <a:solidFill>
                  <a:srgbClr val="0000FF"/>
                </a:solidFill>
                <a:cs typeface="Arial"/>
              </a:rPr>
              <a:t>i</a:t>
            </a:r>
            <a:r>
              <a:rPr lang="en-GB" sz="16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t</a:t>
            </a:r>
            <a:r>
              <a:rPr lang="en-GB" sz="1600">
                <a:solidFill>
                  <a:srgbClr val="0000FF"/>
                </a:solidFill>
                <a:cs typeface="Arial"/>
              </a:rPr>
              <a:t>ạ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o</a:t>
            </a:r>
            <a:r>
              <a:rPr lang="en-GB" sz="16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5">
                <a:solidFill>
                  <a:srgbClr val="0000FF"/>
                </a:solidFill>
                <a:cs typeface="Arial"/>
              </a:rPr>
              <a:t>m</a:t>
            </a:r>
            <a:r>
              <a:rPr lang="en-GB" sz="1600">
                <a:solidFill>
                  <a:srgbClr val="0000FF"/>
                </a:solidFill>
                <a:cs typeface="Arial"/>
              </a:rPr>
              <a:t>ảng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:</a:t>
            </a:r>
            <a:endParaRPr lang="en-GB" sz="1600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-5">
                <a:cs typeface="Arial"/>
              </a:rPr>
              <a:t>in</a:t>
            </a:r>
            <a:r>
              <a:rPr lang="en-GB" sz="1600" i="1" spc="5">
                <a:cs typeface="Arial"/>
              </a:rPr>
              <a:t>t</a:t>
            </a:r>
            <a:r>
              <a:rPr lang="en-GB" sz="1600" i="1">
                <a:cs typeface="Arial"/>
              </a:rPr>
              <a:t>	    a</a:t>
            </a:r>
            <a:r>
              <a:rPr lang="en-GB" sz="1600" i="1" spc="5">
                <a:cs typeface="Arial"/>
              </a:rPr>
              <a:t>rr</a:t>
            </a:r>
            <a:r>
              <a:rPr lang="en-GB" sz="1600" i="1" spc="10">
                <a:cs typeface="Arial"/>
              </a:rPr>
              <a:t>I</a:t>
            </a:r>
            <a:r>
              <a:rPr lang="en-GB" sz="1600" i="1">
                <a:cs typeface="Arial"/>
              </a:rPr>
              <a:t>n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55">
                <a:cs typeface="Arial"/>
              </a:rPr>
              <a:t> </a:t>
            </a:r>
            <a:r>
              <a:rPr lang="en-GB" sz="1600" i="1" spc="5">
                <a:cs typeface="Arial"/>
              </a:rPr>
              <a:t>] </a:t>
            </a:r>
            <a:r>
              <a:rPr lang="en-GB" sz="1600" i="1" spc="10">
                <a:cs typeface="Arial"/>
              </a:rPr>
              <a:t>=</a:t>
            </a:r>
            <a:r>
              <a:rPr lang="en-GB" sz="1600" i="1" spc="-25">
                <a:cs typeface="Arial"/>
              </a:rPr>
              <a:t> </a:t>
            </a:r>
            <a:r>
              <a:rPr lang="en-GB" sz="1600" i="1">
                <a:cs typeface="Arial"/>
              </a:rPr>
              <a:t>{1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>
                <a:cs typeface="Arial"/>
              </a:rPr>
              <a:t>2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>
                <a:cs typeface="Arial"/>
              </a:rPr>
              <a:t>3}</a:t>
            </a:r>
            <a:r>
              <a:rPr lang="en-GB" sz="1600" i="1" spc="5">
                <a:cs typeface="Arial"/>
              </a:rPr>
              <a:t>;</a:t>
            </a: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5">
                <a:cs typeface="Arial"/>
              </a:rPr>
              <a:t>c</a:t>
            </a:r>
            <a:r>
              <a:rPr lang="en-GB" sz="1600" i="1">
                <a:cs typeface="Arial"/>
              </a:rPr>
              <a:t>ha</a:t>
            </a:r>
            <a:r>
              <a:rPr lang="en-GB" sz="1600" i="1" spc="5">
                <a:cs typeface="Arial"/>
              </a:rPr>
              <a:t>r</a:t>
            </a:r>
            <a:r>
              <a:rPr lang="en-GB" sz="1600" i="1">
                <a:cs typeface="Arial"/>
              </a:rPr>
              <a:t>	a</a:t>
            </a:r>
            <a:r>
              <a:rPr lang="en-GB" sz="1600" i="1" spc="5">
                <a:cs typeface="Arial"/>
              </a:rPr>
              <a:t>rr</a:t>
            </a:r>
            <a:r>
              <a:rPr lang="en-GB" sz="1600" i="1">
                <a:cs typeface="Arial"/>
              </a:rPr>
              <a:t>Cha</a:t>
            </a:r>
            <a:r>
              <a:rPr lang="en-GB" sz="1600" i="1" spc="5">
                <a:cs typeface="Arial"/>
              </a:rPr>
              <a:t>r[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 spc="5">
                <a:cs typeface="Arial"/>
              </a:rPr>
              <a:t>]</a:t>
            </a:r>
            <a:r>
              <a:rPr lang="en-GB" sz="1600" i="1" spc="10">
                <a:cs typeface="Arial"/>
              </a:rPr>
              <a:t> =</a:t>
            </a:r>
            <a:r>
              <a:rPr lang="en-GB" sz="1600" i="1" spc="-25">
                <a:cs typeface="Arial"/>
              </a:rPr>
              <a:t> </a:t>
            </a:r>
            <a:r>
              <a:rPr lang="en-GB" sz="1600" i="1">
                <a:cs typeface="Arial"/>
              </a:rPr>
              <a:t>{</a:t>
            </a:r>
            <a:r>
              <a:rPr lang="en-GB" sz="1600" i="1" spc="-35">
                <a:cs typeface="Arial"/>
              </a:rPr>
              <a:t>‘</a:t>
            </a:r>
            <a:r>
              <a:rPr lang="en-GB" sz="1600" i="1">
                <a:cs typeface="Arial"/>
              </a:rPr>
              <a:t>a</a:t>
            </a:r>
            <a:r>
              <a:rPr lang="en-GB" sz="1600" i="1" spc="-35">
                <a:cs typeface="Arial"/>
              </a:rPr>
              <a:t>’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65">
                <a:cs typeface="Arial"/>
              </a:rPr>
              <a:t> </a:t>
            </a:r>
            <a:r>
              <a:rPr lang="en-GB" sz="1600" i="1" spc="-35">
                <a:cs typeface="Arial"/>
              </a:rPr>
              <a:t>‘</a:t>
            </a:r>
            <a:r>
              <a:rPr lang="en-GB" sz="1600" i="1">
                <a:cs typeface="Arial"/>
              </a:rPr>
              <a:t>b</a:t>
            </a:r>
            <a:r>
              <a:rPr lang="en-GB" sz="1600" i="1" spc="-35">
                <a:cs typeface="Arial"/>
              </a:rPr>
              <a:t>’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65">
                <a:cs typeface="Arial"/>
              </a:rPr>
              <a:t> </a:t>
            </a:r>
            <a:r>
              <a:rPr lang="en-GB" sz="1600" i="1" spc="-35">
                <a:cs typeface="Arial"/>
              </a:rPr>
              <a:t>‘</a:t>
            </a:r>
            <a:r>
              <a:rPr lang="en-GB" sz="1600" i="1" spc="5">
                <a:cs typeface="Arial"/>
              </a:rPr>
              <a:t>c</a:t>
            </a:r>
            <a:r>
              <a:rPr lang="en-GB" sz="1600" i="1" spc="-35">
                <a:cs typeface="Arial"/>
              </a:rPr>
              <a:t>’</a:t>
            </a:r>
            <a:r>
              <a:rPr lang="en-GB" sz="1600" i="1">
                <a:cs typeface="Arial"/>
              </a:rPr>
              <a:t>}</a:t>
            </a:r>
            <a:r>
              <a:rPr lang="en-GB" sz="1600" i="1" spc="5">
                <a:cs typeface="Arial"/>
              </a:rPr>
              <a:t>;</a:t>
            </a:r>
            <a:endParaRPr lang="en-GB" sz="1600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r>
              <a:rPr lang="en-GB" sz="1600" i="1" spc="5">
                <a:cs typeface="Arial"/>
              </a:rPr>
              <a:t>S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 spc="5">
                <a:cs typeface="Arial"/>
              </a:rPr>
              <a:t>r</a:t>
            </a:r>
            <a:r>
              <a:rPr lang="en-GB" sz="1600" i="1" spc="-5">
                <a:cs typeface="Arial"/>
              </a:rPr>
              <a:t>in</a:t>
            </a:r>
            <a:r>
              <a:rPr lang="en-GB" sz="1600" i="1" spc="10">
                <a:cs typeface="Arial"/>
              </a:rPr>
              <a:t>g</a:t>
            </a:r>
            <a:r>
              <a:rPr lang="en-GB" sz="1600" i="1" spc="195">
                <a:cs typeface="Arial"/>
              </a:rPr>
              <a:t>   </a:t>
            </a:r>
            <a:r>
              <a:rPr lang="en-GB" sz="1600" i="1">
                <a:cs typeface="Arial"/>
              </a:rPr>
              <a:t>a</a:t>
            </a:r>
            <a:r>
              <a:rPr lang="en-GB" sz="1600" i="1" spc="5">
                <a:cs typeface="Arial"/>
              </a:rPr>
              <a:t>rrS</a:t>
            </a:r>
            <a:r>
              <a:rPr lang="en-GB" sz="1600" i="1" spc="10">
                <a:cs typeface="Arial"/>
              </a:rPr>
              <a:t>t</a:t>
            </a:r>
            <a:r>
              <a:rPr lang="en-GB" sz="1600" i="1" spc="5">
                <a:cs typeface="Arial"/>
              </a:rPr>
              <a:t>r</a:t>
            </a:r>
            <a:r>
              <a:rPr lang="en-GB" sz="1600" i="1" spc="-5">
                <a:cs typeface="Arial"/>
              </a:rPr>
              <a:t>ing</a:t>
            </a:r>
            <a:r>
              <a:rPr lang="en-GB" sz="1600" i="1" spc="5">
                <a:cs typeface="Arial"/>
              </a:rPr>
              <a:t>[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5">
                <a:cs typeface="Arial"/>
              </a:rPr>
              <a:t>]</a:t>
            </a:r>
            <a:r>
              <a:rPr lang="en-GB" sz="1600" i="1" spc="10">
                <a:cs typeface="Arial"/>
              </a:rPr>
              <a:t> =</a:t>
            </a:r>
            <a:r>
              <a:rPr lang="en-GB" sz="1600" i="1" spc="-25">
                <a:cs typeface="Arial"/>
              </a:rPr>
              <a:t> </a:t>
            </a:r>
            <a:r>
              <a:rPr lang="en-GB" sz="1600" i="1">
                <a:cs typeface="Arial"/>
              </a:rPr>
              <a:t>{</a:t>
            </a:r>
            <a:r>
              <a:rPr lang="en-GB" sz="1600" i="1" spc="5">
                <a:cs typeface="Arial"/>
              </a:rPr>
              <a:t>“AB</a:t>
            </a:r>
            <a:r>
              <a:rPr lang="en-GB" sz="1600" i="1">
                <a:cs typeface="Arial"/>
              </a:rPr>
              <a:t>C</a:t>
            </a:r>
            <a:r>
              <a:rPr lang="en-GB" sz="1600" i="1" spc="-45">
                <a:cs typeface="Arial"/>
              </a:rPr>
              <a:t>”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20">
                <a:cs typeface="Arial"/>
              </a:rPr>
              <a:t> </a:t>
            </a:r>
            <a:r>
              <a:rPr lang="en-GB" sz="1600" i="1" spc="5">
                <a:cs typeface="Arial"/>
              </a:rPr>
              <a:t>“E</a:t>
            </a:r>
            <a:r>
              <a:rPr lang="en-GB" sz="1600" i="1" spc="15">
                <a:cs typeface="Arial"/>
              </a:rPr>
              <a:t>FG</a:t>
            </a:r>
            <a:r>
              <a:rPr lang="en-GB" sz="1600" i="1" spc="-45">
                <a:cs typeface="Arial"/>
              </a:rPr>
              <a:t>”</a:t>
            </a:r>
            <a:r>
              <a:rPr lang="en-GB" sz="1600" i="1" spc="5">
                <a:cs typeface="Arial"/>
              </a:rPr>
              <a:t>,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 spc="5">
                <a:cs typeface="Arial"/>
              </a:rPr>
              <a:t>“</a:t>
            </a:r>
            <a:r>
              <a:rPr lang="en-GB" sz="1600" i="1" spc="15">
                <a:cs typeface="Arial"/>
              </a:rPr>
              <a:t>G</a:t>
            </a:r>
            <a:r>
              <a:rPr lang="en-GB" sz="1600" i="1">
                <a:cs typeface="Arial"/>
              </a:rPr>
              <a:t>H</a:t>
            </a:r>
            <a:r>
              <a:rPr lang="en-GB" sz="1600" i="1" spc="10">
                <a:cs typeface="Arial"/>
              </a:rPr>
              <a:t>I</a:t>
            </a:r>
            <a:r>
              <a:rPr lang="en-GB" sz="1600" i="1" spc="-45">
                <a:cs typeface="Arial"/>
              </a:rPr>
              <a:t>”</a:t>
            </a:r>
            <a:r>
              <a:rPr lang="en-GB" sz="1600" i="1">
                <a:cs typeface="Arial"/>
              </a:rPr>
              <a:t>}</a:t>
            </a:r>
            <a:r>
              <a:rPr lang="en-GB" sz="1600" i="1" spc="5">
                <a:cs typeface="Arial"/>
              </a:rPr>
              <a:t>;</a:t>
            </a:r>
            <a:endParaRPr lang="en-GB" sz="1600">
              <a:cs typeface="Arial"/>
            </a:endParaRPr>
          </a:p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en-GB" sz="1600">
                <a:solidFill>
                  <a:srgbClr val="0000FF"/>
                </a:solidFill>
                <a:cs typeface="Arial"/>
              </a:rPr>
              <a:t>Cấ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p</a:t>
            </a:r>
            <a:r>
              <a:rPr lang="en-GB" sz="16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>
                <a:solidFill>
                  <a:srgbClr val="0000FF"/>
                </a:solidFill>
                <a:cs typeface="Arial"/>
              </a:rPr>
              <a:t>phá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t</a:t>
            </a:r>
            <a:r>
              <a:rPr lang="en-GB" sz="1600" spc="2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&amp;</a:t>
            </a:r>
            <a:r>
              <a:rPr lang="en-GB" sz="1600" spc="-15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t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r</a:t>
            </a:r>
            <a:r>
              <a:rPr lang="en-GB" sz="1600">
                <a:solidFill>
                  <a:srgbClr val="0000FF"/>
                </a:solidFill>
                <a:cs typeface="Arial"/>
              </a:rPr>
              <a:t>u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y</a:t>
            </a:r>
            <a:r>
              <a:rPr lang="en-GB" sz="1600" spc="-15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c</a:t>
            </a:r>
            <a:r>
              <a:rPr lang="en-GB" sz="1600">
                <a:solidFill>
                  <a:srgbClr val="0000FF"/>
                </a:solidFill>
                <a:cs typeface="Arial"/>
              </a:rPr>
              <a:t>ậ</a:t>
            </a:r>
            <a:r>
              <a:rPr lang="en-GB" sz="1600" spc="10">
                <a:solidFill>
                  <a:srgbClr val="0000FF"/>
                </a:solidFill>
                <a:cs typeface="Arial"/>
              </a:rPr>
              <a:t>p</a:t>
            </a:r>
            <a:r>
              <a:rPr lang="en-GB" sz="1600">
                <a:solidFill>
                  <a:srgbClr val="0000FF"/>
                </a:solidFill>
                <a:cs typeface="Arial"/>
              </a:rPr>
              <a:t> </a:t>
            </a:r>
            <a:r>
              <a:rPr lang="en-GB" sz="1600" spc="15">
                <a:solidFill>
                  <a:srgbClr val="0000FF"/>
                </a:solidFill>
                <a:cs typeface="Arial"/>
              </a:rPr>
              <a:t>m</a:t>
            </a:r>
            <a:r>
              <a:rPr lang="en-GB" sz="1600">
                <a:solidFill>
                  <a:srgbClr val="0000FF"/>
                </a:solidFill>
                <a:cs typeface="Arial"/>
              </a:rPr>
              <a:t>ảng</a:t>
            </a:r>
            <a:r>
              <a:rPr lang="en-GB" sz="1600" spc="5">
                <a:solidFill>
                  <a:srgbClr val="0000FF"/>
                </a:solidFill>
                <a:cs typeface="Arial"/>
              </a:rPr>
              <a:t>:</a:t>
            </a: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en-GB" sz="1600" i="1" spc="-5">
                <a:cs typeface="Arial"/>
              </a:rPr>
              <a:t>in</a:t>
            </a:r>
            <a:r>
              <a:rPr lang="en-GB" sz="1600" i="1" spc="5">
                <a:cs typeface="Arial"/>
              </a:rPr>
              <a:t>t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>
                <a:cs typeface="Arial"/>
              </a:rPr>
              <a:t>a</a:t>
            </a:r>
            <a:r>
              <a:rPr lang="en-GB" sz="1600" i="1" spc="5">
                <a:cs typeface="Arial"/>
              </a:rPr>
              <a:t>rr</a:t>
            </a:r>
            <a:r>
              <a:rPr lang="en-GB" sz="1600" i="1" spc="10">
                <a:cs typeface="Arial"/>
              </a:rPr>
              <a:t>I</a:t>
            </a:r>
            <a:r>
              <a:rPr lang="en-GB" sz="1600" i="1">
                <a:cs typeface="Arial"/>
              </a:rPr>
              <a:t>n</a:t>
            </a:r>
            <a:r>
              <a:rPr lang="en-GB" sz="1600" i="1" spc="5">
                <a:cs typeface="Arial"/>
              </a:rPr>
              <a:t>t</a:t>
            </a:r>
            <a:r>
              <a:rPr lang="en-GB" sz="1600" i="1" spc="-30">
                <a:cs typeface="Arial"/>
              </a:rPr>
              <a:t> </a:t>
            </a:r>
            <a:r>
              <a:rPr lang="en-GB" sz="1600" i="1" spc="10">
                <a:cs typeface="Arial"/>
              </a:rPr>
              <a:t>=</a:t>
            </a:r>
            <a:r>
              <a:rPr lang="en-GB" sz="1600" i="1">
                <a:cs typeface="Arial"/>
              </a:rPr>
              <a:t> ne</a:t>
            </a:r>
            <a:r>
              <a:rPr lang="en-GB" sz="1600" i="1" spc="10">
                <a:cs typeface="Arial"/>
              </a:rPr>
              <a:t>w</a:t>
            </a:r>
            <a:r>
              <a:rPr lang="en-GB" sz="1600" i="1" spc="5">
                <a:cs typeface="Arial"/>
              </a:rPr>
              <a:t> </a:t>
            </a:r>
            <a:r>
              <a:rPr lang="en-GB" sz="1600" i="1" spc="-5">
                <a:cs typeface="Arial"/>
              </a:rPr>
              <a:t>in</a:t>
            </a:r>
            <a:r>
              <a:rPr lang="en-GB" sz="1600" i="1" spc="10">
                <a:cs typeface="Arial"/>
              </a:rPr>
              <a:t>t[</a:t>
            </a:r>
            <a:r>
              <a:rPr lang="en-GB" sz="1600" i="1">
                <a:cs typeface="Arial"/>
              </a:rPr>
              <a:t>100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;</a:t>
            </a: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en-GB" sz="1600" i="1" spc="-5">
                <a:cs typeface="Arial"/>
              </a:rPr>
              <a:t>in</a:t>
            </a:r>
            <a:r>
              <a:rPr lang="en-GB" sz="1600" i="1" spc="5">
                <a:cs typeface="Arial"/>
              </a:rPr>
              <a:t>t</a:t>
            </a:r>
            <a:r>
              <a:rPr lang="en-GB" sz="1600" i="1" spc="-5">
                <a:cs typeface="Arial"/>
              </a:rPr>
              <a:t> </a:t>
            </a:r>
            <a:r>
              <a:rPr lang="en-GB" sz="1600" i="1">
                <a:cs typeface="Arial"/>
              </a:rPr>
              <a:t>a</a:t>
            </a:r>
            <a:r>
              <a:rPr lang="en-GB" sz="1600" i="1" spc="5">
                <a:cs typeface="Arial"/>
              </a:rPr>
              <a:t>rr</a:t>
            </a:r>
            <a:r>
              <a:rPr lang="en-GB" sz="1600" i="1" spc="10">
                <a:cs typeface="Arial"/>
              </a:rPr>
              <a:t>I</a:t>
            </a:r>
            <a:r>
              <a:rPr lang="en-GB" sz="1600" i="1">
                <a:cs typeface="Arial"/>
              </a:rPr>
              <a:t>n</a:t>
            </a:r>
            <a:r>
              <a:rPr lang="en-GB" sz="1600" i="1" spc="10">
                <a:cs typeface="Arial"/>
              </a:rPr>
              <a:t>t[</a:t>
            </a:r>
            <a:r>
              <a:rPr lang="en-GB" sz="1600" i="1">
                <a:cs typeface="Arial"/>
              </a:rPr>
              <a:t>100</a:t>
            </a:r>
            <a:r>
              <a:rPr lang="en-GB" sz="1600" i="1" spc="10">
                <a:cs typeface="Arial"/>
              </a:rPr>
              <a:t>]</a:t>
            </a:r>
            <a:r>
              <a:rPr lang="en-GB" sz="1600" i="1" spc="5">
                <a:cs typeface="Arial"/>
              </a:rPr>
              <a:t>;</a:t>
            </a:r>
            <a:r>
              <a:rPr lang="en-GB" sz="1600" i="1">
                <a:cs typeface="Arial"/>
              </a:rPr>
              <a:t> </a:t>
            </a:r>
            <a:r>
              <a:rPr lang="en-GB" sz="1600" i="1" spc="-40">
                <a:cs typeface="Arial"/>
              </a:rPr>
              <a:t> 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/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/</a:t>
            </a:r>
            <a:r>
              <a:rPr lang="en-GB" sz="1600" i="1" spc="-30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K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hai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bá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o</a:t>
            </a:r>
            <a:r>
              <a:rPr lang="en-GB" sz="1600" i="1" spc="25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nà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y</a:t>
            </a:r>
            <a:r>
              <a:rPr lang="en-GB" sz="1600" i="1" spc="-15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t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r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on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g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J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a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va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s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ẽ</a:t>
            </a:r>
            <a:r>
              <a:rPr lang="en-GB" sz="1600" i="1" spc="-20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bá</a:t>
            </a:r>
            <a:r>
              <a:rPr lang="en-GB" sz="1600" i="1" spc="10">
                <a:solidFill>
                  <a:srgbClr val="FF0303"/>
                </a:solidFill>
                <a:cs typeface="Arial"/>
              </a:rPr>
              <a:t>o</a:t>
            </a:r>
            <a:r>
              <a:rPr lang="en-GB" sz="1600" i="1" spc="25">
                <a:solidFill>
                  <a:srgbClr val="FF0303"/>
                </a:solidFill>
                <a:cs typeface="Arial"/>
              </a:rPr>
              <a:t> </a:t>
            </a:r>
            <a:r>
              <a:rPr lang="en-GB" sz="1600" i="1" spc="-10">
                <a:solidFill>
                  <a:srgbClr val="FF0303"/>
                </a:solidFill>
                <a:cs typeface="Arial"/>
              </a:rPr>
              <a:t>l</a:t>
            </a:r>
            <a:r>
              <a:rPr lang="en-GB" sz="1600" i="1">
                <a:solidFill>
                  <a:srgbClr val="FF0303"/>
                </a:solidFill>
                <a:cs typeface="Arial"/>
              </a:rPr>
              <a:t>ỗ</a:t>
            </a:r>
            <a:r>
              <a:rPr lang="en-GB" sz="1600" i="1" spc="-10">
                <a:solidFill>
                  <a:srgbClr val="FF0303"/>
                </a:solidFill>
                <a:cs typeface="Arial"/>
              </a:rPr>
              <a:t>i</a:t>
            </a:r>
            <a:r>
              <a:rPr lang="en-GB" sz="1600" i="1" spc="5">
                <a:solidFill>
                  <a:srgbClr val="FF0303"/>
                </a:solidFill>
                <a:cs typeface="Arial"/>
              </a:rPr>
              <a:t>.</a:t>
            </a: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en-GB" sz="1600">
                <a:cs typeface="Arial"/>
              </a:rPr>
              <a:t>Chỉ</a:t>
            </a:r>
            <a:r>
              <a:rPr lang="en-GB" sz="1600" spc="-20">
                <a:cs typeface="Arial"/>
              </a:rPr>
              <a:t> </a:t>
            </a:r>
            <a:r>
              <a:rPr lang="en-GB" sz="1600" spc="5">
                <a:cs typeface="Arial"/>
              </a:rPr>
              <a:t>s</a:t>
            </a:r>
            <a:r>
              <a:rPr lang="en-GB" sz="1600" spc="10">
                <a:cs typeface="Arial"/>
              </a:rPr>
              <a:t>ố</a:t>
            </a:r>
            <a:r>
              <a:rPr lang="en-GB" sz="1600">
                <a:cs typeface="Arial"/>
              </a:rPr>
              <a:t> </a:t>
            </a:r>
            <a:r>
              <a:rPr lang="en-GB" sz="1600" spc="15">
                <a:cs typeface="Arial"/>
              </a:rPr>
              <a:t>m</a:t>
            </a:r>
            <a:r>
              <a:rPr lang="en-GB" sz="1600">
                <a:cs typeface="Arial"/>
              </a:rPr>
              <a:t>ản</a:t>
            </a:r>
            <a:r>
              <a:rPr lang="en-GB" sz="1600" spc="10">
                <a:cs typeface="Arial"/>
              </a:rPr>
              <a:t>g</a:t>
            </a:r>
            <a:r>
              <a:rPr lang="en-GB" sz="1600">
                <a:cs typeface="Arial"/>
              </a:rPr>
              <a:t> </a:t>
            </a:r>
            <a:r>
              <a:rPr lang="en-GB" sz="1600" i="1" spc="10">
                <a:cs typeface="Arial"/>
              </a:rPr>
              <a:t>n</a:t>
            </a:r>
            <a:r>
              <a:rPr lang="en-GB" sz="1600" i="1">
                <a:cs typeface="Arial"/>
              </a:rPr>
              <a:t> </a:t>
            </a:r>
            <a:r>
              <a:rPr lang="en-GB" sz="1600">
                <a:cs typeface="Arial"/>
              </a:rPr>
              <a:t>phầ</a:t>
            </a:r>
            <a:r>
              <a:rPr lang="en-GB" sz="1600" spc="10">
                <a:cs typeface="Arial"/>
              </a:rPr>
              <a:t>n</a:t>
            </a:r>
            <a:r>
              <a:rPr lang="en-GB" sz="1600">
                <a:cs typeface="Arial"/>
              </a:rPr>
              <a:t> </a:t>
            </a:r>
            <a:r>
              <a:rPr lang="en-GB" sz="1600" spc="10">
                <a:cs typeface="Arial"/>
              </a:rPr>
              <a:t>t</a:t>
            </a:r>
            <a:r>
              <a:rPr lang="en-GB" sz="1600">
                <a:cs typeface="Arial"/>
              </a:rPr>
              <a:t>ử</a:t>
            </a:r>
            <a:r>
              <a:rPr lang="en-GB" sz="1600" spc="5">
                <a:cs typeface="Arial"/>
              </a:rPr>
              <a:t>:</a:t>
            </a:r>
            <a:r>
              <a:rPr lang="en-GB" sz="1600" spc="-5">
                <a:cs typeface="Arial"/>
              </a:rPr>
              <a:t> </a:t>
            </a:r>
            <a:r>
              <a:rPr lang="en-GB" sz="1600" spc="10">
                <a:cs typeface="Arial"/>
              </a:rPr>
              <a:t>từ</a:t>
            </a:r>
            <a:r>
              <a:rPr lang="en-GB" sz="1600" spc="-20">
                <a:cs typeface="Arial"/>
              </a:rPr>
              <a:t> </a:t>
            </a:r>
            <a:r>
              <a:rPr lang="en-GB" sz="1600" i="1" spc="10">
                <a:cs typeface="Arial"/>
              </a:rPr>
              <a:t>0</a:t>
            </a:r>
            <a:r>
              <a:rPr lang="en-GB" sz="1600" i="1" spc="-20">
                <a:cs typeface="Arial"/>
              </a:rPr>
              <a:t> </a:t>
            </a:r>
            <a:r>
              <a:rPr lang="en-GB" sz="1600">
                <a:cs typeface="Arial"/>
              </a:rPr>
              <a:t>ñế</a:t>
            </a:r>
            <a:r>
              <a:rPr lang="en-GB" sz="1600" spc="10">
                <a:cs typeface="Arial"/>
              </a:rPr>
              <a:t>n</a:t>
            </a:r>
            <a:r>
              <a:rPr lang="en-GB" sz="1600" spc="25">
                <a:cs typeface="Arial"/>
              </a:rPr>
              <a:t> </a:t>
            </a:r>
            <a:r>
              <a:rPr lang="en-GB" sz="1600" i="1">
                <a:cs typeface="Arial"/>
              </a:rPr>
              <a:t>n</a:t>
            </a:r>
            <a:r>
              <a:rPr lang="en-GB" sz="1600" i="1" spc="5">
                <a:cs typeface="Arial"/>
              </a:rPr>
              <a:t>-1</a:t>
            </a:r>
          </a:p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000" b="1">
                <a:solidFill>
                  <a:srgbClr val="FF0000"/>
                </a:solidFill>
                <a:cs typeface="Arial"/>
              </a:rPr>
              <a:t>C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h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ú</a:t>
            </a:r>
            <a:r>
              <a:rPr lang="vi-VN" sz="2000" b="1" spc="-30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10">
                <a:solidFill>
                  <a:srgbClr val="FF0000"/>
                </a:solidFill>
                <a:cs typeface="Arial"/>
              </a:rPr>
              <a:t>ý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:</a:t>
            </a:r>
            <a:r>
              <a:rPr lang="vi-VN" sz="2000" b="1" spc="-25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30">
                <a:solidFill>
                  <a:srgbClr val="FF0000"/>
                </a:solidFill>
                <a:cs typeface="Arial"/>
              </a:rPr>
              <a:t>M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ản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g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 t</a:t>
            </a:r>
            <a:r>
              <a:rPr lang="vi-VN" sz="2000" b="1" spc="5">
                <a:solidFill>
                  <a:srgbClr val="FF0000"/>
                </a:solidFill>
                <a:cs typeface="Arial"/>
              </a:rPr>
              <a:t>r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on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g</a:t>
            </a:r>
            <a:r>
              <a:rPr lang="vi-VN" sz="2000" b="1" spc="-30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10">
                <a:solidFill>
                  <a:srgbClr val="FF0000"/>
                </a:solidFill>
                <a:cs typeface="Arial"/>
              </a:rPr>
              <a:t>j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a</a:t>
            </a:r>
            <a:r>
              <a:rPr lang="vi-VN" sz="2000" b="1" spc="10">
                <a:solidFill>
                  <a:srgbClr val="FF0000"/>
                </a:solidFill>
                <a:cs typeface="Arial"/>
              </a:rPr>
              <a:t>v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a</a:t>
            </a:r>
            <a:r>
              <a:rPr lang="vi-VN" sz="2000" b="1" spc="-30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đ</a:t>
            </a:r>
            <a:r>
              <a:rPr lang="vi-VN" sz="2000" b="1" spc="10">
                <a:solidFill>
                  <a:srgbClr val="FF0000"/>
                </a:solidFill>
                <a:cs typeface="Arial"/>
              </a:rPr>
              <a:t>ượ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c</a:t>
            </a:r>
            <a:r>
              <a:rPr lang="vi-VN" sz="2000" b="1" spc="-35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15">
                <a:solidFill>
                  <a:srgbClr val="FF0000"/>
                </a:solidFill>
                <a:cs typeface="Arial"/>
              </a:rPr>
              <a:t>x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e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m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15">
                <a:solidFill>
                  <a:srgbClr val="FF0000"/>
                </a:solidFill>
                <a:cs typeface="Arial"/>
              </a:rPr>
              <a:t>l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à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20">
                <a:solidFill>
                  <a:srgbClr val="FF0000"/>
                </a:solidFill>
                <a:cs typeface="Arial"/>
              </a:rPr>
              <a:t>m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ộ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t</a:t>
            </a:r>
            <a:r>
              <a:rPr lang="vi-VN" sz="2000" b="1" spc="-25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đố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i</a:t>
            </a:r>
            <a:r>
              <a:rPr lang="vi-VN" sz="2000" b="1" spc="-10">
                <a:solidFill>
                  <a:srgbClr val="FF0000"/>
                </a:solidFill>
                <a:cs typeface="Arial"/>
              </a:rPr>
              <a:t> 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t</a:t>
            </a:r>
            <a:r>
              <a:rPr lang="vi-VN" sz="2000" b="1" spc="10">
                <a:solidFill>
                  <a:srgbClr val="FF0000"/>
                </a:solidFill>
                <a:cs typeface="Arial"/>
              </a:rPr>
              <a:t>ư</a:t>
            </a:r>
            <a:r>
              <a:rPr lang="vi-VN" sz="2000" b="1" spc="5">
                <a:solidFill>
                  <a:srgbClr val="FF0000"/>
                </a:solidFill>
                <a:cs typeface="Arial"/>
              </a:rPr>
              <a:t>ợ</a:t>
            </a:r>
            <a:r>
              <a:rPr lang="vi-VN" sz="2000" b="1" spc="-5">
                <a:solidFill>
                  <a:srgbClr val="FF0000"/>
                </a:solidFill>
                <a:cs typeface="Arial"/>
              </a:rPr>
              <a:t>n</a:t>
            </a:r>
            <a:r>
              <a:rPr lang="vi-VN" sz="2000" b="1">
                <a:solidFill>
                  <a:srgbClr val="FF0000"/>
                </a:solidFill>
                <a:cs typeface="Arial"/>
              </a:rPr>
              <a:t>g</a:t>
            </a:r>
          </a:p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endParaRPr lang="en-GB" sz="1600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endParaRPr lang="en-GB" sz="1600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endParaRPr lang="en-GB" sz="1600" i="1" spc="5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endParaRPr lang="en-GB" sz="1600">
              <a:cs typeface="Arial"/>
            </a:endParaRPr>
          </a:p>
          <a:p>
            <a:pPr marL="698500" lvl="1" indent="-342900">
              <a:buClr>
                <a:srgbClr val="0000FF"/>
              </a:buClr>
              <a:buFont typeface="Wingdings" panose="05000000000000000000" pitchFamily="2" charset="2"/>
              <a:buChar char="§"/>
              <a:tabLst>
                <a:tab pos="278130" algn="l"/>
              </a:tabLst>
              <a:defRPr/>
            </a:pPr>
            <a:endParaRPr lang="en-GB" sz="1600">
              <a:cs typeface="Arial"/>
            </a:endParaRPr>
          </a:p>
          <a:p>
            <a:pPr marL="722630">
              <a:spcBef>
                <a:spcPts val="900"/>
              </a:spcBef>
              <a:defRPr/>
            </a:pPr>
            <a:endParaRPr lang="en-GB" sz="1600">
              <a:cs typeface="Arial"/>
            </a:endParaRPr>
          </a:p>
          <a:p>
            <a:pPr>
              <a:defRPr/>
            </a:pPr>
            <a:endParaRPr lang="en-GB" sz="16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4A5B7-9B16-F48D-D746-9A7E5F7B4A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354B-A2F9-1A28-5DDE-6F239328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5"/>
              <a:t>K</a:t>
            </a:r>
            <a:r>
              <a:rPr lang="en-GB" spc="-10"/>
              <a:t>i</a:t>
            </a:r>
            <a:r>
              <a:rPr lang="en-GB" spc="-15">
                <a:cs typeface="Arial"/>
              </a:rPr>
              <a:t>ể</a:t>
            </a:r>
            <a:r>
              <a:rPr lang="en-GB" spc="-20"/>
              <a:t>u</a:t>
            </a:r>
            <a:r>
              <a:rPr lang="en-GB" spc="-60"/>
              <a:t> </a:t>
            </a:r>
            <a:r>
              <a:rPr lang="en-GB" spc="-10"/>
              <a:t>d</a:t>
            </a:r>
            <a:r>
              <a:rPr lang="en-GB" spc="-20">
                <a:cs typeface="Arial"/>
              </a:rPr>
              <a:t>ữ</a:t>
            </a:r>
            <a:r>
              <a:rPr lang="en-GB" spc="-55">
                <a:cs typeface="Arial"/>
              </a:rPr>
              <a:t> </a:t>
            </a:r>
            <a:r>
              <a:rPr lang="en-GB" spc="-10"/>
              <a:t>li</a:t>
            </a:r>
            <a:r>
              <a:rPr lang="en-GB" spc="-15">
                <a:cs typeface="Arial"/>
              </a:rPr>
              <a:t>ệ</a:t>
            </a:r>
            <a:r>
              <a:rPr lang="en-GB" spc="-20"/>
              <a:t>u</a:t>
            </a:r>
            <a:r>
              <a:rPr lang="en-GB" spc="-40"/>
              <a:t> </a:t>
            </a:r>
            <a:r>
              <a:rPr lang="en-GB" spc="-5"/>
              <a:t>t</a:t>
            </a:r>
            <a:r>
              <a:rPr lang="en-GB" spc="-10"/>
              <a:t>h</a:t>
            </a:r>
            <a:r>
              <a:rPr lang="en-GB" spc="-20"/>
              <a:t>am</a:t>
            </a:r>
            <a:r>
              <a:rPr lang="en-GB" spc="-60"/>
              <a:t> </a:t>
            </a:r>
            <a:r>
              <a:rPr lang="en-GB" spc="-15"/>
              <a:t>c</a:t>
            </a:r>
            <a:r>
              <a:rPr lang="en-GB" spc="-10"/>
              <a:t>hi</a:t>
            </a:r>
            <a:r>
              <a:rPr lang="en-GB" spc="-15">
                <a:cs typeface="Arial"/>
              </a:rPr>
              <a:t>ế</a:t>
            </a:r>
            <a:r>
              <a:rPr lang="en-GB" spc="-20"/>
              <a:t>u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3F74E-2670-941C-A73D-4C3BB677A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spc="5">
                <a:solidFill>
                  <a:srgbClr val="0000FF"/>
                </a:solidFill>
                <a:cs typeface="Arial"/>
              </a:rPr>
              <a:t>K</a:t>
            </a:r>
            <a:r>
              <a:rPr lang="vi-VN" sz="1850" spc="-10">
                <a:solidFill>
                  <a:srgbClr val="0000FF"/>
                </a:solidFill>
                <a:cs typeface="Arial"/>
              </a:rPr>
              <a:t>i</a:t>
            </a:r>
            <a:r>
              <a:rPr lang="vi-VN" sz="1850">
                <a:solidFill>
                  <a:srgbClr val="0000FF"/>
                </a:solidFill>
                <a:cs typeface="Arial"/>
              </a:rPr>
              <a:t>ể</a:t>
            </a:r>
            <a:r>
              <a:rPr lang="vi-VN" sz="1850" spc="10">
                <a:solidFill>
                  <a:srgbClr val="0000FF"/>
                </a:solidFill>
                <a:cs typeface="Arial"/>
              </a:rPr>
              <a:t>u</a:t>
            </a:r>
            <a:r>
              <a:rPr lang="vi-VN" sz="1850" spc="-20">
                <a:solidFill>
                  <a:srgbClr val="0000FF"/>
                </a:solidFill>
                <a:cs typeface="Arial"/>
              </a:rPr>
              <a:t> </a:t>
            </a:r>
            <a:r>
              <a:rPr lang="vi-VN" sz="1850">
                <a:solidFill>
                  <a:srgbClr val="0000FF"/>
                </a:solidFill>
                <a:cs typeface="Arial"/>
              </a:rPr>
              <a:t>đối</a:t>
            </a:r>
            <a:r>
              <a:rPr lang="vi-VN" sz="1850" spc="30">
                <a:solidFill>
                  <a:srgbClr val="0000FF"/>
                </a:solidFill>
                <a:cs typeface="Arial"/>
              </a:rPr>
              <a:t> </a:t>
            </a:r>
            <a:r>
              <a:rPr lang="vi-VN" sz="1850" spc="10">
                <a:solidFill>
                  <a:srgbClr val="0000FF"/>
                </a:solidFill>
                <a:cs typeface="Arial"/>
              </a:rPr>
              <a:t>t</a:t>
            </a:r>
            <a:r>
              <a:rPr lang="vi-VN" sz="1850">
                <a:solidFill>
                  <a:srgbClr val="0000FF"/>
                </a:solidFill>
                <a:cs typeface="Arial"/>
              </a:rPr>
              <a:t>ư</a:t>
            </a:r>
            <a:r>
              <a:rPr lang="vi-VN" sz="1850" spc="5">
                <a:solidFill>
                  <a:srgbClr val="0000FF"/>
                </a:solidFill>
                <a:cs typeface="Arial"/>
              </a:rPr>
              <a:t>ợ</a:t>
            </a:r>
            <a:r>
              <a:rPr lang="vi-VN" sz="1850">
                <a:solidFill>
                  <a:srgbClr val="0000FF"/>
                </a:solidFill>
                <a:cs typeface="Arial"/>
              </a:rPr>
              <a:t>ng</a:t>
            </a:r>
            <a:r>
              <a:rPr lang="vi-VN" sz="1850" spc="5">
                <a:solidFill>
                  <a:srgbClr val="0000FF"/>
                </a:solidFill>
                <a:cs typeface="Arial"/>
              </a:rPr>
              <a:t>:</a:t>
            </a:r>
            <a:endParaRPr lang="en-US" sz="1850" spc="5">
              <a:solidFill>
                <a:srgbClr val="0000FF"/>
              </a:solidFill>
              <a:cs typeface="Arial"/>
            </a:endParaRP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spc="5">
                <a:cs typeface="Arial"/>
              </a:rPr>
              <a:t>K</a:t>
            </a:r>
            <a:r>
              <a:rPr lang="vi-VN" sz="1850">
                <a:cs typeface="Arial"/>
              </a:rPr>
              <a:t>hai</a:t>
            </a:r>
            <a:r>
              <a:rPr lang="vi-VN" sz="1850" spc="-20">
                <a:cs typeface="Arial"/>
              </a:rPr>
              <a:t> </a:t>
            </a:r>
            <a:r>
              <a:rPr lang="vi-VN" sz="1850">
                <a:cs typeface="Arial"/>
              </a:rPr>
              <a:t>bá</a:t>
            </a:r>
            <a:r>
              <a:rPr lang="vi-VN" sz="1850" spc="10">
                <a:cs typeface="Arial"/>
              </a:rPr>
              <a:t>o</a:t>
            </a:r>
            <a:r>
              <a:rPr lang="vi-VN" sz="1850">
                <a:cs typeface="Arial"/>
              </a:rPr>
              <a:t> đối</a:t>
            </a:r>
            <a:r>
              <a:rPr lang="vi-VN" sz="1850" spc="30">
                <a:cs typeface="Arial"/>
              </a:rPr>
              <a:t> </a:t>
            </a:r>
            <a:r>
              <a:rPr lang="vi-VN" sz="1850" spc="10">
                <a:cs typeface="Arial"/>
              </a:rPr>
              <a:t>t</a:t>
            </a:r>
            <a:r>
              <a:rPr lang="vi-VN" sz="1850">
                <a:cs typeface="Arial"/>
              </a:rPr>
              <a:t>ư</a:t>
            </a:r>
            <a:r>
              <a:rPr lang="vi-VN" sz="1850" spc="5">
                <a:cs typeface="Arial"/>
              </a:rPr>
              <a:t>ợ</a:t>
            </a:r>
            <a:r>
              <a:rPr lang="vi-VN" sz="1850">
                <a:cs typeface="Arial"/>
              </a:rPr>
              <a:t>n</a:t>
            </a:r>
            <a:r>
              <a:rPr lang="vi-VN" sz="1850" spc="10">
                <a:cs typeface="Arial"/>
              </a:rPr>
              <a:t>g</a:t>
            </a:r>
            <a:endParaRPr lang="en-US" sz="1850" spc="10">
              <a:cs typeface="Arial"/>
            </a:endParaRP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i="1" spc="20">
                <a:cs typeface="Arial"/>
              </a:rPr>
              <a:t>&lt;</a:t>
            </a:r>
            <a:r>
              <a:rPr lang="vi-VN" sz="1850" i="1" spc="5">
                <a:cs typeface="Arial"/>
              </a:rPr>
              <a:t>K</a:t>
            </a:r>
            <a:r>
              <a:rPr lang="vi-VN" sz="1850" i="1" spc="-10">
                <a:cs typeface="Arial"/>
              </a:rPr>
              <a:t>i</a:t>
            </a:r>
            <a:r>
              <a:rPr lang="vi-VN" sz="1850" i="1">
                <a:cs typeface="Arial"/>
              </a:rPr>
              <a:t>ể</a:t>
            </a:r>
            <a:r>
              <a:rPr lang="vi-VN" sz="1850" i="1" spc="10">
                <a:cs typeface="Arial"/>
              </a:rPr>
              <a:t>u</a:t>
            </a:r>
            <a:r>
              <a:rPr lang="vi-VN" sz="1850" i="1" spc="-45">
                <a:cs typeface="Arial"/>
              </a:rPr>
              <a:t> </a:t>
            </a:r>
            <a:r>
              <a:rPr lang="vi-VN" sz="1850" i="1">
                <a:cs typeface="Arial"/>
              </a:rPr>
              <a:t>đối</a:t>
            </a:r>
            <a:r>
              <a:rPr lang="vi-VN" sz="1850" i="1" spc="30">
                <a:cs typeface="Arial"/>
              </a:rPr>
              <a:t> </a:t>
            </a:r>
            <a:r>
              <a:rPr lang="vi-VN" sz="1850" i="1" spc="10">
                <a:cs typeface="Arial"/>
              </a:rPr>
              <a:t>t</a:t>
            </a:r>
            <a:r>
              <a:rPr lang="vi-VN" sz="1850" i="1">
                <a:cs typeface="Arial"/>
              </a:rPr>
              <a:t>ư</a:t>
            </a:r>
            <a:r>
              <a:rPr lang="vi-VN" sz="1850" i="1" spc="5">
                <a:cs typeface="Arial"/>
              </a:rPr>
              <a:t>ợ</a:t>
            </a:r>
            <a:r>
              <a:rPr lang="vi-VN" sz="1850" i="1">
                <a:cs typeface="Arial"/>
              </a:rPr>
              <a:t>ng</a:t>
            </a:r>
            <a:r>
              <a:rPr lang="vi-VN" sz="1850" i="1" spc="10">
                <a:cs typeface="Arial"/>
              </a:rPr>
              <a:t>&gt;</a:t>
            </a:r>
            <a:r>
              <a:rPr lang="vi-VN" sz="1850" i="1">
                <a:cs typeface="Arial"/>
              </a:rPr>
              <a:t>	</a:t>
            </a:r>
            <a:r>
              <a:rPr lang="vi-VN" sz="1850" i="1" spc="20">
                <a:cs typeface="Arial"/>
              </a:rPr>
              <a:t>&lt;</a:t>
            </a:r>
            <a:r>
              <a:rPr lang="vi-VN" sz="1850" i="1" spc="-5">
                <a:cs typeface="Arial"/>
              </a:rPr>
              <a:t>bi</a:t>
            </a:r>
            <a:r>
              <a:rPr lang="vi-VN" sz="1850" i="1">
                <a:cs typeface="Arial"/>
              </a:rPr>
              <a:t>ế</a:t>
            </a:r>
            <a:r>
              <a:rPr lang="vi-VN" sz="1850" i="1" spc="10">
                <a:cs typeface="Arial"/>
              </a:rPr>
              <a:t>n</a:t>
            </a:r>
            <a:r>
              <a:rPr lang="vi-VN" sz="1850" i="1" spc="-20">
                <a:cs typeface="Arial"/>
              </a:rPr>
              <a:t> </a:t>
            </a:r>
            <a:r>
              <a:rPr lang="vi-VN" sz="1850" i="1" spc="305">
                <a:cs typeface="Arial"/>
              </a:rPr>
              <a:t>Đ</a:t>
            </a:r>
            <a:r>
              <a:rPr lang="vi-VN" sz="1850" i="1" spc="15">
                <a:cs typeface="Arial"/>
              </a:rPr>
              <a:t>T</a:t>
            </a:r>
            <a:r>
              <a:rPr lang="vi-VN" sz="1850" i="1" spc="20">
                <a:cs typeface="Arial"/>
              </a:rPr>
              <a:t>&gt;</a:t>
            </a:r>
            <a:r>
              <a:rPr lang="vi-VN" sz="1850" i="1" spc="5">
                <a:cs typeface="Arial"/>
              </a:rPr>
              <a:t>;</a:t>
            </a:r>
            <a:endParaRPr lang="en-US" sz="1850" i="1" spc="5">
              <a:cs typeface="Arial"/>
            </a:endParaRP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spc="5">
                <a:cs typeface="Arial"/>
              </a:rPr>
              <a:t>K</a:t>
            </a:r>
            <a:r>
              <a:rPr lang="vi-VN" sz="1850">
                <a:cs typeface="Arial"/>
              </a:rPr>
              <a:t>h</a:t>
            </a:r>
            <a:r>
              <a:rPr lang="vi-VN" sz="1850" spc="5">
                <a:cs typeface="Arial"/>
              </a:rPr>
              <a:t>ở</a:t>
            </a:r>
            <a:r>
              <a:rPr lang="vi-VN" sz="1850">
                <a:cs typeface="Arial"/>
              </a:rPr>
              <a:t>i</a:t>
            </a:r>
            <a:r>
              <a:rPr lang="vi-VN" sz="1850" spc="-20">
                <a:cs typeface="Arial"/>
              </a:rPr>
              <a:t> </a:t>
            </a:r>
            <a:r>
              <a:rPr lang="vi-VN" sz="1850" spc="10">
                <a:cs typeface="Arial"/>
              </a:rPr>
              <a:t>t</a:t>
            </a:r>
            <a:r>
              <a:rPr lang="vi-VN" sz="1850">
                <a:cs typeface="Arial"/>
              </a:rPr>
              <a:t>ạ</a:t>
            </a:r>
            <a:r>
              <a:rPr lang="vi-VN" sz="1850" spc="10">
                <a:cs typeface="Arial"/>
              </a:rPr>
              <a:t>o</a:t>
            </a:r>
            <a:r>
              <a:rPr lang="vi-VN" sz="1850" spc="-20">
                <a:cs typeface="Arial"/>
              </a:rPr>
              <a:t> </a:t>
            </a:r>
            <a:r>
              <a:rPr lang="vi-VN" sz="1850">
                <a:cs typeface="Arial"/>
              </a:rPr>
              <a:t>đối</a:t>
            </a:r>
            <a:r>
              <a:rPr lang="vi-VN" sz="1850" spc="30">
                <a:cs typeface="Arial"/>
              </a:rPr>
              <a:t> </a:t>
            </a:r>
            <a:r>
              <a:rPr lang="vi-VN" sz="1850" spc="10">
                <a:cs typeface="Arial"/>
              </a:rPr>
              <a:t>t</a:t>
            </a:r>
            <a:r>
              <a:rPr lang="vi-VN" sz="1850">
                <a:cs typeface="Arial"/>
              </a:rPr>
              <a:t>ư</a:t>
            </a:r>
            <a:r>
              <a:rPr lang="vi-VN" sz="1850" spc="5">
                <a:cs typeface="Arial"/>
              </a:rPr>
              <a:t>ợ</a:t>
            </a:r>
            <a:r>
              <a:rPr lang="vi-VN" sz="1850">
                <a:cs typeface="Arial"/>
              </a:rPr>
              <a:t>n</a:t>
            </a:r>
            <a:r>
              <a:rPr lang="vi-VN" sz="1850" spc="10">
                <a:cs typeface="Arial"/>
              </a:rPr>
              <a:t>g</a:t>
            </a:r>
            <a:r>
              <a:rPr lang="en-US" sz="1850" spc="10">
                <a:cs typeface="Arial"/>
              </a:rPr>
              <a:t>: từ khóa </a:t>
            </a:r>
            <a:r>
              <a:rPr lang="en-US" sz="1850" b="1" spc="10">
                <a:solidFill>
                  <a:srgbClr val="FF0000"/>
                </a:solidFill>
                <a:cs typeface="Arial"/>
              </a:rPr>
              <a:t>new</a:t>
            </a: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i="1" spc="20">
                <a:cs typeface="Arial"/>
              </a:rPr>
              <a:t>&lt;</a:t>
            </a:r>
            <a:r>
              <a:rPr lang="vi-VN" sz="1850" i="1" spc="5">
                <a:cs typeface="Arial"/>
              </a:rPr>
              <a:t>K</a:t>
            </a:r>
            <a:r>
              <a:rPr lang="vi-VN" sz="1850" i="1" spc="-10">
                <a:cs typeface="Arial"/>
              </a:rPr>
              <a:t>i</a:t>
            </a:r>
            <a:r>
              <a:rPr lang="vi-VN" sz="1850" i="1">
                <a:cs typeface="Arial"/>
              </a:rPr>
              <a:t>ể</a:t>
            </a:r>
            <a:r>
              <a:rPr lang="vi-VN" sz="1850" i="1" spc="10">
                <a:cs typeface="Arial"/>
              </a:rPr>
              <a:t>u</a:t>
            </a:r>
            <a:r>
              <a:rPr lang="vi-VN" sz="1850" i="1" spc="-45">
                <a:cs typeface="Arial"/>
              </a:rPr>
              <a:t> </a:t>
            </a:r>
            <a:r>
              <a:rPr lang="vi-VN" sz="1850" i="1">
                <a:cs typeface="Arial"/>
              </a:rPr>
              <a:t>đối</a:t>
            </a:r>
            <a:r>
              <a:rPr lang="vi-VN" sz="1850" i="1" spc="30">
                <a:cs typeface="Arial"/>
              </a:rPr>
              <a:t> </a:t>
            </a:r>
            <a:r>
              <a:rPr lang="vi-VN" sz="1850" i="1" spc="10">
                <a:cs typeface="Arial"/>
              </a:rPr>
              <a:t>t</a:t>
            </a:r>
            <a:r>
              <a:rPr lang="vi-VN" sz="1850" i="1">
                <a:cs typeface="Arial"/>
              </a:rPr>
              <a:t>ư</a:t>
            </a:r>
            <a:r>
              <a:rPr lang="vi-VN" sz="1850" i="1" spc="5">
                <a:cs typeface="Arial"/>
              </a:rPr>
              <a:t>ợ</a:t>
            </a:r>
            <a:r>
              <a:rPr lang="vi-VN" sz="1850" i="1">
                <a:cs typeface="Arial"/>
              </a:rPr>
              <a:t>ng</a:t>
            </a:r>
            <a:r>
              <a:rPr lang="vi-VN" sz="1850" i="1" spc="10">
                <a:cs typeface="Arial"/>
              </a:rPr>
              <a:t>&gt;</a:t>
            </a:r>
            <a:r>
              <a:rPr lang="vi-VN" sz="1850" i="1">
                <a:cs typeface="Arial"/>
              </a:rPr>
              <a:t>	</a:t>
            </a:r>
            <a:r>
              <a:rPr lang="vi-VN" sz="1850" i="1" spc="20">
                <a:cs typeface="Arial"/>
              </a:rPr>
              <a:t>&lt;</a:t>
            </a:r>
            <a:r>
              <a:rPr lang="vi-VN" sz="1850" i="1" spc="-5">
                <a:cs typeface="Arial"/>
              </a:rPr>
              <a:t>bi</a:t>
            </a:r>
            <a:r>
              <a:rPr lang="vi-VN" sz="1850" i="1">
                <a:cs typeface="Arial"/>
              </a:rPr>
              <a:t>ế</a:t>
            </a:r>
            <a:r>
              <a:rPr lang="vi-VN" sz="1850" i="1" spc="10">
                <a:cs typeface="Arial"/>
              </a:rPr>
              <a:t>n</a:t>
            </a:r>
            <a:r>
              <a:rPr lang="vi-VN" sz="1850" i="1" spc="-20">
                <a:cs typeface="Arial"/>
              </a:rPr>
              <a:t> </a:t>
            </a:r>
            <a:r>
              <a:rPr lang="vi-VN" sz="1850" i="1" spc="305">
                <a:cs typeface="Arial"/>
              </a:rPr>
              <a:t>Đ</a:t>
            </a:r>
            <a:r>
              <a:rPr lang="vi-VN" sz="1850" i="1" spc="15">
                <a:cs typeface="Arial"/>
              </a:rPr>
              <a:t>T</a:t>
            </a:r>
            <a:r>
              <a:rPr lang="vi-VN" sz="1850" i="1" spc="10">
                <a:cs typeface="Arial"/>
              </a:rPr>
              <a:t>&gt;</a:t>
            </a:r>
            <a:r>
              <a:rPr lang="vi-VN" sz="1850" i="1">
                <a:cs typeface="Arial"/>
              </a:rPr>
              <a:t> </a:t>
            </a:r>
            <a:r>
              <a:rPr lang="vi-VN" sz="1850" i="1" spc="10">
                <a:cs typeface="Arial"/>
              </a:rPr>
              <a:t>=</a:t>
            </a:r>
            <a:r>
              <a:rPr lang="vi-VN" sz="1850" i="1" spc="-25">
                <a:cs typeface="Arial"/>
              </a:rPr>
              <a:t> </a:t>
            </a:r>
            <a:r>
              <a:rPr lang="vi-VN" sz="1850" i="1">
                <a:solidFill>
                  <a:srgbClr val="0000FF"/>
                </a:solidFill>
                <a:cs typeface="Arial"/>
              </a:rPr>
              <a:t>ne</a:t>
            </a:r>
            <a:r>
              <a:rPr lang="vi-VN" sz="1850" i="1" spc="10">
                <a:solidFill>
                  <a:srgbClr val="0000FF"/>
                </a:solidFill>
                <a:cs typeface="Arial"/>
              </a:rPr>
              <a:t>w</a:t>
            </a:r>
            <a:r>
              <a:rPr lang="vi-VN" sz="1850" i="1" spc="30">
                <a:solidFill>
                  <a:srgbClr val="0000FF"/>
                </a:solidFill>
                <a:cs typeface="Arial"/>
              </a:rPr>
              <a:t> </a:t>
            </a:r>
            <a:r>
              <a:rPr lang="vi-VN" sz="1850" i="1" spc="20">
                <a:cs typeface="Arial"/>
              </a:rPr>
              <a:t>&lt;</a:t>
            </a:r>
            <a:r>
              <a:rPr lang="vi-VN" sz="1850" i="1" spc="5">
                <a:cs typeface="Arial"/>
              </a:rPr>
              <a:t>K</a:t>
            </a:r>
            <a:r>
              <a:rPr lang="vi-VN" sz="1850" i="1" spc="-10">
                <a:cs typeface="Arial"/>
              </a:rPr>
              <a:t>i</a:t>
            </a:r>
            <a:r>
              <a:rPr lang="vi-VN" sz="1850" i="1">
                <a:cs typeface="Arial"/>
              </a:rPr>
              <a:t>ể</a:t>
            </a:r>
            <a:r>
              <a:rPr lang="vi-VN" sz="1850" i="1" spc="10">
                <a:cs typeface="Arial"/>
              </a:rPr>
              <a:t>u</a:t>
            </a:r>
            <a:r>
              <a:rPr lang="vi-VN" sz="1850" i="1" spc="-20">
                <a:cs typeface="Arial"/>
              </a:rPr>
              <a:t> </a:t>
            </a:r>
            <a:r>
              <a:rPr lang="vi-VN" sz="1850" i="1">
                <a:cs typeface="Arial"/>
              </a:rPr>
              <a:t>đối</a:t>
            </a:r>
            <a:r>
              <a:rPr lang="vi-VN" sz="1850" i="1" spc="5">
                <a:cs typeface="Arial"/>
              </a:rPr>
              <a:t> </a:t>
            </a:r>
            <a:r>
              <a:rPr lang="vi-VN" sz="1850" i="1" spc="10">
                <a:cs typeface="Arial"/>
              </a:rPr>
              <a:t>t</a:t>
            </a:r>
            <a:r>
              <a:rPr lang="vi-VN" sz="1850" i="1">
                <a:cs typeface="Arial"/>
              </a:rPr>
              <a:t>ư</a:t>
            </a:r>
            <a:r>
              <a:rPr lang="vi-VN" sz="1850" i="1" spc="5">
                <a:cs typeface="Arial"/>
              </a:rPr>
              <a:t>ợ</a:t>
            </a:r>
            <a:r>
              <a:rPr lang="vi-VN" sz="1850" i="1">
                <a:cs typeface="Arial"/>
              </a:rPr>
              <a:t>ng</a:t>
            </a:r>
            <a:r>
              <a:rPr lang="vi-VN" sz="1850" i="1" spc="20">
                <a:cs typeface="Arial"/>
              </a:rPr>
              <a:t>&gt;</a:t>
            </a:r>
            <a:r>
              <a:rPr lang="vi-VN" sz="1850" spc="5">
                <a:cs typeface="Arial"/>
              </a:rPr>
              <a:t>;</a:t>
            </a:r>
            <a:endParaRPr lang="en-US" sz="1850" spc="5">
              <a:cs typeface="Arial"/>
            </a:endParaRP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spc="-10">
                <a:cs typeface="Arial"/>
              </a:rPr>
              <a:t>T</a:t>
            </a:r>
            <a:r>
              <a:rPr lang="vi-VN" sz="1850" spc="5">
                <a:cs typeface="Arial"/>
              </a:rPr>
              <a:t>r</a:t>
            </a:r>
            <a:r>
              <a:rPr lang="vi-VN" sz="1850">
                <a:cs typeface="Arial"/>
              </a:rPr>
              <a:t>u</a:t>
            </a:r>
            <a:r>
              <a:rPr lang="vi-VN" sz="1850" spc="5">
                <a:cs typeface="Arial"/>
              </a:rPr>
              <a:t>y</a:t>
            </a:r>
            <a:r>
              <a:rPr lang="vi-VN" sz="1850" spc="-15">
                <a:cs typeface="Arial"/>
              </a:rPr>
              <a:t> </a:t>
            </a:r>
            <a:r>
              <a:rPr lang="vi-VN" sz="1850" spc="5">
                <a:cs typeface="Arial"/>
              </a:rPr>
              <a:t>x</a:t>
            </a:r>
            <a:r>
              <a:rPr lang="vi-VN" sz="1850">
                <a:cs typeface="Arial"/>
              </a:rPr>
              <a:t>uấ</a:t>
            </a:r>
            <a:r>
              <a:rPr lang="vi-VN" sz="1850" spc="5">
                <a:cs typeface="Arial"/>
              </a:rPr>
              <a:t>t</a:t>
            </a:r>
            <a:r>
              <a:rPr lang="vi-VN" sz="1850" spc="-5">
                <a:cs typeface="Arial"/>
              </a:rPr>
              <a:t> </a:t>
            </a:r>
            <a:r>
              <a:rPr lang="vi-VN" sz="1850" spc="10">
                <a:cs typeface="Arial"/>
              </a:rPr>
              <a:t>t</a:t>
            </a:r>
            <a:r>
              <a:rPr lang="vi-VN" sz="1850">
                <a:cs typeface="Arial"/>
              </a:rPr>
              <a:t>hàn</a:t>
            </a:r>
            <a:r>
              <a:rPr lang="vi-VN" sz="1850" spc="10">
                <a:cs typeface="Arial"/>
              </a:rPr>
              <a:t>h</a:t>
            </a:r>
            <a:r>
              <a:rPr lang="vi-VN" sz="1850">
                <a:cs typeface="Arial"/>
              </a:rPr>
              <a:t> phầ</a:t>
            </a:r>
            <a:r>
              <a:rPr lang="vi-VN" sz="1850" spc="10">
                <a:cs typeface="Arial"/>
              </a:rPr>
              <a:t>n</a:t>
            </a:r>
            <a:r>
              <a:rPr lang="vi-VN" sz="1850" spc="25">
                <a:cs typeface="Arial"/>
              </a:rPr>
              <a:t> </a:t>
            </a:r>
            <a:r>
              <a:rPr lang="vi-VN" sz="1850">
                <a:cs typeface="Arial"/>
              </a:rPr>
              <a:t>đối</a:t>
            </a:r>
            <a:r>
              <a:rPr lang="vi-VN" sz="1850" spc="5">
                <a:cs typeface="Arial"/>
              </a:rPr>
              <a:t> </a:t>
            </a:r>
            <a:r>
              <a:rPr lang="vi-VN" sz="1850" spc="10">
                <a:cs typeface="Arial"/>
              </a:rPr>
              <a:t>t</a:t>
            </a:r>
            <a:r>
              <a:rPr lang="vi-VN" sz="1850">
                <a:cs typeface="Arial"/>
              </a:rPr>
              <a:t>ư</a:t>
            </a:r>
            <a:r>
              <a:rPr lang="vi-VN" sz="1850" spc="5">
                <a:cs typeface="Arial"/>
              </a:rPr>
              <a:t>ợ</a:t>
            </a:r>
            <a:r>
              <a:rPr lang="vi-VN" sz="1850">
                <a:cs typeface="Arial"/>
              </a:rPr>
              <a:t>n</a:t>
            </a:r>
            <a:r>
              <a:rPr lang="vi-VN" sz="1850" spc="10">
                <a:cs typeface="Arial"/>
              </a:rPr>
              <a:t>g</a:t>
            </a:r>
            <a:r>
              <a:rPr lang="en-US" sz="1850" spc="10">
                <a:cs typeface="Arial"/>
              </a:rPr>
              <a:t>: </a:t>
            </a: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i="1" spc="20">
                <a:cs typeface="Arial"/>
              </a:rPr>
              <a:t>&lt;</a:t>
            </a:r>
            <a:r>
              <a:rPr lang="vi-VN" sz="1850" i="1" spc="-5">
                <a:cs typeface="Arial"/>
              </a:rPr>
              <a:t>bi</a:t>
            </a:r>
            <a:r>
              <a:rPr lang="vi-VN" sz="1850" i="1">
                <a:cs typeface="Arial"/>
              </a:rPr>
              <a:t>ế</a:t>
            </a:r>
            <a:r>
              <a:rPr lang="vi-VN" sz="1850" i="1" spc="10">
                <a:cs typeface="Arial"/>
              </a:rPr>
              <a:t>n</a:t>
            </a:r>
            <a:r>
              <a:rPr lang="vi-VN" sz="1850" i="1" spc="-20">
                <a:cs typeface="Arial"/>
              </a:rPr>
              <a:t> </a:t>
            </a:r>
            <a:r>
              <a:rPr lang="vi-VN" sz="1850" i="1" spc="305">
                <a:cs typeface="Arial"/>
              </a:rPr>
              <a:t>Đ</a:t>
            </a:r>
            <a:r>
              <a:rPr lang="vi-VN" sz="1850" i="1" spc="15">
                <a:cs typeface="Arial"/>
              </a:rPr>
              <a:t>T</a:t>
            </a:r>
            <a:r>
              <a:rPr lang="vi-VN" sz="1850" i="1" spc="20">
                <a:cs typeface="Arial"/>
              </a:rPr>
              <a:t>&gt;</a:t>
            </a:r>
            <a:r>
              <a:rPr lang="vi-VN" sz="2800" b="1" i="1" spc="10">
                <a:solidFill>
                  <a:srgbClr val="FF0000"/>
                </a:solidFill>
                <a:cs typeface="Arial"/>
              </a:rPr>
              <a:t>.</a:t>
            </a:r>
            <a:r>
              <a:rPr lang="vi-VN" sz="1850" i="1" spc="20">
                <a:cs typeface="Arial"/>
              </a:rPr>
              <a:t>&lt;</a:t>
            </a:r>
            <a:r>
              <a:rPr lang="vi-VN" sz="1850" i="1" spc="10">
                <a:cs typeface="Arial"/>
              </a:rPr>
              <a:t>t</a:t>
            </a:r>
            <a:r>
              <a:rPr lang="vi-VN" sz="1850" i="1">
                <a:cs typeface="Arial"/>
              </a:rPr>
              <a:t>huộ</a:t>
            </a:r>
            <a:r>
              <a:rPr lang="vi-VN" sz="1850" i="1" spc="5">
                <a:cs typeface="Arial"/>
              </a:rPr>
              <a:t>c</a:t>
            </a:r>
            <a:r>
              <a:rPr lang="vi-VN" sz="1850" i="1" spc="-60">
                <a:cs typeface="Arial"/>
              </a:rPr>
              <a:t> </a:t>
            </a:r>
            <a:r>
              <a:rPr lang="vi-VN" sz="1850" i="1" spc="10">
                <a:cs typeface="Arial"/>
              </a:rPr>
              <a:t>tí</a:t>
            </a:r>
            <a:r>
              <a:rPr lang="vi-VN" sz="1850" i="1">
                <a:cs typeface="Arial"/>
              </a:rPr>
              <a:t>nh</a:t>
            </a:r>
            <a:r>
              <a:rPr lang="vi-VN" sz="1850" i="1" spc="10">
                <a:cs typeface="Arial"/>
              </a:rPr>
              <a:t>&gt;</a:t>
            </a:r>
            <a:endParaRPr lang="en-US" sz="1850" i="1" spc="10">
              <a:cs typeface="Arial"/>
            </a:endParaRP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1850" i="1" spc="20">
                <a:cs typeface="Arial"/>
              </a:rPr>
              <a:t>&lt;</a:t>
            </a:r>
            <a:r>
              <a:rPr lang="vi-VN" sz="1850" i="1" spc="-5">
                <a:cs typeface="Arial"/>
              </a:rPr>
              <a:t>bi</a:t>
            </a:r>
            <a:r>
              <a:rPr lang="vi-VN" sz="1850" i="1">
                <a:cs typeface="Arial"/>
              </a:rPr>
              <a:t>ế</a:t>
            </a:r>
            <a:r>
              <a:rPr lang="vi-VN" sz="1850" i="1" spc="10">
                <a:cs typeface="Arial"/>
              </a:rPr>
              <a:t>n</a:t>
            </a:r>
            <a:r>
              <a:rPr lang="vi-VN" sz="1850" i="1" spc="-20">
                <a:cs typeface="Arial"/>
              </a:rPr>
              <a:t> </a:t>
            </a:r>
            <a:r>
              <a:rPr lang="vi-VN" sz="1850" i="1" spc="305">
                <a:cs typeface="Arial"/>
              </a:rPr>
              <a:t>Đ</a:t>
            </a:r>
            <a:r>
              <a:rPr lang="vi-VN" sz="1850" i="1" spc="15">
                <a:cs typeface="Arial"/>
              </a:rPr>
              <a:t>T</a:t>
            </a:r>
            <a:r>
              <a:rPr lang="vi-VN" sz="1850" i="1" spc="20">
                <a:cs typeface="Arial"/>
              </a:rPr>
              <a:t>&gt;</a:t>
            </a:r>
            <a:r>
              <a:rPr lang="vi-VN" sz="2400" b="1" spc="10">
                <a:solidFill>
                  <a:srgbClr val="FF0000"/>
                </a:solidFill>
                <a:cs typeface="Arial"/>
              </a:rPr>
              <a:t>.</a:t>
            </a:r>
            <a:r>
              <a:rPr lang="vi-VN" sz="1850" i="1" spc="20">
                <a:cs typeface="Arial"/>
              </a:rPr>
              <a:t>&lt;</a:t>
            </a:r>
            <a:r>
              <a:rPr lang="vi-VN" sz="1850" i="1">
                <a:cs typeface="Arial"/>
              </a:rPr>
              <a:t>phư</a:t>
            </a:r>
            <a:r>
              <a:rPr lang="vi-VN" sz="1850" i="1" spc="5">
                <a:cs typeface="Arial"/>
              </a:rPr>
              <a:t>ơ</a:t>
            </a:r>
            <a:r>
              <a:rPr lang="vi-VN" sz="1850" i="1">
                <a:cs typeface="Arial"/>
              </a:rPr>
              <a:t>n</a:t>
            </a:r>
            <a:r>
              <a:rPr lang="vi-VN" sz="1850" i="1" spc="10">
                <a:cs typeface="Arial"/>
              </a:rPr>
              <a:t>g</a:t>
            </a:r>
            <a:r>
              <a:rPr lang="vi-VN" sz="1850" i="1" spc="-45">
                <a:cs typeface="Arial"/>
              </a:rPr>
              <a:t> </a:t>
            </a:r>
            <a:r>
              <a:rPr lang="vi-VN" sz="1850" i="1" spc="10">
                <a:cs typeface="Arial"/>
              </a:rPr>
              <a:t>t</a:t>
            </a:r>
            <a:r>
              <a:rPr lang="vi-VN" sz="1850" i="1">
                <a:cs typeface="Arial"/>
              </a:rPr>
              <a:t>h</a:t>
            </a:r>
            <a:r>
              <a:rPr lang="vi-VN" sz="1850" i="1" spc="-5">
                <a:cs typeface="Arial"/>
              </a:rPr>
              <a:t>ứ</a:t>
            </a:r>
            <a:r>
              <a:rPr lang="vi-VN" sz="1850" i="1" spc="5">
                <a:cs typeface="Arial"/>
              </a:rPr>
              <a:t>c</a:t>
            </a:r>
            <a:r>
              <a:rPr lang="vi-VN" sz="1850" i="1" spc="20">
                <a:cs typeface="Arial"/>
              </a:rPr>
              <a:t>&gt;</a:t>
            </a:r>
            <a:r>
              <a:rPr lang="vi-VN" sz="1850" i="1" spc="5">
                <a:cs typeface="Arial"/>
              </a:rPr>
              <a:t>(</a:t>
            </a:r>
            <a:r>
              <a:rPr lang="vi-VN" sz="1850" i="1" spc="10">
                <a:cs typeface="Arial"/>
              </a:rPr>
              <a:t>[t</a:t>
            </a:r>
            <a:r>
              <a:rPr lang="vi-VN" sz="1850" i="1">
                <a:cs typeface="Arial"/>
              </a:rPr>
              <a:t>ha</a:t>
            </a:r>
            <a:r>
              <a:rPr lang="vi-VN" sz="1850" i="1" spc="15">
                <a:cs typeface="Arial"/>
              </a:rPr>
              <a:t>m</a:t>
            </a:r>
            <a:r>
              <a:rPr lang="vi-VN" sz="1850" i="1" spc="-35">
                <a:cs typeface="Arial"/>
              </a:rPr>
              <a:t> </a:t>
            </a:r>
            <a:r>
              <a:rPr lang="vi-VN" sz="1850" i="1" spc="5">
                <a:cs typeface="Arial"/>
              </a:rPr>
              <a:t>s</a:t>
            </a:r>
            <a:r>
              <a:rPr lang="vi-VN" sz="1850" i="1">
                <a:cs typeface="Arial"/>
              </a:rPr>
              <a:t>ố</a:t>
            </a:r>
            <a:r>
              <a:rPr lang="vi-VN" sz="1850" i="1" spc="10">
                <a:cs typeface="Arial"/>
              </a:rPr>
              <a:t>]</a:t>
            </a:r>
            <a:r>
              <a:rPr lang="vi-VN" sz="1850" i="1" spc="5">
                <a:cs typeface="Arial"/>
              </a:rPr>
              <a:t>)</a:t>
            </a:r>
            <a:endParaRPr lang="en-US" sz="1850" i="1" spc="5">
              <a:cs typeface="Arial"/>
            </a:endParaRPr>
          </a:p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endParaRPr lang="vi-VN" sz="185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FC672-49CC-2781-7BD5-31D3CEE682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D9FF-1631-77F9-8360-1F8B9AFC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0"/>
              <a:t>M</a:t>
            </a:r>
            <a:r>
              <a:rPr lang="en-GB" spc="-10">
                <a:cs typeface="Arial"/>
              </a:rPr>
              <a:t>ộ</a:t>
            </a:r>
            <a:r>
              <a:rPr lang="en-GB" spc="-10"/>
              <a:t>t</a:t>
            </a:r>
            <a:r>
              <a:rPr lang="en-GB" spc="-90"/>
              <a:t> </a:t>
            </a:r>
            <a:r>
              <a:rPr lang="en-GB" spc="-15"/>
              <a:t>s</a:t>
            </a:r>
            <a:r>
              <a:rPr lang="en-GB" spc="-20">
                <a:cs typeface="Arial"/>
              </a:rPr>
              <a:t>ố</a:t>
            </a:r>
            <a:r>
              <a:rPr lang="en-GB" spc="-15">
                <a:cs typeface="Arial"/>
              </a:rPr>
              <a:t> </a:t>
            </a:r>
            <a:r>
              <a:rPr lang="en-GB" spc="-5"/>
              <a:t>t</a:t>
            </a:r>
            <a:r>
              <a:rPr lang="en-GB" spc="-10"/>
              <a:t>o</a:t>
            </a:r>
            <a:r>
              <a:rPr lang="en-GB" spc="-15"/>
              <a:t>án</a:t>
            </a:r>
            <a:r>
              <a:rPr lang="en-GB" spc="-85"/>
              <a:t> </a:t>
            </a:r>
            <a:r>
              <a:rPr lang="en-GB" spc="-5"/>
              <a:t>t</a:t>
            </a:r>
            <a:r>
              <a:rPr lang="en-GB" spc="-20">
                <a:cs typeface="Arial"/>
              </a:rPr>
              <a:t>ử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4E10-EED6-877B-DA94-41D40BF5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sz="2400" spc="-10">
                <a:solidFill>
                  <a:srgbClr val="0000FF"/>
                </a:solidFill>
                <a:cs typeface="Arial"/>
              </a:rPr>
              <a:t>T</a:t>
            </a:r>
            <a:r>
              <a:rPr lang="en-GB" sz="2400">
                <a:solidFill>
                  <a:srgbClr val="0000FF"/>
                </a:solidFill>
                <a:cs typeface="Arial"/>
              </a:rPr>
              <a:t>oá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en-GB" sz="240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tử</a:t>
            </a:r>
            <a:r>
              <a:rPr lang="en-GB" sz="24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5">
                <a:solidFill>
                  <a:srgbClr val="0000FF"/>
                </a:solidFill>
                <a:cs typeface="Arial"/>
              </a:rPr>
              <a:t>s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ố</a:t>
            </a:r>
            <a:r>
              <a:rPr lang="en-GB" sz="24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>
                <a:solidFill>
                  <a:srgbClr val="0000FF"/>
                </a:solidFill>
                <a:cs typeface="Arial"/>
              </a:rPr>
              <a:t>họ</a:t>
            </a:r>
            <a:r>
              <a:rPr lang="en-GB" sz="2400" spc="5">
                <a:solidFill>
                  <a:srgbClr val="0000FF"/>
                </a:solidFill>
                <a:cs typeface="Arial"/>
              </a:rPr>
              <a:t>c:</a:t>
            </a:r>
            <a:endParaRPr lang="en-GB" sz="240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00B4C-6B81-92B7-C67B-F9A280291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8F6BEA68-31AD-F605-1459-A554D6AB4D2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371600"/>
          <a:ext cx="7543800" cy="4267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8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074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ử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Ý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ĩ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74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ộ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377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ừ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74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â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377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/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ên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074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ư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074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++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ă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74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ảm 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22A03-4FF3-8039-5C54-61A4283B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0"/>
              <a:t>M</a:t>
            </a:r>
            <a:r>
              <a:rPr lang="en-GB" spc="-10">
                <a:cs typeface="Arial"/>
              </a:rPr>
              <a:t>ộ</a:t>
            </a:r>
            <a:r>
              <a:rPr lang="en-GB" spc="-10"/>
              <a:t>t</a:t>
            </a:r>
            <a:r>
              <a:rPr lang="en-GB" spc="-90"/>
              <a:t> </a:t>
            </a:r>
            <a:r>
              <a:rPr lang="en-GB" spc="-15"/>
              <a:t>s</a:t>
            </a:r>
            <a:r>
              <a:rPr lang="en-GB" spc="-20">
                <a:cs typeface="Arial"/>
              </a:rPr>
              <a:t>ố</a:t>
            </a:r>
            <a:r>
              <a:rPr lang="en-GB" spc="-15">
                <a:cs typeface="Arial"/>
              </a:rPr>
              <a:t> </a:t>
            </a:r>
            <a:r>
              <a:rPr lang="en-GB" spc="-5"/>
              <a:t>t</a:t>
            </a:r>
            <a:r>
              <a:rPr lang="en-GB" spc="-10"/>
              <a:t>o</a:t>
            </a:r>
            <a:r>
              <a:rPr lang="en-GB" spc="-15"/>
              <a:t>án</a:t>
            </a:r>
            <a:r>
              <a:rPr lang="en-GB" spc="-85"/>
              <a:t> </a:t>
            </a:r>
            <a:r>
              <a:rPr lang="en-GB" spc="-5"/>
              <a:t>t</a:t>
            </a:r>
            <a:r>
              <a:rPr lang="en-GB" spc="-20">
                <a:cs typeface="Arial"/>
              </a:rPr>
              <a:t>ử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0823F-E4F6-3735-F9B7-BC44EFF3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00100"/>
            <a:ext cx="9144000" cy="5486400"/>
          </a:xfrm>
        </p:spPr>
        <p:txBody>
          <a:bodyPr/>
          <a:lstStyle/>
          <a:p>
            <a:pPr>
              <a:defRPr/>
            </a:pPr>
            <a:r>
              <a:rPr lang="en-GB" sz="2400" spc="-10">
                <a:solidFill>
                  <a:srgbClr val="0000FF"/>
                </a:solidFill>
                <a:cs typeface="Arial"/>
              </a:rPr>
              <a:t>T</a:t>
            </a:r>
            <a:r>
              <a:rPr lang="en-GB" sz="2400">
                <a:solidFill>
                  <a:srgbClr val="0000FF"/>
                </a:solidFill>
                <a:cs typeface="Arial"/>
              </a:rPr>
              <a:t>oá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en-GB" sz="240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tử</a:t>
            </a:r>
            <a:r>
              <a:rPr lang="en-GB" sz="24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>
                <a:solidFill>
                  <a:srgbClr val="0000FF"/>
                </a:solidFill>
                <a:cs typeface="Arial"/>
              </a:rPr>
              <a:t>qua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en-GB" sz="2400">
                <a:solidFill>
                  <a:srgbClr val="0000FF"/>
                </a:solidFill>
                <a:cs typeface="Arial"/>
              </a:rPr>
              <a:t> h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ệ</a:t>
            </a:r>
            <a:r>
              <a:rPr lang="en-GB" sz="240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&amp;</a:t>
            </a:r>
            <a:r>
              <a:rPr lang="en-GB" sz="2400" spc="-15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-10">
                <a:solidFill>
                  <a:srgbClr val="0000FF"/>
                </a:solidFill>
                <a:cs typeface="Arial"/>
              </a:rPr>
              <a:t>l</a:t>
            </a:r>
            <a:r>
              <a:rPr lang="en-GB" sz="2400">
                <a:solidFill>
                  <a:srgbClr val="0000FF"/>
                </a:solidFill>
                <a:cs typeface="Arial"/>
              </a:rPr>
              <a:t>og</a:t>
            </a:r>
            <a:r>
              <a:rPr lang="en-GB" sz="2400" spc="-10">
                <a:solidFill>
                  <a:srgbClr val="0000FF"/>
                </a:solidFill>
                <a:cs typeface="Arial"/>
              </a:rPr>
              <a:t>i</a:t>
            </a:r>
            <a:r>
              <a:rPr lang="en-GB" sz="2400" spc="5">
                <a:solidFill>
                  <a:srgbClr val="0000FF"/>
                </a:solidFill>
                <a:cs typeface="Arial"/>
              </a:rPr>
              <a:t>c:</a:t>
            </a:r>
            <a:endParaRPr lang="en-GB" sz="240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D1DD4-3B58-6C5C-2FF1-51FB295840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D6DFA760-6460-B34F-68F8-8B4855A5FCD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371600"/>
          <a:ext cx="7467600" cy="4419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9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906"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ử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Ý</a:t>
                      </a:r>
                      <a:r>
                        <a:rPr sz="1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ngh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ĩ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ằ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5" dirty="0">
                          <a:latin typeface="Times New Roman"/>
                          <a:cs typeface="Times New Roman"/>
                        </a:rPr>
                        <a:t>!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kh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&gt;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ớ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&lt;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nh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ỏ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423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ớ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ằ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423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nh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ỏ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ơ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ằ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|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ể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u 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spc="-3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ứ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&amp;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ể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u 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ứ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!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ể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u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ứ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000000"/>
                      </a:solidFill>
                      <a:prstDash val="solid"/>
                    </a:lnL>
                    <a:lnR w="10413">
                      <a:solidFill>
                        <a:srgbClr val="000000"/>
                      </a:solidFill>
                      <a:prstDash val="solid"/>
                    </a:lnR>
                    <a:lnT w="10413">
                      <a:solidFill>
                        <a:srgbClr val="000000"/>
                      </a:solidFill>
                      <a:prstDash val="solid"/>
                    </a:lnT>
                    <a:lnB w="1041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884E-2CE4-17BF-C7D8-F520F246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0"/>
              <a:t>M</a:t>
            </a:r>
            <a:r>
              <a:rPr lang="en-GB" spc="-10">
                <a:cs typeface="Arial"/>
              </a:rPr>
              <a:t>ộ</a:t>
            </a:r>
            <a:r>
              <a:rPr lang="en-GB" spc="-10"/>
              <a:t>t</a:t>
            </a:r>
            <a:r>
              <a:rPr lang="en-GB" spc="-90"/>
              <a:t> </a:t>
            </a:r>
            <a:r>
              <a:rPr lang="en-GB" spc="-15"/>
              <a:t>s</a:t>
            </a:r>
            <a:r>
              <a:rPr lang="en-GB" spc="-20">
                <a:cs typeface="Arial"/>
              </a:rPr>
              <a:t>ố</a:t>
            </a:r>
            <a:r>
              <a:rPr lang="en-GB" spc="-15">
                <a:cs typeface="Arial"/>
              </a:rPr>
              <a:t> </a:t>
            </a:r>
            <a:r>
              <a:rPr lang="en-GB" spc="-5"/>
              <a:t>t</a:t>
            </a:r>
            <a:r>
              <a:rPr lang="en-GB" spc="-10"/>
              <a:t>o</a:t>
            </a:r>
            <a:r>
              <a:rPr lang="en-GB" spc="-15"/>
              <a:t>án</a:t>
            </a:r>
            <a:r>
              <a:rPr lang="en-GB" spc="-85"/>
              <a:t> </a:t>
            </a:r>
            <a:r>
              <a:rPr lang="en-GB" spc="-5"/>
              <a:t>t</a:t>
            </a:r>
            <a:r>
              <a:rPr lang="en-GB" spc="-20">
                <a:cs typeface="Arial"/>
              </a:rPr>
              <a:t>ử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802C-B880-2BF8-AF22-A12FBCAF5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79463"/>
            <a:ext cx="9144000" cy="5486400"/>
          </a:xfrm>
        </p:spPr>
        <p:txBody>
          <a:bodyPr/>
          <a:lstStyle/>
          <a:p>
            <a:pPr>
              <a:defRPr/>
            </a:pPr>
            <a:r>
              <a:rPr lang="en-GB" sz="2400" spc="-225">
                <a:solidFill>
                  <a:srgbClr val="0000FF"/>
                </a:solidFill>
                <a:cs typeface="Arial"/>
              </a:rPr>
              <a:t>T</a:t>
            </a:r>
            <a:r>
              <a:rPr lang="en-GB" sz="2400">
                <a:solidFill>
                  <a:srgbClr val="0000FF"/>
                </a:solidFill>
                <a:cs typeface="Arial"/>
              </a:rPr>
              <a:t>oá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en-GB" sz="240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 spc="10">
                <a:solidFill>
                  <a:srgbClr val="0000FF"/>
                </a:solidFill>
                <a:cs typeface="Arial"/>
              </a:rPr>
              <a:t>tử</a:t>
            </a:r>
            <a:r>
              <a:rPr lang="en-GB" sz="2400" spc="-20">
                <a:solidFill>
                  <a:srgbClr val="0000FF"/>
                </a:solidFill>
                <a:cs typeface="Arial"/>
              </a:rPr>
              <a:t> </a:t>
            </a:r>
            <a:r>
              <a:rPr lang="en-GB" sz="2400">
                <a:solidFill>
                  <a:srgbClr val="0000FF"/>
                </a:solidFill>
                <a:cs typeface="Arial"/>
              </a:rPr>
              <a:t>gán</a:t>
            </a:r>
            <a:r>
              <a:rPr lang="en-GB" sz="2400" spc="5">
                <a:solidFill>
                  <a:srgbClr val="0000FF"/>
                </a:solidFill>
                <a:cs typeface="Arial"/>
              </a:rPr>
              <a:t>:</a:t>
            </a:r>
            <a:endParaRPr lang="en-GB" sz="240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8ED10-A7DE-59D4-FAB3-D27EFAF8F3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C9278AFE-6BE3-1182-F6A3-BD983736C86C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470025"/>
          <a:ext cx="7239001" cy="4244974"/>
        </p:xfrm>
        <a:graphic>
          <a:graphicData uri="http://schemas.openxmlformats.org/drawingml/2006/table">
            <a:tbl>
              <a:tblPr/>
              <a:tblGrid>
                <a:gridCol w="2412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967">
                <a:tc>
                  <a:txBody>
                    <a:bodyPr/>
                    <a:lstStyle/>
                    <a:p>
                      <a:pPr marL="452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Toán tử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C5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Ví dụ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C5D7"/>
                    </a:solidFill>
                  </a:tcPr>
                </a:tc>
                <a:tc>
                  <a:txBody>
                    <a:bodyPr/>
                    <a:lstStyle/>
                    <a:p>
                      <a:pPr marL="4587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Ý nghĩa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C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  a = 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gán a = 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+=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24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a += 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a = a + 5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-=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1911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b -= 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b = b – 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*=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84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c *= 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c = c * 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/=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905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d /= 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d = d/2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%=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17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e %= 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3461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5"/>
                          </a:solidFill>
                          <a:effectLst/>
                          <a:latin typeface="Arial" charset="0"/>
                          <a:cs typeface="Arial" charset="0"/>
                        </a:rPr>
                        <a:t>e = e % 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041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05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653" cap="flat" cmpd="sng" algn="ctr">
                      <a:solidFill>
                        <a:srgbClr val="191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ACE9C-E87F-55F8-69E3-4D6E2075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-20"/>
              <a:t>M</a:t>
            </a:r>
            <a:r>
              <a:rPr lang="en-GB" spc="-10">
                <a:cs typeface="Arial"/>
              </a:rPr>
              <a:t>ộ</a:t>
            </a:r>
            <a:r>
              <a:rPr lang="en-GB" spc="-10"/>
              <a:t>t</a:t>
            </a:r>
            <a:r>
              <a:rPr lang="en-GB" spc="-90"/>
              <a:t> </a:t>
            </a:r>
            <a:r>
              <a:rPr lang="en-GB" spc="-15"/>
              <a:t>s</a:t>
            </a:r>
            <a:r>
              <a:rPr lang="en-GB" spc="-20">
                <a:cs typeface="Arial"/>
              </a:rPr>
              <a:t>ố</a:t>
            </a:r>
            <a:r>
              <a:rPr lang="en-GB" spc="-15">
                <a:cs typeface="Arial"/>
              </a:rPr>
              <a:t> </a:t>
            </a:r>
            <a:r>
              <a:rPr lang="en-GB" spc="-5"/>
              <a:t>t</a:t>
            </a:r>
            <a:r>
              <a:rPr lang="en-GB" spc="-10"/>
              <a:t>o</a:t>
            </a:r>
            <a:r>
              <a:rPr lang="en-GB" spc="-15"/>
              <a:t>án</a:t>
            </a:r>
            <a:r>
              <a:rPr lang="en-GB" spc="-85"/>
              <a:t> </a:t>
            </a:r>
            <a:r>
              <a:rPr lang="en-GB" spc="-5"/>
              <a:t>t</a:t>
            </a:r>
            <a:r>
              <a:rPr lang="en-GB" spc="-20">
                <a:cs typeface="Arial"/>
              </a:rPr>
              <a:t>ử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E5138-089B-4FB9-18EC-56D115AD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7495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-1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>
                <a:solidFill>
                  <a:srgbClr val="0000FF"/>
                </a:solidFill>
                <a:cs typeface="Arial"/>
              </a:rPr>
              <a:t>oá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vi-VN" sz="240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tử</a:t>
            </a:r>
            <a:r>
              <a:rPr lang="vi-VN" sz="2400" spc="-2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>
                <a:solidFill>
                  <a:srgbClr val="0000FF"/>
                </a:solidFill>
                <a:cs typeface="Arial"/>
              </a:rPr>
              <a:t>đ</a:t>
            </a:r>
            <a:r>
              <a:rPr lang="vi-VN" sz="2400" spc="-10">
                <a:solidFill>
                  <a:srgbClr val="0000FF"/>
                </a:solidFill>
                <a:cs typeface="Arial"/>
              </a:rPr>
              <a:t>i</a:t>
            </a:r>
            <a:r>
              <a:rPr lang="vi-VN" sz="2400">
                <a:solidFill>
                  <a:srgbClr val="0000FF"/>
                </a:solidFill>
                <a:cs typeface="Arial"/>
              </a:rPr>
              <a:t>ề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u</a:t>
            </a:r>
            <a:r>
              <a:rPr lang="vi-VN" sz="240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25">
                <a:solidFill>
                  <a:srgbClr val="0000FF"/>
                </a:solidFill>
                <a:cs typeface="Arial"/>
              </a:rPr>
              <a:t>k</a:t>
            </a:r>
            <a:r>
              <a:rPr lang="vi-VN" sz="2400" spc="-10">
                <a:solidFill>
                  <a:srgbClr val="0000FF"/>
                </a:solidFill>
                <a:cs typeface="Arial"/>
              </a:rPr>
              <a:t>i</a:t>
            </a:r>
            <a:r>
              <a:rPr lang="vi-VN" sz="2400">
                <a:solidFill>
                  <a:srgbClr val="0000FF"/>
                </a:solidFill>
                <a:cs typeface="Arial"/>
              </a:rPr>
              <a:t>ện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:</a:t>
            </a:r>
            <a:endParaRPr lang="en-US" sz="2400" spc="5">
              <a:solidFill>
                <a:srgbClr val="0000FF"/>
              </a:solidFill>
              <a:cs typeface="Arial"/>
            </a:endParaRPr>
          </a:p>
          <a:p>
            <a:pPr marL="620395" lvl="1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spc="20">
                <a:cs typeface="Arial"/>
              </a:rPr>
              <a:t>&lt;</a:t>
            </a:r>
            <a:r>
              <a:rPr lang="vi-VN" sz="2400">
                <a:cs typeface="Arial"/>
              </a:rPr>
              <a:t>đ</a:t>
            </a:r>
            <a:r>
              <a:rPr lang="vi-VN" sz="2400" spc="-10">
                <a:cs typeface="Arial"/>
              </a:rPr>
              <a:t>i</a:t>
            </a:r>
            <a:r>
              <a:rPr lang="vi-VN" sz="2400">
                <a:cs typeface="Arial"/>
              </a:rPr>
              <a:t>ề</a:t>
            </a:r>
            <a:r>
              <a:rPr lang="vi-VN" sz="2400" spc="10">
                <a:cs typeface="Arial"/>
              </a:rPr>
              <a:t>u</a:t>
            </a:r>
            <a:r>
              <a:rPr lang="vi-VN" sz="2400" spc="-20">
                <a:cs typeface="Arial"/>
              </a:rPr>
              <a:t> </a:t>
            </a:r>
            <a:r>
              <a:rPr lang="vi-VN" sz="2400" spc="25">
                <a:cs typeface="Arial"/>
              </a:rPr>
              <a:t>k</a:t>
            </a:r>
            <a:r>
              <a:rPr lang="vi-VN" sz="2400" spc="-10">
                <a:cs typeface="Arial"/>
              </a:rPr>
              <a:t>i</a:t>
            </a:r>
            <a:r>
              <a:rPr lang="vi-VN" sz="2400">
                <a:cs typeface="Arial"/>
              </a:rPr>
              <a:t>ện</a:t>
            </a:r>
            <a:r>
              <a:rPr lang="vi-VN" sz="2400" spc="10">
                <a:cs typeface="Arial"/>
              </a:rPr>
              <a:t>&gt;</a:t>
            </a:r>
            <a:r>
              <a:rPr lang="vi-VN" sz="2400">
                <a:cs typeface="Arial"/>
              </a:rPr>
              <a:t> </a:t>
            </a:r>
            <a:r>
              <a:rPr lang="vi-VN" sz="2400" spc="10">
                <a:cs typeface="Arial"/>
              </a:rPr>
              <a:t>?</a:t>
            </a:r>
            <a:r>
              <a:rPr lang="vi-VN" sz="2400" spc="-20">
                <a:cs typeface="Arial"/>
              </a:rPr>
              <a:t> </a:t>
            </a:r>
            <a:r>
              <a:rPr lang="vi-VN" sz="2400" spc="20">
                <a:cs typeface="Arial"/>
              </a:rPr>
              <a:t>&lt;</a:t>
            </a:r>
            <a:r>
              <a:rPr lang="vi-VN" sz="2400" spc="-5">
                <a:cs typeface="Arial"/>
              </a:rPr>
              <a:t>bi</a:t>
            </a:r>
            <a:r>
              <a:rPr lang="vi-VN" sz="2400">
                <a:cs typeface="Arial"/>
              </a:rPr>
              <a:t>ể</a:t>
            </a:r>
            <a:r>
              <a:rPr lang="vi-VN" sz="2400" spc="10">
                <a:cs typeface="Arial"/>
              </a:rPr>
              <a:t>u</a:t>
            </a:r>
            <a:r>
              <a:rPr lang="vi-VN" sz="2400">
                <a:cs typeface="Arial"/>
              </a:rPr>
              <a:t> </a:t>
            </a:r>
            <a:r>
              <a:rPr lang="vi-VN" sz="2400" spc="10">
                <a:cs typeface="Arial"/>
              </a:rPr>
              <a:t>t</a:t>
            </a:r>
            <a:r>
              <a:rPr lang="vi-VN" sz="2400">
                <a:cs typeface="Arial"/>
              </a:rPr>
              <a:t>hứ</a:t>
            </a:r>
            <a:r>
              <a:rPr lang="vi-VN" sz="2400" spc="5">
                <a:cs typeface="Arial"/>
              </a:rPr>
              <a:t>c</a:t>
            </a:r>
            <a:r>
              <a:rPr lang="vi-VN" sz="2400" spc="-15">
                <a:cs typeface="Arial"/>
              </a:rPr>
              <a:t> </a:t>
            </a:r>
            <a:r>
              <a:rPr lang="vi-VN" sz="2400">
                <a:cs typeface="Arial"/>
              </a:rPr>
              <a:t>1</a:t>
            </a:r>
            <a:r>
              <a:rPr lang="vi-VN" sz="2400" spc="10">
                <a:cs typeface="Arial"/>
              </a:rPr>
              <a:t>&gt;</a:t>
            </a:r>
            <a:r>
              <a:rPr lang="vi-VN" sz="2400">
                <a:cs typeface="Arial"/>
              </a:rPr>
              <a:t> </a:t>
            </a:r>
            <a:r>
              <a:rPr lang="vi-VN" sz="2400" spc="5">
                <a:cs typeface="Arial"/>
              </a:rPr>
              <a:t>:</a:t>
            </a:r>
            <a:r>
              <a:rPr lang="vi-VN" sz="2400" spc="-5">
                <a:cs typeface="Arial"/>
              </a:rPr>
              <a:t> </a:t>
            </a:r>
            <a:r>
              <a:rPr lang="vi-VN" sz="2400" spc="10">
                <a:cs typeface="Arial"/>
              </a:rPr>
              <a:t>&lt;</a:t>
            </a:r>
            <a:r>
              <a:rPr lang="vi-VN" sz="2400">
                <a:cs typeface="Arial"/>
              </a:rPr>
              <a:t> </a:t>
            </a:r>
            <a:r>
              <a:rPr lang="vi-VN" sz="2400" spc="-5">
                <a:cs typeface="Arial"/>
              </a:rPr>
              <a:t>bi</a:t>
            </a:r>
            <a:r>
              <a:rPr lang="vi-VN" sz="2400">
                <a:cs typeface="Arial"/>
              </a:rPr>
              <a:t>ể</a:t>
            </a:r>
            <a:r>
              <a:rPr lang="vi-VN" sz="2400" spc="10">
                <a:cs typeface="Arial"/>
              </a:rPr>
              <a:t>u</a:t>
            </a:r>
            <a:r>
              <a:rPr lang="vi-VN" sz="2400" spc="25">
                <a:cs typeface="Arial"/>
              </a:rPr>
              <a:t> </a:t>
            </a:r>
            <a:r>
              <a:rPr lang="vi-VN" sz="2400" spc="10">
                <a:cs typeface="Arial"/>
              </a:rPr>
              <a:t>t</a:t>
            </a:r>
            <a:r>
              <a:rPr lang="vi-VN" sz="2400">
                <a:cs typeface="Arial"/>
              </a:rPr>
              <a:t>hứ</a:t>
            </a:r>
            <a:r>
              <a:rPr lang="vi-VN" sz="2400" spc="5">
                <a:cs typeface="Arial"/>
              </a:rPr>
              <a:t>c</a:t>
            </a:r>
            <a:r>
              <a:rPr lang="vi-VN" sz="2400" spc="-15">
                <a:cs typeface="Arial"/>
              </a:rPr>
              <a:t> </a:t>
            </a:r>
            <a:r>
              <a:rPr lang="vi-VN" sz="2400">
                <a:cs typeface="Arial"/>
              </a:rPr>
              <a:t>2</a:t>
            </a:r>
            <a:r>
              <a:rPr lang="vi-VN" sz="2400" spc="10">
                <a:cs typeface="Arial"/>
              </a:rPr>
              <a:t>&gt;</a:t>
            </a:r>
            <a:endParaRPr lang="en-US" sz="2400" spc="10">
              <a:cs typeface="Arial"/>
            </a:endParaRP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i="1" spc="-5">
                <a:solidFill>
                  <a:srgbClr val="0000FF"/>
                </a:solidFill>
                <a:cs typeface="Arial"/>
              </a:rPr>
              <a:t>in</a:t>
            </a:r>
            <a:r>
              <a:rPr lang="vi-VN" sz="2400" i="1" spc="5">
                <a:solidFill>
                  <a:srgbClr val="0000FF"/>
                </a:solidFill>
                <a:cs typeface="Arial"/>
              </a:rPr>
              <a:t>t</a:t>
            </a:r>
            <a:r>
              <a:rPr lang="vi-VN" sz="2400" i="1" spc="-5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i="1" spc="5">
                <a:cs typeface="Arial"/>
              </a:rPr>
              <a:t>x</a:t>
            </a:r>
            <a:r>
              <a:rPr lang="vi-VN" sz="2400" i="1" spc="-15">
                <a:cs typeface="Arial"/>
              </a:rPr>
              <a:t> </a:t>
            </a:r>
            <a:r>
              <a:rPr lang="vi-VN" sz="2400" i="1" spc="10">
                <a:cs typeface="Arial"/>
              </a:rPr>
              <a:t>=</a:t>
            </a:r>
            <a:r>
              <a:rPr lang="vi-VN" sz="2400" i="1">
                <a:cs typeface="Arial"/>
              </a:rPr>
              <a:t> 10</a:t>
            </a:r>
            <a:r>
              <a:rPr lang="vi-VN" sz="2400" i="1" spc="5">
                <a:cs typeface="Arial"/>
              </a:rPr>
              <a:t>; </a:t>
            </a:r>
            <a:r>
              <a:rPr lang="vi-VN" sz="2400" i="1" spc="-5">
                <a:solidFill>
                  <a:srgbClr val="0000FF"/>
                </a:solidFill>
                <a:cs typeface="Arial"/>
              </a:rPr>
              <a:t>in</a:t>
            </a:r>
            <a:r>
              <a:rPr lang="vi-VN" sz="2400" i="1" spc="5">
                <a:solidFill>
                  <a:srgbClr val="0000FF"/>
                </a:solidFill>
                <a:cs typeface="Arial"/>
              </a:rPr>
              <a:t>t</a:t>
            </a:r>
            <a:r>
              <a:rPr lang="vi-VN" sz="2400" i="1" spc="-5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i="1" spc="5">
                <a:cs typeface="Arial"/>
              </a:rPr>
              <a:t>y</a:t>
            </a:r>
            <a:r>
              <a:rPr lang="vi-VN" sz="2400" i="1" spc="-15">
                <a:cs typeface="Arial"/>
              </a:rPr>
              <a:t> </a:t>
            </a:r>
            <a:r>
              <a:rPr lang="vi-VN" sz="2400" i="1" spc="10">
                <a:cs typeface="Arial"/>
              </a:rPr>
              <a:t>=</a:t>
            </a:r>
            <a:r>
              <a:rPr lang="vi-VN" sz="2400" i="1">
                <a:cs typeface="Arial"/>
              </a:rPr>
              <a:t> 20</a:t>
            </a:r>
            <a:r>
              <a:rPr lang="vi-VN" sz="2400" i="1" spc="5">
                <a:cs typeface="Arial"/>
              </a:rPr>
              <a:t>;</a:t>
            </a:r>
            <a:endParaRPr lang="en-US" sz="2400" i="1" spc="5">
              <a:cs typeface="Arial"/>
            </a:endParaRP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i="1" spc="-5">
                <a:solidFill>
                  <a:srgbClr val="0000FF"/>
                </a:solidFill>
                <a:cs typeface="Arial"/>
              </a:rPr>
              <a:t>in</a:t>
            </a:r>
            <a:r>
              <a:rPr lang="vi-VN" sz="2400" i="1" spc="5">
                <a:solidFill>
                  <a:srgbClr val="0000FF"/>
                </a:solidFill>
                <a:cs typeface="Arial"/>
              </a:rPr>
              <a:t>t</a:t>
            </a:r>
            <a:r>
              <a:rPr lang="vi-VN" sz="2400" i="1" spc="-5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i="1" spc="10">
                <a:cs typeface="Arial"/>
              </a:rPr>
              <a:t>Z</a:t>
            </a:r>
            <a:r>
              <a:rPr lang="vi-VN" sz="2400" i="1" spc="-30">
                <a:cs typeface="Arial"/>
              </a:rPr>
              <a:t> </a:t>
            </a:r>
            <a:r>
              <a:rPr lang="vi-VN" sz="2400" i="1" spc="10">
                <a:cs typeface="Arial"/>
              </a:rPr>
              <a:t>=</a:t>
            </a:r>
            <a:r>
              <a:rPr lang="vi-VN" sz="2400" i="1">
                <a:cs typeface="Arial"/>
              </a:rPr>
              <a:t> </a:t>
            </a:r>
            <a:r>
              <a:rPr lang="vi-VN" sz="2400" i="1" spc="5">
                <a:cs typeface="Arial"/>
              </a:rPr>
              <a:t>(x</a:t>
            </a:r>
            <a:r>
              <a:rPr lang="vi-VN" sz="2400" i="1" spc="20">
                <a:cs typeface="Arial"/>
              </a:rPr>
              <a:t>&lt;</a:t>
            </a:r>
            <a:r>
              <a:rPr lang="vi-VN" sz="2400" i="1" spc="5">
                <a:cs typeface="Arial"/>
              </a:rPr>
              <a:t>y)</a:t>
            </a:r>
            <a:r>
              <a:rPr lang="vi-VN" sz="2400" i="1" spc="-35">
                <a:cs typeface="Arial"/>
              </a:rPr>
              <a:t> </a:t>
            </a:r>
            <a:r>
              <a:rPr lang="vi-VN" sz="2400" i="1" spc="10">
                <a:cs typeface="Arial"/>
              </a:rPr>
              <a:t>?</a:t>
            </a:r>
            <a:r>
              <a:rPr lang="vi-VN" sz="2400" i="1">
                <a:cs typeface="Arial"/>
              </a:rPr>
              <a:t> 3</a:t>
            </a:r>
            <a:r>
              <a:rPr lang="vi-VN" sz="2400" i="1" spc="10">
                <a:cs typeface="Arial"/>
              </a:rPr>
              <a:t>0</a:t>
            </a:r>
            <a:r>
              <a:rPr lang="vi-VN" sz="2400" i="1">
                <a:cs typeface="Arial"/>
              </a:rPr>
              <a:t> </a:t>
            </a:r>
            <a:r>
              <a:rPr lang="vi-VN" sz="2400" i="1" spc="5">
                <a:cs typeface="Arial"/>
              </a:rPr>
              <a:t>:</a:t>
            </a:r>
            <a:r>
              <a:rPr lang="vi-VN" sz="2400" i="1" spc="-5">
                <a:cs typeface="Arial"/>
              </a:rPr>
              <a:t> </a:t>
            </a:r>
            <a:r>
              <a:rPr lang="vi-VN" sz="2400" i="1">
                <a:cs typeface="Arial"/>
              </a:rPr>
              <a:t>40</a:t>
            </a:r>
            <a:r>
              <a:rPr lang="vi-VN" sz="2400" i="1" spc="5">
                <a:cs typeface="Arial"/>
              </a:rPr>
              <a:t>;</a:t>
            </a:r>
            <a:endParaRPr lang="en-US" sz="2400" i="1" spc="5">
              <a:cs typeface="Arial"/>
            </a:endParaRPr>
          </a:p>
          <a:p>
            <a:pPr marL="963295" lvl="2" indent="-264795">
              <a:buClr>
                <a:srgbClr val="0000FF"/>
              </a:buClr>
              <a:buFont typeface="Wingdings"/>
              <a:buChar char=""/>
              <a:tabLst>
                <a:tab pos="278130" algn="l"/>
              </a:tabLst>
              <a:defRPr/>
            </a:pPr>
            <a:r>
              <a:rPr lang="vi-VN" sz="2400" i="1" spc="10">
                <a:solidFill>
                  <a:srgbClr val="007F00"/>
                </a:solidFill>
                <a:cs typeface="Arial"/>
              </a:rPr>
              <a:t>/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/</a:t>
            </a:r>
            <a:r>
              <a:rPr lang="vi-VN" sz="2400" i="1" spc="-55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K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ế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t</a:t>
            </a:r>
            <a:r>
              <a:rPr lang="vi-VN" sz="2400" i="1" spc="-5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qu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ả</a:t>
            </a:r>
            <a:r>
              <a:rPr lang="vi-VN" sz="2400" i="1" spc="25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z</a:t>
            </a:r>
            <a:r>
              <a:rPr lang="vi-VN" sz="2400" i="1" spc="-15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=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3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0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d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o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-5">
                <a:solidFill>
                  <a:srgbClr val="007F00"/>
                </a:solidFill>
                <a:cs typeface="Arial"/>
              </a:rPr>
              <a:t>bi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ể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u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t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h</a:t>
            </a:r>
            <a:r>
              <a:rPr lang="vi-VN" sz="2400" i="1" spc="-5">
                <a:solidFill>
                  <a:srgbClr val="007F00"/>
                </a:solidFill>
                <a:cs typeface="Arial"/>
              </a:rPr>
              <a:t>ứ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c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(x</a:t>
            </a:r>
            <a:r>
              <a:rPr lang="vi-VN" sz="2400" i="1" spc="-15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&lt;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y)</a:t>
            </a:r>
            <a:r>
              <a:rPr lang="vi-VN" sz="2400" i="1" spc="-10">
                <a:solidFill>
                  <a:srgbClr val="007F00"/>
                </a:solidFill>
                <a:cs typeface="Arial"/>
              </a:rPr>
              <a:t> l</a:t>
            </a:r>
            <a:r>
              <a:rPr lang="vi-VN" sz="2400" i="1" spc="10">
                <a:solidFill>
                  <a:srgbClr val="007F00"/>
                </a:solidFill>
                <a:cs typeface="Arial"/>
              </a:rPr>
              <a:t>à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 </a:t>
            </a:r>
            <a:r>
              <a:rPr lang="en-US" sz="2400" i="1">
                <a:solidFill>
                  <a:srgbClr val="007F00"/>
                </a:solidFill>
                <a:cs typeface="Arial"/>
              </a:rPr>
              <a:t>đ</a:t>
            </a:r>
            <a:r>
              <a:rPr lang="vi-VN" sz="2400" i="1">
                <a:solidFill>
                  <a:srgbClr val="007F00"/>
                </a:solidFill>
                <a:cs typeface="Arial"/>
              </a:rPr>
              <a:t>úng</a:t>
            </a:r>
            <a:r>
              <a:rPr lang="vi-VN" sz="2400" i="1" spc="5">
                <a:solidFill>
                  <a:srgbClr val="007F00"/>
                </a:solidFill>
                <a:cs typeface="Arial"/>
              </a:rPr>
              <a:t>.</a:t>
            </a:r>
            <a:endParaRPr lang="vi-VN" sz="240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BD6E2-2CB9-FAC5-3694-D698185726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4">
            <a:hlinkClick r:id="rId2" action="ppaction://hlinkpres?slideindex=1&amp;slidetitle="/>
            <a:extLst>
              <a:ext uri="{FF2B5EF4-FFF2-40B4-BE49-F238E27FC236}">
                <a16:creationId xmlns:a16="http://schemas.microsoft.com/office/drawing/2014/main" id="{081F6BFE-9948-200C-2F02-BA94C68A6F14}"/>
              </a:ext>
            </a:extLst>
          </p:cNvPr>
          <p:cNvSpPr/>
          <p:nvPr/>
        </p:nvSpPr>
        <p:spPr bwMode="auto">
          <a:xfrm>
            <a:off x="3200400" y="3886200"/>
            <a:ext cx="2209800" cy="769441"/>
          </a:xfrm>
          <a:prstGeom prst="rect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440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DEMO</a:t>
            </a:r>
            <a:endParaRPr lang="en-GB" sz="440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FD8BCE7-0E67-49A8-656A-6C37C699E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Gói </a:t>
            </a:r>
            <a:r>
              <a:rPr lang="en-US" altLang="en-US">
                <a:solidFill>
                  <a:srgbClr val="0070C0"/>
                </a:solidFill>
              </a:rPr>
              <a:t>java.lang</a:t>
            </a:r>
            <a:endParaRPr lang="en-GB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DA8BD5D-FD46-0CE4-3AAE-44825D04D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Gói cơ bản của ngôn ngữ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Chứa các class cơ bản đóng vai trò trung tâm đối với các tác vụ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Các class cơ sở: </a:t>
            </a:r>
            <a:r>
              <a:rPr lang="en-US" altLang="en-US" b="1">
                <a:solidFill>
                  <a:srgbClr val="FF0000"/>
                </a:solidFill>
              </a:rPr>
              <a:t>Object,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Nếu muốn xem các kiểu dữ liệu cơ bản như một đối tượng , sử dụng </a:t>
            </a:r>
            <a:r>
              <a:rPr lang="en-US" altLang="en-US" b="1">
                <a:solidFill>
                  <a:srgbClr val="FF0000"/>
                </a:solidFill>
              </a:rPr>
              <a:t>class Wrapper</a:t>
            </a:r>
            <a:r>
              <a:rPr lang="en-US" altLang="en-US"/>
              <a:t>: Boolean, Integer, Double, Character…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FF0000"/>
                </a:solidFill>
              </a:rPr>
              <a:t>class Void</a:t>
            </a:r>
            <a:r>
              <a:rPr lang="en-US" altLang="en-US"/>
              <a:t>: không thể khởi tạo,  biểu diễn cho kiểu void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FF0000"/>
                </a:solidFill>
              </a:rPr>
              <a:t>class Math </a:t>
            </a:r>
            <a:r>
              <a:rPr lang="en-US" altLang="en-US"/>
              <a:t>chứa các phương thức xử lý toán học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/>
              <a:t>Math.tênhàm(tham số): Math.abs(-5)</a:t>
            </a:r>
            <a:r>
              <a:rPr lang="en-US" altLang="en-US">
                <a:sym typeface="Wingdings" panose="05000000000000000000" pitchFamily="2" charset="2"/>
              </a:rPr>
              <a:t>5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class Loader, Process, System. Runtime …cung cấp các tác vụ mức hệ thống</a:t>
            </a:r>
          </a:p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FE4B9-AA0A-FB2D-4515-57E6026D0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B8AF5E7-4DDE-51AE-F86A-DAB2ACC77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Cấu trúc điều khiển</a:t>
            </a:r>
            <a:endParaRPr lang="en-GB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FF2DA5C0-F8A6-135A-5BBC-175B02B700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E2AC7-3B31-904A-4DC1-5F5D3E705B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pic>
        <p:nvPicPr>
          <p:cNvPr id="25605" name="Picture 5" descr="Fig04-01">
            <a:extLst>
              <a:ext uri="{FF2B5EF4-FFF2-40B4-BE49-F238E27FC236}">
                <a16:creationId xmlns:a16="http://schemas.microsoft.com/office/drawing/2014/main" id="{8EF77253-5135-AD1A-BC08-45C7E0D2C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57300"/>
            <a:ext cx="8153400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182C3-8FBA-738D-DD33-60B349599F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B51292D-C128-E52C-59A5-FF1CA12CA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Cấu trúc điều kiện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3C69FD3-D0F1-56EB-83F5-5256DCFCB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3886200" cy="4038600"/>
          </a:xfrm>
        </p:spPr>
        <p:txBody>
          <a:bodyPr/>
          <a:lstStyle/>
          <a:p>
            <a:pPr marL="346075" indent="-346075" algn="just" eaLnBrk="1" hangingPunct="1"/>
            <a:r>
              <a:rPr lang="en-US" altLang="en-US"/>
              <a:t>Cú pháp</a:t>
            </a: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if (condition) 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{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	action1 statements;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}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else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{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	action2 statements;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588" algn="just" eaLnBrk="1" hangingPunct="1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A82800"/>
                </a:solidFill>
                <a:latin typeface="Times New Roman" panose="02020603050405020304" pitchFamily="18" charset="0"/>
              </a:rPr>
              <a:t>}</a:t>
            </a:r>
            <a:endParaRPr lang="en-US" altLang="en-US" b="1">
              <a:solidFill>
                <a:srgbClr val="A82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7B2376B-2B1D-2BAD-9213-50758F14E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762000"/>
            <a:ext cx="5029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6075" indent="-346075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Arial" panose="020B0604020202020204" pitchFamily="34" charset="0"/>
              </a:rPr>
              <a:t>Cú pháp</a:t>
            </a:r>
            <a:r>
              <a:rPr lang="en-US" altLang="en-US" sz="2400"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switch (expression)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{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case 'value1': action1 statement(s);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	           break;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 		case 'value2': action2 statement(s);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	           break;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: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: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 		case 'valueN': actionN statement(s);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	 	            break;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 		default:  default_action statement(s); 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900">
                <a:solidFill>
                  <a:srgbClr val="A82800"/>
                </a:solidFill>
                <a:latin typeface="Times New Roman" panose="02020603050405020304" pitchFamily="18" charset="0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  <p:bldP spid="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67F1F0C-FF6C-952F-B355-BECC0977AB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4F1FB7B-A04B-6C9D-DA7F-6A0D0C1FA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5" y="3095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C2CEB71-DBD6-5B0B-143A-87759D978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75" y="3076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C351C35F-37CD-B6B5-D4F1-1E193CE61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676400"/>
            <a:ext cx="2209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A8486411-4485-10E2-AC82-85813694E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Cấu trúc lặp</a:t>
            </a:r>
          </a:p>
        </p:txBody>
      </p:sp>
      <p:sp>
        <p:nvSpPr>
          <p:cNvPr id="95238" name="Text Box 6">
            <a:extLst>
              <a:ext uri="{FF2B5EF4-FFF2-40B4-BE49-F238E27FC236}">
                <a16:creationId xmlns:a16="http://schemas.microsoft.com/office/drawing/2014/main" id="{D166CF6A-D73A-38D3-D0CB-0B5695E50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7696200" cy="203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while loop</a:t>
            </a:r>
            <a:endParaRPr lang="en-US" altLang="en-US" sz="2000" b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while(condition) </a:t>
            </a:r>
          </a:p>
          <a:p>
            <a:pPr algn="just"/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{</a:t>
            </a:r>
          </a:p>
          <a:p>
            <a:pPr algn="just"/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		action statements;</a:t>
            </a:r>
          </a:p>
          <a:p>
            <a:pPr algn="just"/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	}</a:t>
            </a:r>
            <a:r>
              <a:rPr lang="en-US" altLang="en-US" sz="2400" b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5239" name="Text Box 7">
            <a:extLst>
              <a:ext uri="{FF2B5EF4-FFF2-40B4-BE49-F238E27FC236}">
                <a16:creationId xmlns:a16="http://schemas.microsoft.com/office/drawing/2014/main" id="{B0F7257A-DE3C-5831-9B63-CBC834879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71800"/>
            <a:ext cx="76962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Do while</a:t>
            </a:r>
            <a:endParaRPr lang="en-US" altLang="en-US" sz="2000" b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do{</a:t>
            </a:r>
          </a:p>
          <a:p>
            <a:pPr algn="just"/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		action statements;</a:t>
            </a:r>
          </a:p>
          <a:p>
            <a:pPr algn="just"/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		}</a:t>
            </a:r>
            <a:r>
              <a:rPr lang="en-US" altLang="en-US" sz="2400" b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while(condition);</a:t>
            </a:r>
          </a:p>
        </p:txBody>
      </p:sp>
      <p:sp>
        <p:nvSpPr>
          <p:cNvPr id="95240" name="Text Box 8">
            <a:extLst>
              <a:ext uri="{FF2B5EF4-FFF2-40B4-BE49-F238E27FC236}">
                <a16:creationId xmlns:a16="http://schemas.microsoft.com/office/drawing/2014/main" id="{5B98D477-2836-1EC4-0271-FDEBFFFC2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7696200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For</a:t>
            </a:r>
            <a:endParaRPr lang="en-US" altLang="en-US" sz="2000" b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A828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rgbClr val="A82800"/>
                </a:solidFill>
                <a:latin typeface="Times New Roman" panose="02020603050405020304" pitchFamily="18" charset="0"/>
              </a:rPr>
              <a:t>for(initialization statements; condition; increment statements){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A82800"/>
                </a:solidFill>
                <a:latin typeface="Times New Roman" panose="02020603050405020304" pitchFamily="18" charset="0"/>
              </a:rPr>
              <a:t>	action statements;}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8" grpId="0" autoUpdateAnimBg="0"/>
      <p:bldP spid="95239" grpId="0" autoUpdateAnimBg="0"/>
      <p:bldP spid="9524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AEEA135-7CB8-8CE9-BD30-F0AFC4979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Input/Output</a:t>
            </a:r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B5946-5C7A-5863-48D9-CFC1C8C986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EE424E-D696-94BE-2807-FAE10B84898B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990600"/>
            <a:ext cx="8382000" cy="4876800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2pPr>
            <a:lvl3pPr marL="9715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14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4pPr>
            <a:lvl5pPr marL="16002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5pPr>
            <a:lvl6pPr marL="20574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6pPr>
            <a:lvl7pPr marL="25146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7pPr>
            <a:lvl8pPr marL="29718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8pPr>
            <a:lvl9pPr marL="34290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100000"/>
              </a:spcBef>
              <a:defRPr/>
            </a:pPr>
            <a:r>
              <a:rPr lang="en-US" altLang="en-US" sz="3600" b="0" kern="0"/>
              <a:t>Nhập dữ liệu</a:t>
            </a:r>
          </a:p>
          <a:p>
            <a:pPr>
              <a:spcBef>
                <a:spcPct val="100000"/>
              </a:spcBef>
              <a:defRPr/>
            </a:pPr>
            <a:r>
              <a:rPr lang="en-US" altLang="en-US" sz="3600" b="0" kern="0"/>
              <a:t>Xuất kết quả</a:t>
            </a:r>
          </a:p>
          <a:p>
            <a:pPr>
              <a:spcBef>
                <a:spcPct val="100000"/>
              </a:spcBef>
              <a:defRPr/>
            </a:pPr>
            <a:r>
              <a:rPr lang="en-US" altLang="en-US" sz="3600" b="0" kern="0"/>
              <a:t>Format Xuất</a:t>
            </a:r>
          </a:p>
          <a:p>
            <a:pPr>
              <a:spcBef>
                <a:spcPct val="100000"/>
              </a:spcBef>
              <a:defRPr/>
            </a:pPr>
            <a:r>
              <a:rPr lang="en-US" altLang="en-US" sz="3600" b="0" kern="0"/>
              <a:t>Đọc/ghi tập tin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6C64757-F10E-94E3-83B9-D9E9FEB19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</a:t>
            </a:r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0083B-DF4D-C73A-4C4D-DBBA76B42F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F33B6B-74C4-9E33-15CC-25F8DB9FC3F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8200"/>
            <a:ext cx="9144000" cy="5486400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2pPr>
            <a:lvl3pPr marL="9715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14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4pPr>
            <a:lvl5pPr marL="16002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5pPr>
            <a:lvl6pPr marL="20574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6pPr>
            <a:lvl7pPr marL="25146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7pPr>
            <a:lvl8pPr marL="29718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8pPr>
            <a:lvl9pPr marL="34290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b="0" kern="0"/>
              <a:t>Class </a:t>
            </a:r>
            <a:r>
              <a:rPr lang="en-US" altLang="en-US" b="0" kern="0">
                <a:solidFill>
                  <a:srgbClr val="FF0000"/>
                </a:solidFill>
              </a:rPr>
              <a:t>BufferedReader</a:t>
            </a:r>
            <a:r>
              <a:rPr lang="en-US" altLang="en-US" b="0" kern="0"/>
              <a:t> trong Package </a:t>
            </a:r>
            <a:r>
              <a:rPr lang="en-US" altLang="en-US" b="0" kern="0">
                <a:solidFill>
                  <a:srgbClr val="FF0000"/>
                </a:solidFill>
              </a:rPr>
              <a:t>java.io</a:t>
            </a:r>
            <a:r>
              <a:rPr lang="en-US" altLang="en-US" b="0" kern="0"/>
              <a:t>;</a:t>
            </a:r>
          </a:p>
          <a:p>
            <a:pPr lvl="1" eaLnBrk="1" hangingPunct="1">
              <a:defRPr/>
            </a:pPr>
            <a:r>
              <a:rPr lang="en-US" altLang="en-US" b="0" kern="0"/>
              <a:t>Khai báo: BufferedReader </a:t>
            </a:r>
            <a:r>
              <a:rPr lang="en-US" altLang="en-US" b="0" kern="0">
                <a:solidFill>
                  <a:srgbClr val="FF0000"/>
                </a:solidFill>
              </a:rPr>
              <a:t>dataIn = </a:t>
            </a:r>
            <a:r>
              <a:rPr lang="en-US" altLang="en-US" b="0" kern="0"/>
              <a:t>new BufferedReader( new InputStreamReader(</a:t>
            </a:r>
            <a:r>
              <a:rPr lang="en-US" altLang="en-US" b="0" kern="0">
                <a:solidFill>
                  <a:srgbClr val="FF0000"/>
                </a:solidFill>
              </a:rPr>
              <a:t>System.in</a:t>
            </a:r>
            <a:r>
              <a:rPr lang="en-US" altLang="en-US" b="0" kern="0"/>
              <a:t>) ); </a:t>
            </a:r>
          </a:p>
          <a:p>
            <a:pPr lvl="1" eaLnBrk="1" hangingPunct="1">
              <a:defRPr/>
            </a:pPr>
            <a:r>
              <a:rPr lang="en-US" altLang="en-US" b="0" kern="0"/>
              <a:t>Khai báo biến kiểu String chứa tạm dữ liệu nhập từ console:</a:t>
            </a:r>
          </a:p>
          <a:p>
            <a:pPr lvl="2" eaLnBrk="1" hangingPunct="1">
              <a:defRPr/>
            </a:pPr>
            <a:r>
              <a:rPr lang="en-US" altLang="en-US" b="0" kern="0"/>
              <a:t>String temp = </a:t>
            </a:r>
            <a:r>
              <a:rPr lang="en-US" altLang="en-US" b="0" kern="0">
                <a:solidFill>
                  <a:srgbClr val="FF0000"/>
                </a:solidFill>
              </a:rPr>
              <a:t>dataIn</a:t>
            </a:r>
            <a:r>
              <a:rPr lang="en-US" altLang="en-US" b="0" kern="0"/>
              <a:t>.readLine(); </a:t>
            </a:r>
          </a:p>
          <a:p>
            <a:pPr eaLnBrk="1" hangingPunct="1">
              <a:defRPr/>
            </a:pPr>
            <a:r>
              <a:rPr lang="en-US" altLang="en-US"/>
              <a:t>Class </a:t>
            </a:r>
            <a:r>
              <a:rPr lang="en-US" altLang="en-US">
                <a:solidFill>
                  <a:srgbClr val="FF0000"/>
                </a:solidFill>
              </a:rPr>
              <a:t>Scanner </a:t>
            </a:r>
            <a:r>
              <a:rPr lang="en-US" altLang="en-US"/>
              <a:t>trong Package </a:t>
            </a:r>
            <a:r>
              <a:rPr lang="en-US" altLang="en-US">
                <a:solidFill>
                  <a:srgbClr val="FF0000"/>
                </a:solidFill>
              </a:rPr>
              <a:t>java.util</a:t>
            </a:r>
            <a:r>
              <a:rPr lang="en-US" altLang="en-US"/>
              <a:t>;</a:t>
            </a:r>
          </a:p>
          <a:p>
            <a:pPr lvl="1" eaLnBrk="1" hangingPunct="1">
              <a:defRPr/>
            </a:pPr>
            <a:r>
              <a:rPr lang="en-US" altLang="en-US" b="0" kern="0"/>
              <a:t>Khai báo: Scanner </a:t>
            </a:r>
            <a:r>
              <a:rPr lang="en-US" altLang="en-US">
                <a:solidFill>
                  <a:srgbClr val="FF0000"/>
                </a:solidFill>
              </a:rPr>
              <a:t>datain= </a:t>
            </a:r>
            <a:r>
              <a:rPr lang="en-US" altLang="en-US" b="0" kern="0"/>
              <a:t>new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 b="0" kern="0"/>
              <a:t>Scanner(System.in);</a:t>
            </a:r>
          </a:p>
          <a:p>
            <a:pPr lvl="1" eaLnBrk="1" hangingPunct="1">
              <a:defRPr/>
            </a:pPr>
            <a:r>
              <a:rPr lang="en-US" altLang="en-US"/>
              <a:t>Sử dụng phương thức </a:t>
            </a:r>
            <a:r>
              <a:rPr lang="en-US" altLang="en-US" u="sng">
                <a:solidFill>
                  <a:srgbClr val="FF0000"/>
                </a:solidFill>
              </a:rPr>
              <a:t>nextLine()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nextByte()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nextShort()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nextInt()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nextLong()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nextFloat()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u="sng">
                <a:solidFill>
                  <a:srgbClr val="FF0000"/>
                </a:solidFill>
              </a:rPr>
              <a:t>nextDouble()</a:t>
            </a:r>
            <a:r>
              <a:rPr lang="en-US" altLang="en-US">
                <a:solidFill>
                  <a:srgbClr val="FF0000"/>
                </a:solidFill>
              </a:rPr>
              <a:t>, hay </a:t>
            </a:r>
            <a:r>
              <a:rPr lang="en-US" altLang="en-US" u="sng">
                <a:solidFill>
                  <a:srgbClr val="FF0000"/>
                </a:solidFill>
              </a:rPr>
              <a:t>nextBoolean()</a:t>
            </a:r>
            <a:r>
              <a:rPr lang="en-US" altLang="en-US"/>
              <a:t> nhập dữ liệu dạng </a:t>
            </a:r>
            <a:r>
              <a:rPr lang="en-US" altLang="en-US" u="sng"/>
              <a:t>string</a:t>
            </a:r>
            <a:r>
              <a:rPr lang="en-US" altLang="en-US"/>
              <a:t>, </a:t>
            </a:r>
            <a:r>
              <a:rPr lang="en-US" altLang="en-US" u="sng"/>
              <a:t>byte</a:t>
            </a:r>
            <a:r>
              <a:rPr lang="en-US" altLang="en-US"/>
              <a:t>, </a:t>
            </a:r>
            <a:r>
              <a:rPr lang="en-US" altLang="en-US" u="sng"/>
              <a:t>short</a:t>
            </a:r>
            <a:r>
              <a:rPr lang="en-US" altLang="en-US"/>
              <a:t>, </a:t>
            </a:r>
            <a:r>
              <a:rPr lang="en-US" altLang="en-US" u="sng"/>
              <a:t>int</a:t>
            </a:r>
            <a:r>
              <a:rPr lang="en-US" altLang="en-US"/>
              <a:t>, </a:t>
            </a:r>
            <a:r>
              <a:rPr lang="en-US" altLang="en-US" u="sng"/>
              <a:t>long</a:t>
            </a:r>
            <a:r>
              <a:rPr lang="en-US" altLang="en-US"/>
              <a:t>, </a:t>
            </a:r>
            <a:r>
              <a:rPr lang="en-US" altLang="en-US" u="sng"/>
              <a:t>float</a:t>
            </a:r>
            <a:r>
              <a:rPr lang="en-US" altLang="en-US"/>
              <a:t>, </a:t>
            </a:r>
            <a:r>
              <a:rPr lang="en-US" altLang="en-US" u="sng"/>
              <a:t>double</a:t>
            </a:r>
            <a:r>
              <a:rPr lang="en-US" altLang="en-US"/>
              <a:t>, hay </a:t>
            </a:r>
            <a:r>
              <a:rPr lang="en-US" altLang="en-US" u="sng"/>
              <a:t>boolean</a:t>
            </a:r>
            <a:r>
              <a:rPr lang="en-US" altLang="en-US"/>
              <a:t>. </a:t>
            </a:r>
          </a:p>
          <a:p>
            <a:pPr lvl="1" eaLnBrk="1" hangingPunct="1">
              <a:defRPr/>
            </a:pPr>
            <a:r>
              <a:rPr lang="en-US" altLang="en-US"/>
              <a:t>Ví dụ khai báo biến temp  kiểu String nhận từ console:</a:t>
            </a:r>
          </a:p>
          <a:p>
            <a:pPr lvl="2" eaLnBrk="1" hangingPunct="1">
              <a:defRPr/>
            </a:pPr>
            <a:r>
              <a:rPr lang="en-US" altLang="en-US"/>
              <a:t> String temp=datain.</a:t>
            </a:r>
            <a:r>
              <a:rPr lang="en-US" altLang="en-US">
                <a:solidFill>
                  <a:srgbClr val="FF0000"/>
                </a:solidFill>
              </a:rPr>
              <a:t>nextLine()</a:t>
            </a:r>
            <a:r>
              <a:rPr lang="en-US" altLang="en-US"/>
              <a:t>; </a:t>
            </a:r>
          </a:p>
          <a:p>
            <a:pPr lvl="1"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 b="0" kern="0"/>
          </a:p>
          <a:p>
            <a:pPr lvl="1" eaLnBrk="1" hangingPunct="1">
              <a:defRPr/>
            </a:pPr>
            <a:endParaRPr lang="en-US" altLang="en-US" b="0" ker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36A1A59B-7423-BBB6-B905-259C7BFB46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A1254684-8A2D-47EE-999C-1B0A950C2516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A6A8019-3783-9A26-AC52-24053EE31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153400" cy="685800"/>
          </a:xfrm>
        </p:spPr>
        <p:txBody>
          <a:bodyPr/>
          <a:lstStyle/>
          <a:p>
            <a:r>
              <a:rPr lang="en-US" altLang="en-US" sz="4000"/>
              <a:t>Định dạng xuất với </a:t>
            </a:r>
            <a:r>
              <a:rPr lang="en-US" altLang="en-US" sz="4000">
                <a:latin typeface="Courier New" panose="02070309020205020404" pitchFamily="49" charset="0"/>
              </a:rPr>
              <a:t>printf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2D3F78B-CF2A-C8C8-5EE4-B35D8B803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305800" cy="4648200"/>
          </a:xfrm>
        </p:spPr>
        <p:txBody>
          <a:bodyPr/>
          <a:lstStyle/>
          <a:p>
            <a:r>
              <a:rPr lang="en-US" altLang="en-US"/>
              <a:t>Cú pháp:	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System.out.printf(formatString)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System.out.printf(formatString,argumentList)</a:t>
            </a:r>
          </a:p>
          <a:p>
            <a:r>
              <a:rPr lang="en-US" altLang="en-US">
                <a:latin typeface="Courier New" panose="02070309020205020404" pitchFamily="49" charset="0"/>
              </a:rPr>
              <a:t>formatString: mẫu định dạng các đối số output</a:t>
            </a:r>
            <a:r>
              <a:rPr lang="en-US" altLang="en-US"/>
              <a:t>.</a:t>
            </a:r>
          </a:p>
          <a:p>
            <a:r>
              <a:rPr lang="en-US" altLang="en-US">
                <a:latin typeface="Courier New" panose="02070309020205020404" pitchFamily="49" charset="0"/>
              </a:rPr>
              <a:t>argumentList</a:t>
            </a:r>
            <a:r>
              <a:rPr lang="en-US" altLang="en-US"/>
              <a:t> : danh sách đối số xuất bao gồm constant values, variables, hoặc expressions.</a:t>
            </a:r>
          </a:p>
          <a:p>
            <a:r>
              <a:rPr lang="en-US" altLang="en-US"/>
              <a:t>Các đối số ngăn cách bởi dấu , </a:t>
            </a:r>
          </a:p>
          <a:p>
            <a:r>
              <a:rPr lang="en-US" altLang="en-US"/>
              <a:t>Ví dụ:</a:t>
            </a:r>
          </a:p>
          <a:p>
            <a:pPr lvl="1"/>
            <a:r>
              <a:rPr lang="en-US" altLang="en-US" sz="2400">
                <a:latin typeface="Courier New" panose="02070309020205020404" pitchFamily="49" charset="0"/>
              </a:rPr>
              <a:t>System.out.printf("Hello there!");</a:t>
            </a:r>
          </a:p>
          <a:p>
            <a:pPr lvl="1"/>
            <a:r>
              <a:rPr lang="en-US" altLang="en-US" sz="2400">
                <a:latin typeface="Courier New" panose="02070309020205020404" pitchFamily="49" charset="0"/>
              </a:rPr>
              <a:t>System.out.printf</a:t>
            </a:r>
            <a:r>
              <a:rPr lang="en-US" altLang="en-US" sz="2000">
                <a:latin typeface="Courier New" panose="02070309020205020404" pitchFamily="49" charset="0"/>
              </a:rPr>
              <a:t>("There are </a:t>
            </a: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%.2f </a:t>
            </a:r>
            <a:r>
              <a:rPr lang="en-US" altLang="en-US" sz="2000">
                <a:latin typeface="Courier New" panose="02070309020205020404" pitchFamily="49" charset="0"/>
              </a:rPr>
              <a:t>inches in </a:t>
            </a: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%d</a:t>
            </a:r>
            <a:r>
              <a:rPr lang="en-US" altLang="en-US" sz="2000">
                <a:latin typeface="Courier New" panose="02070309020205020404" pitchFamily="49" charset="0"/>
              </a:rPr>
              <a:t> centimeters.</a:t>
            </a: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%n</a:t>
            </a:r>
            <a:r>
              <a:rPr lang="en-US" altLang="en-US" sz="2000">
                <a:latin typeface="Courier New" panose="02070309020205020404" pitchFamily="49" charset="0"/>
              </a:rPr>
              <a:t>", centimeters / 2.54, centimeters</a:t>
            </a:r>
            <a:r>
              <a:rPr lang="en-US" altLang="en-US" sz="1600">
                <a:latin typeface="Courier New" panose="02070309020205020404" pitchFamily="49" charset="0"/>
              </a:rPr>
              <a:t>);</a:t>
            </a:r>
            <a:r>
              <a:rPr lang="en-US" altLang="en-US" sz="1400"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26783365-77D2-CB6F-195F-BF707D0506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04B2D3B1-CC26-4864-8DF6-C5B55E1A42E8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2E7F2DD-72FD-03FC-1836-04B256659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875"/>
            <a:ext cx="7772400" cy="685800"/>
          </a:xfrm>
        </p:spPr>
        <p:txBody>
          <a:bodyPr/>
          <a:lstStyle/>
          <a:p>
            <a:r>
              <a:rPr lang="en-US" altLang="en-US" sz="4000"/>
              <a:t>Định dạng xuất với </a:t>
            </a:r>
            <a:r>
              <a:rPr lang="en-US" altLang="en-US" sz="4000">
                <a:latin typeface="Courier New" panose="02070309020205020404" pitchFamily="49" charset="0"/>
              </a:rPr>
              <a:t>printf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63160CB-7380-95E5-0D56-CA45E223F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7924800" cy="5334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Cú pháp chuỗi định dạng:</a:t>
            </a:r>
            <a:r>
              <a:rPr lang="en-US" altLang="en-US" sz="1800"/>
              <a:t> </a:t>
            </a:r>
          </a:p>
          <a:p>
            <a:pPr>
              <a:lnSpc>
                <a:spcPct val="80000"/>
              </a:lnSpc>
            </a:pPr>
            <a:endParaRPr lang="en-US" altLang="en-US" sz="18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%[argument_index$][flags][width][.precision]conversion</a:t>
            </a:r>
          </a:p>
          <a:p>
            <a:pPr>
              <a:lnSpc>
                <a:spcPct val="80000"/>
              </a:lnSpc>
            </a:pPr>
            <a:endParaRPr lang="en-US" altLang="en-US" sz="18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 i="1"/>
              <a:t>argument_index</a:t>
            </a:r>
            <a:r>
              <a:rPr lang="en-US" altLang="en-US" sz="2000"/>
              <a:t> : vị trí đối số : "</a:t>
            </a:r>
            <a:r>
              <a:rPr lang="en-US" altLang="en-US" sz="2000">
                <a:latin typeface="Courier New" panose="02070309020205020404" pitchFamily="49" charset="0"/>
              </a:rPr>
              <a:t>1$</a:t>
            </a:r>
            <a:r>
              <a:rPr lang="en-US" altLang="en-US" sz="2000"/>
              <a:t>," "</a:t>
            </a:r>
            <a:r>
              <a:rPr lang="en-US" altLang="en-US" sz="2000">
                <a:latin typeface="Courier New" panose="02070309020205020404" pitchFamily="49" charset="0"/>
              </a:rPr>
              <a:t>2$</a:t>
            </a:r>
            <a:r>
              <a:rPr lang="en-US" altLang="en-US" sz="2000"/>
              <a:t>,". 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flags: tập các kí tự thay đổi định dạng output</a:t>
            </a:r>
            <a:r>
              <a:rPr lang="en-US" altLang="en-US" sz="2000"/>
              <a:t>. 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width</a:t>
            </a:r>
            <a:r>
              <a:rPr lang="en-US" altLang="en-US" sz="2000"/>
              <a:t> : độ rộng output. 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precision</a:t>
            </a:r>
            <a:r>
              <a:rPr lang="en-US" altLang="en-US" sz="2000"/>
              <a:t> : phần phân. 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conversion</a:t>
            </a:r>
            <a:r>
              <a:rPr lang="en-US" altLang="en-US" sz="2000"/>
              <a:t> : cách đối số được định dạng.</a:t>
            </a:r>
            <a:r>
              <a:rPr lang="en-US" altLang="en-US" sz="1600"/>
              <a:t> </a:t>
            </a:r>
          </a:p>
        </p:txBody>
      </p:sp>
      <p:pic>
        <p:nvPicPr>
          <p:cNvPr id="32773" name="Picture 4" descr="Tbl03-02">
            <a:extLst>
              <a:ext uri="{FF2B5EF4-FFF2-40B4-BE49-F238E27FC236}">
                <a16:creationId xmlns:a16="http://schemas.microsoft.com/office/drawing/2014/main" id="{4370C167-39BA-E503-22AD-0019BA905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81400"/>
            <a:ext cx="5943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5ED4C173-D5AB-23DA-881C-05554D768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C84D66EC-A184-4180-A5E0-FD5115573BF8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CAAAFEF-A721-7690-D64A-93F8F24A4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457200"/>
          </a:xfrm>
        </p:spPr>
        <p:txBody>
          <a:bodyPr/>
          <a:lstStyle/>
          <a:p>
            <a:r>
              <a:rPr lang="en-US" altLang="en-US"/>
              <a:t>Chuyển đổi Numeric- String</a:t>
            </a:r>
          </a:p>
        </p:txBody>
      </p:sp>
      <p:sp>
        <p:nvSpPr>
          <p:cNvPr id="33796" name="Text Box 5">
            <a:extLst>
              <a:ext uri="{FF2B5EF4-FFF2-40B4-BE49-F238E27FC236}">
                <a16:creationId xmlns:a16="http://schemas.microsoft.com/office/drawing/2014/main" id="{E2D17964-841F-44BD-3CAF-8B62E66F4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685800"/>
            <a:ext cx="80010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666699"/>
              </a:buClr>
              <a:buFont typeface="Wingdings" panose="05000000000000000000" pitchFamily="2" charset="2"/>
              <a:buChar char="s"/>
            </a:pPr>
            <a:r>
              <a:rPr lang="en-US" altLang="en-US" sz="2400">
                <a:latin typeface="Times New Roman" panose="02020603050405020304" pitchFamily="18" charset="0"/>
              </a:rPr>
              <a:t>Chuyển chuỗi số nguyên-&gt;int.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	</a:t>
            </a:r>
            <a:r>
              <a:rPr lang="en-US" altLang="en-US" sz="2400">
                <a:highlight>
                  <a:srgbClr val="FFFF00"/>
                </a:highlight>
                <a:latin typeface="Courier New" panose="02070309020205020404" pitchFamily="49" charset="0"/>
              </a:rPr>
              <a:t>Integer</a:t>
            </a:r>
            <a:r>
              <a:rPr lang="en-US" altLang="en-US" sz="2400">
                <a:latin typeface="Courier New" panose="02070309020205020404" pitchFamily="49" charset="0"/>
              </a:rPr>
              <a:t>.parseInt(strExpression)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	Integer.parseInt("6723") = 6723	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CD8ED6EE-7FDB-CB8D-E427-BF3A6A8E4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2255838"/>
            <a:ext cx="800100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914400" indent="-4572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666699"/>
              </a:buClr>
              <a:buFont typeface="Wingdings" panose="05000000000000000000" pitchFamily="2" charset="2"/>
              <a:buChar char="s"/>
            </a:pPr>
            <a:r>
              <a:rPr lang="en-US" altLang="en-US" sz="2400">
                <a:latin typeface="Times New Roman" panose="02020603050405020304" pitchFamily="18" charset="0"/>
              </a:rPr>
              <a:t>Chuyển chuỗi số thực-&gt;float.</a:t>
            </a:r>
          </a:p>
          <a:p>
            <a:pPr lvl="1"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Float.parseFloat(strExpression)</a:t>
            </a:r>
          </a:p>
          <a:p>
            <a:pPr lvl="1"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Float.parseFloat("34.56") = 34.56</a:t>
            </a:r>
          </a:p>
        </p:txBody>
      </p:sp>
      <p:sp>
        <p:nvSpPr>
          <p:cNvPr id="33798" name="Text Box 5">
            <a:extLst>
              <a:ext uri="{FF2B5EF4-FFF2-40B4-BE49-F238E27FC236}">
                <a16:creationId xmlns:a16="http://schemas.microsoft.com/office/drawing/2014/main" id="{9DE63108-B935-841D-FBDE-C80C8C615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3962400"/>
            <a:ext cx="80010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914400" indent="-4572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666699"/>
              </a:buClr>
              <a:buFont typeface="Wingdings" panose="05000000000000000000" pitchFamily="2" charset="2"/>
              <a:buChar char="s"/>
            </a:pPr>
            <a:r>
              <a:rPr lang="en-US" altLang="en-US" sz="2400">
                <a:latin typeface="Times New Roman" panose="02020603050405020304" pitchFamily="18" charset="0"/>
              </a:rPr>
              <a:t>Chuyển chuỗi số thực-&gt;double.</a:t>
            </a:r>
          </a:p>
          <a:p>
            <a:pPr lvl="1"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Double.parseDouble(strExpression)</a:t>
            </a:r>
          </a:p>
          <a:p>
            <a:pPr lvl="1">
              <a:spcBef>
                <a:spcPct val="50000"/>
              </a:spcBef>
            </a:pPr>
            <a:r>
              <a:rPr lang="en-US" altLang="en-US" sz="2400">
                <a:latin typeface="Courier New" panose="02070309020205020404" pitchFamily="49" charset="0"/>
              </a:rPr>
              <a:t>Double.parseDouble("34.56") = 34.56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33A78EF2-1C7F-D3B1-8676-CDF08E47E7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FBC1A59D-6B3E-4987-95BC-7D3E08E2FB7B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9C78FAB-284D-2B26-A6AD-67E726635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Sử dụng Dialog Boxes  Input/Output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B71B697-8EA1-B162-1476-CFAAD5A4A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001000" cy="3810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Sử dụng (graphical user interface).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class</a:t>
            </a:r>
            <a:r>
              <a:rPr lang="en-US" altLang="en-US" sz="2400">
                <a:latin typeface="Courier New" panose="02070309020205020404" pitchFamily="49" charset="0"/>
              </a:rPr>
              <a:t> JOptionPane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package </a:t>
            </a:r>
            <a:r>
              <a:rPr lang="en-US" altLang="en-US">
                <a:latin typeface="Courier New" panose="02070309020205020404" pitchFamily="49" charset="0"/>
              </a:rPr>
              <a:t>javax.swing</a:t>
            </a:r>
            <a:r>
              <a:rPr lang="en-US" altLang="en-US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Các phương thức: 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Input: showInputDialog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Output:</a:t>
            </a:r>
            <a:r>
              <a:rPr lang="en-US" altLang="en-US"/>
              <a:t> </a:t>
            </a:r>
            <a:r>
              <a:rPr lang="en-US" altLang="en-US">
                <a:latin typeface="Courier New" panose="02070309020205020404" pitchFamily="49" charset="0"/>
              </a:rPr>
              <a:t>showMessageDialog</a:t>
            </a:r>
            <a:r>
              <a:rPr lang="en-US" altLang="en-US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Syntax: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str = JOptionPane.showInputDialog(strExpression</a:t>
            </a:r>
            <a:r>
              <a:rPr lang="en-US" altLang="en-US" sz="240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Chương trình kết thúc với </a:t>
            </a:r>
            <a:r>
              <a:rPr lang="en-US" altLang="en-US" sz="2400">
                <a:latin typeface="Courier New" panose="02070309020205020404" pitchFamily="49" charset="0"/>
              </a:rPr>
              <a:t>System.exit(0);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221FDB3C-9652-05D4-1374-5733CEF66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200" b="0">
                <a:latin typeface="Arial" panose="020B0604020202020204" pitchFamily="34" charset="0"/>
                <a:cs typeface="Arial" panose="020B0604020202020204" pitchFamily="34" charset="0"/>
              </a:rPr>
              <a:t>HƯỚNG ĐỐI TƯỢNG</a:t>
            </a:r>
          </a:p>
          <a:p>
            <a:endParaRPr lang="en-US" altLang="en-US" sz="12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15437EB-8E1B-B97B-D469-7D39C7F0C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4450"/>
            <a:ext cx="84582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Input/JOptionPane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46E6055-9952-F6C1-5946-DD973170B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257800"/>
          </a:xfrm>
          <a:noFill/>
        </p:spPr>
        <p:txBody>
          <a:bodyPr lIns="92075" tIns="46038" rIns="92075" bIns="46038"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100">
                <a:cs typeface="Times New Roman" panose="02020603050405020304" pitchFamily="18" charset="0"/>
              </a:rPr>
              <a:t>String string = JOptionPane.showInputDialog(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100">
                <a:cs typeface="Times New Roman" panose="02020603050405020304" pitchFamily="18" charset="0"/>
              </a:rPr>
              <a:t>   null,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100">
                <a:cs typeface="Times New Roman" panose="02020603050405020304" pitchFamily="18" charset="0"/>
              </a:rPr>
              <a:t>Prompting Message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100">
                <a:cs typeface="Times New Roman" panose="02020603050405020304" pitchFamily="18" charset="0"/>
              </a:rPr>
              <a:t>, 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100">
                <a:cs typeface="Times New Roman" panose="02020603050405020304" pitchFamily="18" charset="0"/>
              </a:rPr>
              <a:t>Dialog Title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100">
                <a:cs typeface="Times New Roman" panose="02020603050405020304" pitchFamily="18" charset="0"/>
              </a:rPr>
              <a:t>,   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100">
                <a:cs typeface="Times New Roman" panose="02020603050405020304" pitchFamily="18" charset="0"/>
              </a:rPr>
              <a:t>   JOptionPane.QUESTION_MESSAGE));</a:t>
            </a:r>
          </a:p>
        </p:txBody>
      </p:sp>
      <p:graphicFrame>
        <p:nvGraphicFramePr>
          <p:cNvPr id="35845" name="Object 4">
            <a:extLst>
              <a:ext uri="{FF2B5EF4-FFF2-40B4-BE49-F238E27FC236}">
                <a16:creationId xmlns:a16="http://schemas.microsoft.com/office/drawing/2014/main" id="{642E6BBF-A9FF-B3E6-E89C-A1F8E3634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810000"/>
          <a:ext cx="6096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952381" imgH="1876190" progId="Paint.Picture">
                  <p:embed/>
                </p:oleObj>
              </mc:Choice>
              <mc:Fallback>
                <p:oleObj name="Bitmap Image" r:id="rId2" imgW="3952381" imgH="187619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0"/>
                        <a:ext cx="60960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Line 5">
            <a:extLst>
              <a:ext uri="{FF2B5EF4-FFF2-40B4-BE49-F238E27FC236}">
                <a16:creationId xmlns:a16="http://schemas.microsoft.com/office/drawing/2014/main" id="{B41D3180-D5A1-B4D3-CD35-0E423FF75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1700213"/>
            <a:ext cx="2778125" cy="35575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4" name="Line 6">
            <a:extLst>
              <a:ext uri="{FF2B5EF4-FFF2-40B4-BE49-F238E27FC236}">
                <a16:creationId xmlns:a16="http://schemas.microsoft.com/office/drawing/2014/main" id="{09CA00F5-3274-CD85-A8E4-17D0A0A8B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1700213"/>
            <a:ext cx="338137" cy="3100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5" name="Line 7">
            <a:extLst>
              <a:ext uri="{FF2B5EF4-FFF2-40B4-BE49-F238E27FC236}">
                <a16:creationId xmlns:a16="http://schemas.microsoft.com/office/drawing/2014/main" id="{46E35909-FA75-358D-2F36-3D3E9CB7B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2060575"/>
            <a:ext cx="1168400" cy="3121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48065107-3D3D-E210-7F83-4CD9797D4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927DD4F1-E45A-43C3-B5E3-2C8BD71191A7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11D8E1B-198F-06CA-7B50-2D8034A59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533400"/>
          </a:xfrm>
        </p:spPr>
        <p:txBody>
          <a:bodyPr/>
          <a:lstStyle/>
          <a:p>
            <a:r>
              <a:rPr lang="en-US" altLang="en-US">
                <a:latin typeface="Courier New" panose="02070309020205020404" pitchFamily="49" charset="0"/>
              </a:rPr>
              <a:t>Output/JOptionPane</a:t>
            </a:r>
            <a:endParaRPr lang="en-US" altLang="en-US"/>
          </a:p>
        </p:txBody>
      </p:sp>
      <p:pic>
        <p:nvPicPr>
          <p:cNvPr id="36868" name="Picture 5">
            <a:extLst>
              <a:ext uri="{FF2B5EF4-FFF2-40B4-BE49-F238E27FC236}">
                <a16:creationId xmlns:a16="http://schemas.microsoft.com/office/drawing/2014/main" id="{1547DF61-8E1F-F50B-2459-75224EA2019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229600" cy="1047750"/>
          </a:xfrm>
        </p:spPr>
      </p:pic>
      <p:pic>
        <p:nvPicPr>
          <p:cNvPr id="36869" name="Picture 7" descr="Fig03-09">
            <a:extLst>
              <a:ext uri="{FF2B5EF4-FFF2-40B4-BE49-F238E27FC236}">
                <a16:creationId xmlns:a16="http://schemas.microsoft.com/office/drawing/2014/main" id="{14087D18-C77D-A5F1-6F9B-4A40E16B47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438400"/>
            <a:ext cx="8305800" cy="1954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>
            <a:extLst>
              <a:ext uri="{FF2B5EF4-FFF2-40B4-BE49-F238E27FC236}">
                <a16:creationId xmlns:a16="http://schemas.microsoft.com/office/drawing/2014/main" id="{DD4BBBED-7DBE-8595-573F-402DE4DE7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8FABFB1-7B41-4B3C-860F-B378287EFC35}" type="slidenum">
              <a:rPr lang="en-US" altLang="en-US" sz="1400" b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30</a:t>
            </a:fld>
            <a:endParaRPr lang="en-US" altLang="en-US" sz="14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80BEF14-FCB4-8B43-2179-7E453E27A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609600"/>
          </a:xfrm>
        </p:spPr>
        <p:txBody>
          <a:bodyPr/>
          <a:lstStyle/>
          <a:p>
            <a:r>
              <a:rPr lang="en-US" altLang="en-US" sz="3200"/>
              <a:t>Định dạng Output sử dụng String.</a:t>
            </a:r>
            <a:r>
              <a:rPr lang="en-US" altLang="en-US" sz="3200">
                <a:latin typeface="Courier New" panose="02070309020205020404" pitchFamily="49" charset="0"/>
              </a:rPr>
              <a:t>format</a:t>
            </a:r>
            <a:endParaRPr lang="en-US" altLang="en-US" sz="3200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949A4F0-F169-B63D-6CA1-EF653D9C2C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762000"/>
            <a:ext cx="5943600" cy="2514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/>
              <a:t>Ví dụ:</a:t>
            </a:r>
            <a:endParaRPr lang="en-US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double x = 15.674;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double y = 235.73;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double z = 9525.9864;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int num = 83;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String str;</a:t>
            </a:r>
          </a:p>
        </p:txBody>
      </p:sp>
      <p:pic>
        <p:nvPicPr>
          <p:cNvPr id="37893" name="Picture 7" descr="TblPg143">
            <a:extLst>
              <a:ext uri="{FF2B5EF4-FFF2-40B4-BE49-F238E27FC236}">
                <a16:creationId xmlns:a16="http://schemas.microsoft.com/office/drawing/2014/main" id="{4ACE59F2-9A5E-903C-28C8-50343B7F65C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048000"/>
            <a:ext cx="8077200" cy="2700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C07A-94AE-3FB4-03A7-966DF6D8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36730E2-4F09-F297-567F-2699B7052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Tổng kết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899157AF-1053-C298-A18F-5CFA97050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Cấu trúc chương trình JAVA</a:t>
            </a:r>
          </a:p>
          <a:p>
            <a:pPr algn="just" eaLnBrk="1" hangingPunct="1"/>
            <a:r>
              <a:rPr lang="en-US" altLang="en-US"/>
              <a:t>Định danh, từ khóa ,tóan tử.</a:t>
            </a:r>
          </a:p>
          <a:p>
            <a:pPr algn="just" eaLnBrk="1" hangingPunct="1"/>
            <a:r>
              <a:rPr lang="en-US" altLang="en-US"/>
              <a:t>Cấu trúc điều khiển</a:t>
            </a:r>
          </a:p>
          <a:p>
            <a:pPr algn="just" eaLnBrk="1" hangingPunct="1"/>
            <a:r>
              <a:rPr lang="en-US" altLang="en-US"/>
              <a:t>Các kiểu dữ liệu - Primitive và Reference</a:t>
            </a:r>
          </a:p>
          <a:p>
            <a:pPr algn="just" eaLnBrk="1" hangingPunct="1"/>
            <a:r>
              <a:rPr lang="en-US" altLang="en-US"/>
              <a:t>Input/output console</a:t>
            </a:r>
          </a:p>
          <a:p>
            <a:pPr algn="just" eaLnBrk="1" hangingPunct="1"/>
            <a:endParaRPr lang="en-US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0F420-BB93-2A9E-B681-030F5765384D}"/>
              </a:ext>
            </a:extLst>
          </p:cNvPr>
          <p:cNvSpPr/>
          <p:nvPr/>
        </p:nvSpPr>
        <p:spPr bwMode="auto">
          <a:xfrm>
            <a:off x="3124200" y="3581400"/>
            <a:ext cx="2362200" cy="5539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i="0" u="none" strike="noStrike" spc="50" normalizeH="0" baseline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00B0F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elvetica" pitchFamily="34" charset="0"/>
                <a:cs typeface="Times New Roman" pitchFamily="18" charset="0"/>
              </a:rPr>
              <a:t>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E37D2-F96B-EB75-AF49-C51B83D8F7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B50B058-B696-F18E-049C-2FBBD57DF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Bài tập 1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1225FB0-7069-A4F6-F932-D4CE688F3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Tạo chương tình Fibonacci</a:t>
            </a:r>
          </a:p>
          <a:p>
            <a:pPr lvl="1" eaLnBrk="1" hangingPunct="1"/>
            <a:r>
              <a:rPr lang="en-US" altLang="en-US"/>
              <a:t>Chạy chương trình</a:t>
            </a:r>
          </a:p>
          <a:p>
            <a:pPr lvl="1" eaLnBrk="1" hangingPunct="1"/>
            <a:r>
              <a:rPr lang="en-US" altLang="en-US"/>
              <a:t>Sử dụng công cụ debug</a:t>
            </a:r>
          </a:p>
          <a:p>
            <a:pPr eaLnBrk="1" hangingPunct="1"/>
            <a:r>
              <a:rPr lang="en-US" altLang="en-US"/>
              <a:t>Viết chương trình tính diện tích hình chữ nhật</a:t>
            </a:r>
          </a:p>
          <a:p>
            <a:pPr eaLnBrk="1" hangingPunct="1"/>
            <a:r>
              <a:rPr lang="en-US" altLang="en-US"/>
              <a:t>Viết chương trình tìm kết quả các biểu thức sau:</a:t>
            </a:r>
          </a:p>
          <a:p>
            <a:pPr lvl="1" eaLnBrk="1" hangingPunct="1"/>
            <a:r>
              <a:rPr lang="en-US" altLang="en-US"/>
              <a:t>(a&lt;&lt;2) + (b&gt;&gt;2)</a:t>
            </a:r>
          </a:p>
          <a:p>
            <a:pPr lvl="1" eaLnBrk="1" hangingPunct="1"/>
            <a:r>
              <a:rPr lang="en-US" altLang="en-US"/>
              <a:t>b&gt;0</a:t>
            </a:r>
          </a:p>
          <a:p>
            <a:pPr lvl="1" eaLnBrk="1" hangingPunct="1"/>
            <a:r>
              <a:rPr lang="en-US" altLang="en-US"/>
              <a:t>(a+b*100)/10</a:t>
            </a:r>
          </a:p>
          <a:p>
            <a:pPr lvl="1" eaLnBrk="1" hangingPunct="1"/>
            <a:r>
              <a:rPr lang="en-US" altLang="en-US"/>
              <a:t>a&amp;b</a:t>
            </a:r>
          </a:p>
          <a:p>
            <a:pPr lvl="1" eaLnBrk="1" hangingPunct="1"/>
            <a:r>
              <a:rPr lang="en-US" altLang="en-US"/>
              <a:t>Giả sử a=10 , b=5</a:t>
            </a:r>
          </a:p>
          <a:p>
            <a:r>
              <a:rPr lang="en-US" altLang="en-US"/>
              <a:t>Viết chương trình nhập số có 3 chữ số. Xuất đảo ngược</a:t>
            </a:r>
          </a:p>
          <a:p>
            <a:pPr lvl="1"/>
            <a:r>
              <a:rPr lang="en-US" altLang="en-US"/>
              <a:t>VD 789</a:t>
            </a:r>
            <a:r>
              <a:rPr lang="en-US" altLang="en-US">
                <a:sym typeface="Wingdings" panose="05000000000000000000" pitchFamily="2" charset="2"/>
              </a:rPr>
              <a:t>9 8 7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AF16C-30B9-C150-64D7-97100C348B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9B0DA7E-58E3-1AE9-D90E-8B82ED479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Bài tập 2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C6D3EDD-51FC-DCCA-1B15-0AE5825C1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Viết chương trình nhập 3 số nguyên.Xuất giá trị lớn nhất</a:t>
            </a:r>
          </a:p>
          <a:p>
            <a:pPr eaLnBrk="1" hangingPunct="1"/>
            <a:r>
              <a:rPr lang="en-US" altLang="en-US"/>
              <a:t>Viết chương trình nhập số nguyên n. Xuất tổng các các số.</a:t>
            </a:r>
          </a:p>
          <a:p>
            <a:pPr lvl="1" eaLnBrk="1" hangingPunct="1"/>
            <a:r>
              <a:rPr lang="en-US" altLang="en-US"/>
              <a:t>Ví dụ: 234-&gt; 2+3+4=9</a:t>
            </a:r>
          </a:p>
          <a:p>
            <a:pPr eaLnBrk="1" hangingPunct="1"/>
            <a:r>
              <a:rPr lang="en-US" altLang="en-US"/>
              <a:t>Viết chương trình in ra số Armstrong</a:t>
            </a:r>
          </a:p>
          <a:p>
            <a:pPr lvl="1" eaLnBrk="1" hangingPunct="1"/>
            <a:r>
              <a:rPr lang="en-US" altLang="en-US"/>
              <a:t>Armstrong là số có 3 chữ số sau cho : tổng lũy thừa 3 của từng phần tử bằng chính nó</a:t>
            </a:r>
          </a:p>
          <a:p>
            <a:pPr eaLnBrk="1" hangingPunct="1"/>
            <a:r>
              <a:rPr lang="en-US" altLang="en-US"/>
              <a:t>Viết chương trình khai báo dãy 10 số nguyên. Xuất ra giá trị lớn nhất</a:t>
            </a:r>
          </a:p>
          <a:p>
            <a:pPr eaLnBrk="1" hangingPunct="1"/>
            <a:r>
              <a:rPr lang="en-US" altLang="en-US"/>
              <a:t>Viết chương trình xuất ra các số nguyên tố nhỏ hơn 30</a:t>
            </a:r>
          </a:p>
          <a:p>
            <a:r>
              <a:rPr lang="en-US" altLang="en-US"/>
              <a:t>Viết chương trình nhập họ tên.</a:t>
            </a:r>
          </a:p>
          <a:p>
            <a:pPr lvl="1"/>
            <a:r>
              <a:rPr lang="en-US" altLang="en-US"/>
              <a:t>Cho biết số kí tự</a:t>
            </a:r>
          </a:p>
          <a:p>
            <a:pPr lvl="1"/>
            <a:r>
              <a:rPr lang="en-US" altLang="en-US"/>
              <a:t>Cho biết kí tự ‘a’ xuất hiện những vị trí nào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Axis">
  <a:themeElements>
    <a:clrScheme name="2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2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2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4_1  khai bao Classe</Template>
  <TotalTime>983</TotalTime>
  <Words>2222</Words>
  <Application>Microsoft Office PowerPoint</Application>
  <PresentationFormat>On-screen Show (4:3)</PresentationFormat>
  <Paragraphs>390</Paragraphs>
  <Slides>33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Courier New</vt:lpstr>
      <vt:lpstr>Helvetica</vt:lpstr>
      <vt:lpstr>Symbol</vt:lpstr>
      <vt:lpstr>Tahoma</vt:lpstr>
      <vt:lpstr>Times New Roman</vt:lpstr>
      <vt:lpstr>Wingdings</vt:lpstr>
      <vt:lpstr>2_Axis</vt:lpstr>
      <vt:lpstr>Bitmap Image</vt:lpstr>
      <vt:lpstr>Chương 2</vt:lpstr>
      <vt:lpstr>Nội dung</vt:lpstr>
      <vt:lpstr>Java?</vt:lpstr>
      <vt:lpstr>Cấu trúc chương trình Java</vt:lpstr>
      <vt:lpstr>Biến</vt:lpstr>
      <vt:lpstr>Biến</vt:lpstr>
      <vt:lpstr>Hằng</vt:lpstr>
      <vt:lpstr>Hằng kí tự đặc biệt</vt:lpstr>
      <vt:lpstr>Kiểu dữ liệu</vt:lpstr>
      <vt:lpstr>Kiểu dữ liệu</vt:lpstr>
      <vt:lpstr>Chuyển đổi kiểu dữ liệu</vt:lpstr>
      <vt:lpstr>Kiểu dữ liệu tham chiếu</vt:lpstr>
      <vt:lpstr>Kiểu dữ liệu tham chiếu</vt:lpstr>
      <vt:lpstr>Một số toán tử</vt:lpstr>
      <vt:lpstr>Một số toán tử</vt:lpstr>
      <vt:lpstr>Một số toán tử</vt:lpstr>
      <vt:lpstr>Một số toán tử</vt:lpstr>
      <vt:lpstr>Gói java.lang</vt:lpstr>
      <vt:lpstr>Cấu trúc điều khiển</vt:lpstr>
      <vt:lpstr>Cấu trúc điều kiện</vt:lpstr>
      <vt:lpstr>Cấu trúc lặp</vt:lpstr>
      <vt:lpstr>Input/Output</vt:lpstr>
      <vt:lpstr>Input</vt:lpstr>
      <vt:lpstr>Định dạng xuất với printf</vt:lpstr>
      <vt:lpstr>Định dạng xuất với printf</vt:lpstr>
      <vt:lpstr>Chuyển đổi Numeric- String</vt:lpstr>
      <vt:lpstr>Sử dụng Dialog Boxes  Input/Output</vt:lpstr>
      <vt:lpstr>Input/JOptionPane</vt:lpstr>
      <vt:lpstr>Output/JOptionPane</vt:lpstr>
      <vt:lpstr>Định dạng Output sử dụng String.format</vt:lpstr>
      <vt:lpstr>Tổng kết</vt:lpstr>
      <vt:lpstr>Bài tập 1</vt:lpstr>
      <vt:lpstr>Bài tập 2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</dc:title>
  <dc:creator>Administrator</dc:creator>
  <cp:lastModifiedBy>ThS.BS. Đỗ Thu Hằng</cp:lastModifiedBy>
  <cp:revision>188</cp:revision>
  <dcterms:created xsi:type="dcterms:W3CDTF">2007-01-07T18:35:03Z</dcterms:created>
  <dcterms:modified xsi:type="dcterms:W3CDTF">2025-02-02T04:22:53Z</dcterms:modified>
</cp:coreProperties>
</file>