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90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  <p:sldId id="276" r:id="rId14"/>
    <p:sldId id="278" r:id="rId15"/>
    <p:sldId id="279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Helvetica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D64CC-2124-DD17-4457-283FBD4B1F02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447800"/>
            <a:ext cx="12192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72641BC3-56BD-7E5A-1586-5E40C823A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C0CA723-3284-DC26-5D25-135CA5FB1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5486400"/>
            <a:ext cx="812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327D7F1B-EBB6-69DA-2EF7-715736052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6400" y="5257800"/>
            <a:ext cx="1117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B3EA98CD-B254-3797-5CA4-9BB8BDBF2D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0035725-1933-3159-9444-9A1F541D04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4400" y="4648200"/>
            <a:ext cx="2032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9B20ED8-A8FB-F6C4-5D9E-BCBD4E9F4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0" y="5257800"/>
            <a:ext cx="4064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77845026-E300-48AD-C65F-39B49861D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5562600"/>
            <a:ext cx="406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E5F806C-123E-F6F4-7D2D-AC6215663C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5257800"/>
            <a:ext cx="6096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7B4640F6-2026-2C1A-1915-DBD3D4A1F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5257800"/>
            <a:ext cx="2235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B26E338-6476-12C1-81AF-E84CC217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715001"/>
            <a:ext cx="8128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24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2400" b="0">
                <a:latin typeface="Arial" charset="0"/>
              </a:rPr>
              <a:t>Khoa Công nghệ Thông tin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D77AA3BA-E218-8E2D-F597-7ACA58D0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2" y="5486401"/>
            <a:ext cx="291464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032000" y="3352800"/>
            <a:ext cx="85344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032000" y="1443038"/>
            <a:ext cx="85344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447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73AEE6-9C6F-7BBA-8109-C45E8EAEF9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BC18E67-EDC0-F2BA-4611-742F77BD07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8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31BA62-25D1-A26B-D444-C34C918B5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2F66B6-B3EB-5425-FBF8-03B1FD90FF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6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5994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38200"/>
            <a:ext cx="5994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026BC1-E80D-8A2F-DAAA-F9035523C7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CA3B86-C335-1ED1-D718-E57B0897E5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2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44157-235C-6014-2F6A-E4D7A358D7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60433-024E-F7E6-A21C-783CB40D3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1C05FC-7B80-1EE9-364F-5C5E5DA6E4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E1AD55-2720-41F7-B9C3-C198C63A8E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5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D21A32B-62C8-936B-E5A7-0C9AD7F9AD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4E55B74-1CAA-FEAD-25E5-85DD8B55DF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6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5AF8D-EC8D-B0C0-A859-7B3F7785C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59B47D6-5AEF-8523-4E98-351D97D45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7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94886B-A5BC-AF58-35E6-6476AE0ABB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0E02D4-D32F-89C8-C94D-F615C3B425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6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367135-A346-4A61-4AE9-554D84A434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F0AE72-1BF6-075B-2ED6-39633B88B4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2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34926"/>
            <a:ext cx="3048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6"/>
            <a:ext cx="89408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256238-C8ED-3C59-9971-155E145EEA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CDD2C1-0F22-523E-7D41-F72EAE5716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68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6"/>
            <a:ext cx="12192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0" y="838200"/>
            <a:ext cx="5994400" cy="5486400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838200"/>
            <a:ext cx="5994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F11B9E-33E9-6564-DD9A-8C80227DF0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22FAA4-16DF-4624-EBAA-9227B02B1B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74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6"/>
            <a:ext cx="12192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838200"/>
            <a:ext cx="12192000" cy="5486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EAADC-7E76-5F78-DF53-69601A97C1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BE83120-AD35-A09C-60F3-FC902BAE73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8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7E97EF80-C4FB-6389-BD3B-FCC758D88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27" name="Line 3">
            <a:extLst>
              <a:ext uri="{FF2B5EF4-FFF2-40B4-BE49-F238E27FC236}">
                <a16:creationId xmlns:a16="http://schemas.microsoft.com/office/drawing/2014/main" id="{CEA258A7-808F-268A-25CE-78BE33F22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9200" y="6629400"/>
            <a:ext cx="812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7FEFE42-A25C-FC30-BD48-3463E950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926"/>
            <a:ext cx="12192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1D4E5A-8F10-8A65-C951-D22B3A440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12192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286" name="Rectangle 6">
            <a:extLst>
              <a:ext uri="{FF2B5EF4-FFF2-40B4-BE49-F238E27FC236}">
                <a16:creationId xmlns:a16="http://schemas.microsoft.com/office/drawing/2014/main" id="{FE10EBC5-F115-5985-5628-A0E53037EF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67200" y="6400800"/>
            <a:ext cx="70104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5287" name="Rectangle 7">
            <a:extLst>
              <a:ext uri="{FF2B5EF4-FFF2-40B4-BE49-F238E27FC236}">
                <a16:creationId xmlns:a16="http://schemas.microsoft.com/office/drawing/2014/main" id="{8B0785A9-6DB9-ADE6-CED8-A42DFC0AE1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38900"/>
            <a:ext cx="58420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fld id="{F2D51A6D-A401-44E4-A439-3F1DB38B6050}" type="slidenum">
              <a:rPr lang="en-US" smtClean="0"/>
              <a:t>‹#›</a:t>
            </a:fld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0F92A89-F6CB-107F-FCB6-08EDA6FF4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" y="6400800"/>
            <a:ext cx="3556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0FEAAB88-CA15-BA8E-6F69-C13C1B7A4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85800"/>
            <a:ext cx="12192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DCB34201-F015-7C93-C4A8-521636FCFE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248400"/>
            <a:ext cx="406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72ADC741-D4A8-0AF5-0213-EFE86133CA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3200" y="6248400"/>
            <a:ext cx="508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935BB0E6-F706-6802-41D9-7298F8CEF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6400800"/>
            <a:ext cx="2032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9F4C4DBA-D8AD-A437-288D-8ECB74F0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0400" y="6553200"/>
            <a:ext cx="4368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C93FEBEB-32B5-5933-BC4C-4CEA418F75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64008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4C820666-53AD-1FF5-B66A-3DB6AF77B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6400800"/>
            <a:ext cx="2235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261E2AC5-3DA0-2574-68A6-DAA42E27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33" y="6400800"/>
            <a:ext cx="261552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12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1200" b="0">
                <a:latin typeface="Arial" charset="0"/>
              </a:rPr>
              <a:t>Khoa Công nghệ Thông tin</a:t>
            </a:r>
          </a:p>
        </p:txBody>
      </p:sp>
      <p:pic>
        <p:nvPicPr>
          <p:cNvPr id="1041" name="Picture 17">
            <a:extLst>
              <a:ext uri="{FF2B5EF4-FFF2-40B4-BE49-F238E27FC236}">
                <a16:creationId xmlns:a16="http://schemas.microsoft.com/office/drawing/2014/main" id="{9D51E846-9513-4B86-616B-B85E4B33D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2" y="6467476"/>
            <a:ext cx="781049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23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AA8E86-5CB8-4B96-A283-E4F3ACF3E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/>
              <a:t>Version 2.x: Java Persistence API</a:t>
            </a:r>
          </a:p>
          <a:p>
            <a:pPr algn="l"/>
            <a:r>
              <a:rPr lang="en-US"/>
              <a:t>Version 3.x: Jakarta Persistence API</a:t>
            </a:r>
          </a:p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53FB7-96A7-4B5D-BF71-896CF6931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/>
              <a:t>Chương 6: JPA</a:t>
            </a:r>
          </a:p>
        </p:txBody>
      </p:sp>
    </p:spTree>
    <p:extLst>
      <p:ext uri="{BB962C8B-B14F-4D97-AF65-F5344CB8AC3E}">
        <p14:creationId xmlns:p14="http://schemas.microsoft.com/office/powerpoint/2010/main" val="70813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5C41-B1DA-5339-C2FC-9BA31A0F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TỔNG QUAN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E502-2CD0-3FC3-1BA8-F3A4FDD68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7" y="685800"/>
            <a:ext cx="11158331" cy="5486400"/>
          </a:xfrm>
        </p:spPr>
        <p:txBody>
          <a:bodyPr/>
          <a:lstStyle/>
          <a:p>
            <a:r>
              <a:rPr lang="vi-VN" dirty="0"/>
              <a:t>Phần trước chúng ta đã học:</a:t>
            </a:r>
          </a:p>
          <a:p>
            <a:pPr lvl="1"/>
            <a:r>
              <a:rPr lang="vi-VN" dirty="0"/>
              <a:t>JDBC</a:t>
            </a:r>
          </a:p>
          <a:p>
            <a:pPr lvl="1"/>
            <a:r>
              <a:rPr lang="vi-VN" dirty="0" err="1"/>
              <a:t>Data</a:t>
            </a:r>
            <a:r>
              <a:rPr lang="vi-VN" dirty="0"/>
              <a:t> Access </a:t>
            </a:r>
            <a:r>
              <a:rPr lang="vi-VN" dirty="0" err="1"/>
              <a:t>Object</a:t>
            </a:r>
            <a:r>
              <a:rPr lang="en-US" dirty="0"/>
              <a:t> </a:t>
            </a:r>
            <a:r>
              <a:rPr lang="vi-VN" dirty="0"/>
              <a:t>(DAO) và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transfer</a:t>
            </a:r>
            <a:r>
              <a:rPr lang="vi-VN" dirty="0"/>
              <a:t> </a:t>
            </a:r>
            <a:r>
              <a:rPr lang="vi-VN" dirty="0" err="1"/>
              <a:t>Object</a:t>
            </a:r>
            <a:r>
              <a:rPr lang="vi-VN" dirty="0"/>
              <a:t> (DTO)</a:t>
            </a:r>
          </a:p>
          <a:p>
            <a:r>
              <a:rPr lang="vi-VN" dirty="0"/>
              <a:t>Trong JDBC chúng ta đã “</a:t>
            </a:r>
            <a:r>
              <a:rPr lang="vi-VN" dirty="0" err="1"/>
              <a:t>hard</a:t>
            </a:r>
            <a:r>
              <a:rPr lang="vi-VN" dirty="0"/>
              <a:t> </a:t>
            </a:r>
            <a:r>
              <a:rPr lang="vi-VN" dirty="0" err="1"/>
              <a:t>code</a:t>
            </a:r>
            <a:r>
              <a:rPr lang="vi-VN" dirty="0"/>
              <a:t>” SQL trong </a:t>
            </a:r>
            <a:r>
              <a:rPr lang="vi-VN" dirty="0" err="1"/>
              <a:t>app</a:t>
            </a:r>
            <a:endParaRPr lang="vi-VN" dirty="0"/>
          </a:p>
          <a:p>
            <a:r>
              <a:rPr lang="vi-VN" dirty="0"/>
              <a:t>Sử dụng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source</a:t>
            </a:r>
            <a:r>
              <a:rPr lang="vi-VN" dirty="0"/>
              <a:t>/</a:t>
            </a:r>
            <a:r>
              <a:rPr lang="vi-VN" dirty="0" err="1"/>
              <a:t>Connection</a:t>
            </a:r>
            <a:endParaRPr lang="vi-VN" dirty="0"/>
          </a:p>
          <a:p>
            <a:r>
              <a:rPr lang="vi-VN" dirty="0"/>
              <a:t>Sử dụng DAO/DTO</a:t>
            </a:r>
          </a:p>
          <a:p>
            <a:r>
              <a:rPr lang="vi-VN" dirty="0"/>
              <a:t>Nhưng điều này chỉ “hide” hiện thực từ tầng business logic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gui</a:t>
            </a:r>
            <a:r>
              <a:rPr lang="vi-VN" dirty="0"/>
              <a:t>, vẫn phải hiện thực DAO dùng JDBC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3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580F-323F-D50C-2400-3D7627FC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vấn đề không được giải quyết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DBD2-ABF6-F447-DD67-13E6BD2A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838200"/>
            <a:ext cx="10243930" cy="5486400"/>
          </a:xfrm>
        </p:spPr>
        <p:txBody>
          <a:bodyPr/>
          <a:lstStyle/>
          <a:p>
            <a:r>
              <a:rPr lang="vi-VN" dirty="0"/>
              <a:t>Chúng ta phải hiểu rất chi tiết (</a:t>
            </a:r>
            <a:r>
              <a:rPr lang="vi-VN" dirty="0" err="1"/>
              <a:t>connection</a:t>
            </a:r>
            <a:r>
              <a:rPr lang="vi-VN" dirty="0"/>
              <a:t>, </a:t>
            </a:r>
            <a:r>
              <a:rPr lang="vi-VN" dirty="0" err="1"/>
              <a:t>statement</a:t>
            </a:r>
            <a:r>
              <a:rPr lang="vi-VN" dirty="0"/>
              <a:t>, </a:t>
            </a:r>
            <a:r>
              <a:rPr lang="vi-VN" dirty="0" err="1"/>
              <a:t>resulkset</a:t>
            </a:r>
            <a:r>
              <a:rPr lang="vi-VN" dirty="0"/>
              <a:t>…)</a:t>
            </a:r>
          </a:p>
          <a:p>
            <a:r>
              <a:rPr lang="vi-VN" dirty="0"/>
              <a:t>Các mối quan hệ, </a:t>
            </a:r>
            <a:r>
              <a:rPr lang="vi-VN" dirty="0" err="1"/>
              <a:t>join</a:t>
            </a:r>
            <a:r>
              <a:rPr lang="vi-VN" dirty="0"/>
              <a:t>…</a:t>
            </a:r>
          </a:p>
          <a:p>
            <a:r>
              <a:rPr lang="vi-VN" dirty="0" err="1"/>
              <a:t>Object</a:t>
            </a:r>
            <a:r>
              <a:rPr lang="vi-VN" dirty="0">
                <a:sym typeface="Wingdings" panose="05000000000000000000" pitchFamily="2" charset="2"/>
              </a:rPr>
              <a:t>&gt; </a:t>
            </a:r>
            <a:r>
              <a:rPr lang="vi-VN" dirty="0" err="1">
                <a:sym typeface="Wingdings" panose="05000000000000000000" pitchFamily="2" charset="2"/>
              </a:rPr>
              <a:t>database</a:t>
            </a:r>
            <a:r>
              <a:rPr lang="vi-VN" dirty="0">
                <a:sym typeface="Wingdings" panose="05000000000000000000" pitchFamily="2" charset="2"/>
              </a:rPr>
              <a:t> không khớp</a:t>
            </a:r>
          </a:p>
          <a:p>
            <a:r>
              <a:rPr lang="vi-VN" dirty="0"/>
              <a:t>J2EE giúp giải quyết vấn đề trên với EJB (</a:t>
            </a:r>
            <a:r>
              <a:rPr lang="vi-VN" dirty="0" err="1"/>
              <a:t>Entity</a:t>
            </a:r>
            <a:r>
              <a:rPr lang="vi-VN" dirty="0"/>
              <a:t> </a:t>
            </a:r>
            <a:r>
              <a:rPr lang="vi-VN" dirty="0" err="1"/>
              <a:t>Enterprise</a:t>
            </a:r>
            <a:r>
              <a:rPr lang="vi-VN" dirty="0"/>
              <a:t> </a:t>
            </a:r>
            <a:r>
              <a:rPr lang="vi-VN" dirty="0" err="1"/>
              <a:t>JavaBean</a:t>
            </a:r>
            <a:r>
              <a:rPr lang="vi-VN" dirty="0"/>
              <a:t>)</a:t>
            </a:r>
          </a:p>
          <a:p>
            <a:r>
              <a:rPr lang="vi-VN" dirty="0"/>
              <a:t>Hoặc đơn giản hơn khi dùng J</a:t>
            </a:r>
            <a:r>
              <a:rPr lang="en-US" dirty="0"/>
              <a:t>2</a:t>
            </a:r>
            <a:r>
              <a:rPr lang="vi-VN" dirty="0"/>
              <a:t>SE +</a:t>
            </a:r>
            <a:r>
              <a:rPr lang="en-US" dirty="0"/>
              <a:t> </a:t>
            </a:r>
            <a:r>
              <a:rPr lang="vi-VN" dirty="0"/>
              <a:t>bao gồm:</a:t>
            </a:r>
          </a:p>
          <a:p>
            <a:pPr lvl="1"/>
            <a:r>
              <a:rPr lang="vi-VN" dirty="0"/>
              <a:t>Các công cụ ORM (</a:t>
            </a:r>
            <a:r>
              <a:rPr lang="vi-VN" dirty="0" err="1"/>
              <a:t>Object</a:t>
            </a:r>
            <a:r>
              <a:rPr lang="vi-VN" dirty="0"/>
              <a:t> </a:t>
            </a:r>
            <a:r>
              <a:rPr lang="vi-VN" dirty="0" err="1"/>
              <a:t>Relation</a:t>
            </a:r>
            <a:r>
              <a:rPr lang="vi-VN" dirty="0"/>
              <a:t> </a:t>
            </a:r>
            <a:r>
              <a:rPr lang="vi-VN" dirty="0" err="1"/>
              <a:t>Mapping</a:t>
            </a:r>
            <a:r>
              <a:rPr lang="vi-VN" dirty="0"/>
              <a:t>): JDO, </a:t>
            </a:r>
            <a:r>
              <a:rPr lang="vi-VN" dirty="0" err="1"/>
              <a:t>Ecliplink</a:t>
            </a:r>
            <a:r>
              <a:rPr lang="vi-VN" dirty="0"/>
              <a:t>, </a:t>
            </a:r>
            <a:r>
              <a:rPr lang="vi-VN" dirty="0" err="1">
                <a:solidFill>
                  <a:srgbClr val="FF0000"/>
                </a:solidFill>
              </a:rPr>
              <a:t>Hibernate</a:t>
            </a:r>
            <a:r>
              <a:rPr lang="vi-VN" dirty="0"/>
              <a:t>, </a:t>
            </a:r>
            <a:r>
              <a:rPr lang="vi-VN" dirty="0" err="1"/>
              <a:t>Open</a:t>
            </a:r>
            <a:r>
              <a:rPr lang="vi-VN" dirty="0"/>
              <a:t> JPA, </a:t>
            </a:r>
            <a:r>
              <a:rPr lang="vi-VN" dirty="0" err="1"/>
              <a:t>TopLink</a:t>
            </a:r>
            <a:r>
              <a:rPr lang="vi-VN" dirty="0"/>
              <a:t>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5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27FA-1C66-4F78-94B5-79F83E87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ORM (Object-relational mapping)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DECF-CA3C-4BC0-B527-472E99693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96" y="977486"/>
            <a:ext cx="10515600" cy="957331"/>
          </a:xfrm>
        </p:spPr>
        <p:txBody>
          <a:bodyPr>
            <a:normAutofit/>
          </a:bodyPr>
          <a:lstStyle/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kỹ thuật lập trình để ánh xạ các đối tượng ứng 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vào các bảng cơ sở dữ liệu quan hệ.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79BD0-B25E-4BD6-AE0A-89C03DF31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69" y="1934817"/>
            <a:ext cx="9730192" cy="37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5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62B0-9329-478B-B714-AEC73BD7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1811-734D-456E-9D35-4C2FE936A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29" y="872401"/>
            <a:ext cx="10515600" cy="448051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à một đặc tả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việc ánh xạ quan hệ đối tượng để quản lý dữ liệu quan hệ trong các ứng dụng Java.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ung cấp một nền tảng làm việc trực tiếp với các đối tượng thay vì sử dụng các câu lệnh 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Việc triển khai JPA được cung cấp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ởi các nhà cung 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O/R như  </a:t>
            </a:r>
            <a:r>
              <a:rPr lang="vi-VN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EclipseLink và Apache OpenJPA.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75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62B0-9329-478B-B714-AEC73BD7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trúc JPA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536A31-6CAA-AF02-6A9C-F607CCF87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987" y="1016164"/>
            <a:ext cx="8160026" cy="48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69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557E-5196-666E-4487-7F59F433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Mối liên hệ các lớp JPA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D6702E-8640-62EE-074D-6146B1FEA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468" y="863600"/>
            <a:ext cx="6856829" cy="51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76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21F8-5C08-2DAD-2C19-778CC63F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Entity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5FCBB-D7F7-2151-F57A-3E7B351B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165" y="838200"/>
            <a:ext cx="10098158" cy="5486400"/>
          </a:xfrm>
        </p:spPr>
        <p:txBody>
          <a:bodyPr/>
          <a:lstStyle/>
          <a:p>
            <a:r>
              <a:rPr lang="en-US" dirty="0"/>
              <a:t>Entity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 POJO (Plain old Java Object)</a:t>
            </a:r>
          </a:p>
          <a:p>
            <a:r>
              <a:rPr lang="en-US" dirty="0"/>
              <a:t>Class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CSDL.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CSDL.</a:t>
            </a:r>
          </a:p>
          <a:p>
            <a:r>
              <a:rPr lang="vi-VN" dirty="0"/>
              <a:t>Yêu cầu</a:t>
            </a:r>
            <a:r>
              <a:rPr lang="en-US" dirty="0"/>
              <a:t>:</a:t>
            </a:r>
            <a:endParaRPr lang="vi-V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Phải có phương thức khởi dựng không đối số</a:t>
            </a:r>
            <a:r>
              <a:rPr lang="en-US" dirty="0"/>
              <a:t>.</a:t>
            </a:r>
            <a:endParaRPr lang="vi-V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Được gắn annotation </a:t>
            </a:r>
            <a:r>
              <a:rPr lang="vi-VN" dirty="0">
                <a:solidFill>
                  <a:srgbClr val="FF0000"/>
                </a:solidFill>
              </a:rPr>
              <a:t>@Entity</a:t>
            </a:r>
            <a:r>
              <a:rPr lang="vi-VN" dirty="0"/>
              <a:t> (javax.persistence</a:t>
            </a:r>
            <a:r>
              <a:rPr lang="en-US" dirty="0"/>
              <a:t>.</a:t>
            </a:r>
            <a:r>
              <a:rPr lang="vi-VN" dirty="0"/>
              <a:t>entity)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Class không được khai báo final</a:t>
            </a:r>
            <a:r>
              <a:rPr lang="en-US" dirty="0"/>
              <a:t>.</a:t>
            </a:r>
            <a:endParaRPr lang="vi-V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vi-VN" dirty="0"/>
              <a:t>Nên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vi-VN" dirty="0"/>
              <a:t> Serializable</a:t>
            </a:r>
            <a:r>
              <a:rPr lang="en-US" dirty="0"/>
              <a:t>.</a:t>
            </a:r>
            <a:endParaRPr lang="vi-V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vi-VN" dirty="0"/>
              <a:t>Các </a:t>
            </a:r>
            <a:r>
              <a:rPr lang="en-US" dirty="0"/>
              <a:t>field </a:t>
            </a:r>
            <a:r>
              <a:rPr lang="vi-VN" dirty="0"/>
              <a:t>nên khai báo private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7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A936-079F-4548-9122-90A807C0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Persistent Fields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9D02-8296-4E0E-B543-B17E433B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74" y="876453"/>
            <a:ext cx="11009851" cy="473456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entity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field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Persistent fields: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Persistent properties (Getter/Setter): </a:t>
            </a:r>
          </a:p>
          <a:p>
            <a:pPr marL="228600" lvl="1">
              <a:spcBef>
                <a:spcPts val="1000"/>
              </a:spcBef>
            </a:pPr>
            <a:endParaRPr lang="en-US" sz="2800" dirty="0"/>
          </a:p>
          <a:p>
            <a:pPr marL="228600" lvl="1">
              <a:spcBef>
                <a:spcPts val="1000"/>
              </a:spcBef>
            </a:pP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liểu</a:t>
            </a:r>
            <a:r>
              <a:rPr lang="en-US" sz="2800" dirty="0"/>
              <a:t> đ</a:t>
            </a:r>
            <a:r>
              <a:rPr lang="vi-VN" sz="2800" dirty="0"/>
              <a:t>ư</a:t>
            </a:r>
            <a:r>
              <a:rPr lang="en-US" sz="2800" dirty="0" err="1"/>
              <a:t>ợc</a:t>
            </a:r>
            <a:r>
              <a:rPr lang="en-US" sz="2800" dirty="0"/>
              <a:t> </a:t>
            </a:r>
            <a:r>
              <a:rPr lang="en-US" sz="2800" dirty="0" err="1"/>
              <a:t>hỗ</a:t>
            </a:r>
            <a:r>
              <a:rPr lang="en-US" sz="2800" dirty="0"/>
              <a:t> </a:t>
            </a:r>
            <a:r>
              <a:rPr lang="en-US" sz="2800" dirty="0" err="1"/>
              <a:t>trợ</a:t>
            </a:r>
            <a:r>
              <a:rPr lang="en-US" sz="2800" dirty="0"/>
              <a:t>: </a:t>
            </a:r>
          </a:p>
          <a:p>
            <a:pPr marL="457200" lvl="1" indent="0" algn="just">
              <a:buNone/>
            </a:pPr>
            <a:r>
              <a:rPr lang="en-US" dirty="0" err="1"/>
              <a:t>Kiểu</a:t>
            </a:r>
            <a:r>
              <a:rPr lang="en-US" dirty="0"/>
              <a:t> c</a:t>
            </a:r>
            <a:r>
              <a:rPr lang="vi-VN" dirty="0"/>
              <a:t>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.</a:t>
            </a:r>
          </a:p>
          <a:p>
            <a:pPr marL="457200" lvl="1" indent="0" algn="just">
              <a:buNone/>
            </a:pPr>
            <a:r>
              <a:rPr lang="en-US" dirty="0"/>
              <a:t>String, Enum. </a:t>
            </a:r>
          </a:p>
          <a:p>
            <a:pPr marL="457200" lvl="1" indent="0" algn="just">
              <a:buNone/>
            </a:pPr>
            <a:r>
              <a:rPr lang="en-US" dirty="0"/>
              <a:t>Entity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Entity.</a:t>
            </a:r>
          </a:p>
          <a:p>
            <a:pPr marL="457200" lvl="1" indent="0" algn="just">
              <a:buNone/>
            </a:pPr>
            <a:r>
              <a:rPr lang="en-US" dirty="0"/>
              <a:t>…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vi-VN" dirty="0"/>
              <a:t>Tất cả </a:t>
            </a:r>
            <a:r>
              <a:rPr lang="en-US" dirty="0"/>
              <a:t>Fields/Properties</a:t>
            </a:r>
            <a:r>
              <a:rPr lang="vi-VN" dirty="0"/>
              <a:t> không kết hợp khai báo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@Transient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đều được lưu trữ</a:t>
            </a:r>
            <a:r>
              <a:rPr lang="en-US" dirty="0"/>
              <a:t>.</a:t>
            </a:r>
          </a:p>
          <a:p>
            <a:pPr marL="457200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0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8855-282A-F429-35AC-498CFA51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solidFill>
                  <a:srgbClr val="FF0000"/>
                </a:solidFill>
              </a:rPr>
              <a:t>Primary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key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BE64-9BFB-19F4-32AC-1BAB2F2D9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0" y="838200"/>
            <a:ext cx="11396870" cy="5486400"/>
          </a:xfrm>
        </p:spPr>
        <p:txBody>
          <a:bodyPr/>
          <a:lstStyle/>
          <a:p>
            <a:r>
              <a:rPr lang="vi-VN" dirty="0"/>
              <a:t>Mỗi</a:t>
            </a:r>
            <a:r>
              <a:rPr lang="en-US" dirty="0"/>
              <a:t> entity </a:t>
            </a:r>
            <a:r>
              <a:rPr lang="vi-VN" dirty="0"/>
              <a:t>phải có khai báo định danh đối tượng</a:t>
            </a:r>
            <a:r>
              <a:rPr lang="en-US" dirty="0"/>
              <a:t> (persistent identifier)</a:t>
            </a:r>
            <a:endParaRPr lang="vi-VN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@Entity</a:t>
            </a:r>
            <a:endParaRPr lang="vi-V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public class Employee {</a:t>
            </a:r>
            <a:endParaRPr lang="vi-VN" dirty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@Id</a:t>
            </a:r>
            <a:endParaRPr lang="vi-V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/>
              <a:t>private int 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/>
              <a:t>;</a:t>
            </a:r>
            <a:endParaRPr lang="vi-VN" dirty="0"/>
          </a:p>
          <a:p>
            <a:pPr marL="457200" lvl="1" indent="0">
              <a:buNone/>
            </a:pPr>
            <a:r>
              <a:rPr lang="en-US" dirty="0"/>
              <a:t>private String name;</a:t>
            </a:r>
            <a:endParaRPr lang="vi-VN" dirty="0"/>
          </a:p>
          <a:p>
            <a:pPr marL="457200" lvl="1" indent="0">
              <a:buNone/>
            </a:pPr>
            <a:r>
              <a:rPr lang="en-US" dirty="0"/>
              <a:t>private Date age;</a:t>
            </a:r>
            <a:endParaRPr lang="vi-VN" dirty="0"/>
          </a:p>
          <a:p>
            <a:pPr marL="457200" lvl="1" indent="0">
              <a:buNone/>
            </a:pPr>
            <a:r>
              <a:rPr lang="en-US" dirty="0"/>
              <a:t>public int </a:t>
            </a:r>
            <a:r>
              <a:rPr lang="en-US" dirty="0" err="1"/>
              <a:t>getId</a:t>
            </a:r>
            <a:r>
              <a:rPr lang="en-US" dirty="0"/>
              <a:t>() { return id; }</a:t>
            </a:r>
            <a:endParaRPr lang="vi-VN" dirty="0"/>
          </a:p>
          <a:p>
            <a:pPr marL="457200" lvl="1" indent="0">
              <a:buNone/>
            </a:pPr>
            <a:r>
              <a:rPr lang="en-US" dirty="0"/>
              <a:t>public void </a:t>
            </a:r>
            <a:r>
              <a:rPr lang="en-US" dirty="0" err="1"/>
              <a:t>setId</a:t>
            </a:r>
            <a:r>
              <a:rPr lang="en-US" dirty="0"/>
              <a:t>(int id) { this.id = id; }. . . }</a:t>
            </a:r>
          </a:p>
        </p:txBody>
      </p:sp>
    </p:spTree>
    <p:extLst>
      <p:ext uri="{BB962C8B-B14F-4D97-AF65-F5344CB8AC3E}">
        <p14:creationId xmlns:p14="http://schemas.microsoft.com/office/powerpoint/2010/main" val="32746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9928-CEC2-1B49-0470-A0D823BC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Identifier Generation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CB97-EDF9-3EEE-C77D-ACCBFA966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Định danh có thể được tạo trong </a:t>
            </a:r>
            <a:r>
              <a:rPr lang="vi-VN" dirty="0" err="1"/>
              <a:t>database</a:t>
            </a:r>
            <a:r>
              <a:rPr lang="vi-VN" dirty="0"/>
              <a:t> bằng khai báo </a:t>
            </a:r>
            <a:r>
              <a:rPr lang="en-US" dirty="0">
                <a:solidFill>
                  <a:srgbClr val="FF0000"/>
                </a:solidFill>
              </a:rPr>
              <a:t>@GeneratedValue</a:t>
            </a:r>
            <a:endParaRPr lang="vi-VN" dirty="0"/>
          </a:p>
          <a:p>
            <a:r>
              <a:rPr lang="vi-VN" dirty="0"/>
              <a:t>Có 4 dạng</a:t>
            </a:r>
            <a:r>
              <a:rPr lang="en-US" dirty="0"/>
              <a:t>:</a:t>
            </a:r>
            <a:endParaRPr lang="vi-VN" dirty="0"/>
          </a:p>
          <a:p>
            <a:pPr lvl="1"/>
            <a:r>
              <a:rPr lang="en-US" dirty="0"/>
              <a:t>AUTO, </a:t>
            </a:r>
            <a:r>
              <a:rPr lang="en-US" b="1" dirty="0">
                <a:highlight>
                  <a:srgbClr val="FFFF00"/>
                </a:highlight>
              </a:rPr>
              <a:t>IDENTITY</a:t>
            </a:r>
            <a:r>
              <a:rPr lang="en-US" dirty="0"/>
              <a:t>, SEQUENCE, TABLE </a:t>
            </a:r>
            <a:endParaRPr lang="vi-VN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17479-6265-BE77-6EC6-A3F55DAD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969936"/>
            <a:ext cx="9555622" cy="16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4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357D-B49B-B433-25EA-A0F02B66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Khai báo không dùng mặc định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6ABDA-7BCF-52EB-73B9-9721A0956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6" y="838200"/>
            <a:ext cx="11357113" cy="5486400"/>
          </a:xfrm>
        </p:spPr>
        <p:txBody>
          <a:bodyPr>
            <a:normAutofit/>
          </a:bodyPr>
          <a:lstStyle/>
          <a:p>
            <a:r>
              <a:rPr lang="vi-VN" dirty="0"/>
              <a:t>Mặc định tên </a:t>
            </a:r>
            <a:r>
              <a:rPr lang="en-US" dirty="0"/>
              <a:t>table </a:t>
            </a:r>
            <a:r>
              <a:rPr lang="vi-VN" dirty="0"/>
              <a:t>được ánh xạ tới tên </a:t>
            </a:r>
            <a:r>
              <a:rPr lang="vi-VN" dirty="0" err="1"/>
              <a:t>class</a:t>
            </a:r>
            <a:endParaRPr lang="vi-VN" dirty="0"/>
          </a:p>
          <a:p>
            <a:r>
              <a:rPr lang="vi-VN" dirty="0"/>
              <a:t>Tên cột được ánh xạ tới tên </a:t>
            </a:r>
            <a:r>
              <a:rPr lang="vi-VN" dirty="0" err="1"/>
              <a:t>field</a:t>
            </a:r>
            <a:endParaRPr lang="vi-VN" dirty="0"/>
          </a:p>
          <a:p>
            <a:r>
              <a:rPr lang="vi-VN" dirty="0"/>
              <a:t>Trong trường hợp không trùng ta phải khai báo</a:t>
            </a:r>
          </a:p>
          <a:p>
            <a:pPr lvl="1"/>
            <a:r>
              <a:rPr lang="vi-VN" dirty="0"/>
              <a:t>@Table</a:t>
            </a:r>
          </a:p>
          <a:p>
            <a:pPr lvl="1"/>
            <a:r>
              <a:rPr lang="vi-VN" dirty="0"/>
              <a:t>@Column</a:t>
            </a:r>
          </a:p>
          <a:p>
            <a:r>
              <a:rPr lang="vi-VN" dirty="0"/>
              <a:t>Ví dụ</a:t>
            </a:r>
            <a:r>
              <a:rPr lang="en-US" dirty="0"/>
              <a:t>:</a:t>
            </a:r>
            <a:endParaRPr lang="vi-VN" dirty="0"/>
          </a:p>
          <a:p>
            <a:endParaRPr lang="vi-V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18DC5-46AD-17DD-D8E4-21136C7A9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175" y="2214578"/>
            <a:ext cx="4453082" cy="1047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535F69-890D-75D6-37EC-95A97AF2A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803" y="3795522"/>
            <a:ext cx="9058393" cy="199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2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EBBE-4B56-256A-031F-594AB69A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QUẢN LÝ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vi-VN" b="1" dirty="0">
                <a:solidFill>
                  <a:srgbClr val="FF0000"/>
                </a:solidFill>
              </a:rPr>
              <a:t>ENTITY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F7701-D241-02F4-42E9-1C31A70DB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7" y="838200"/>
            <a:ext cx="10601740" cy="5486400"/>
          </a:xfrm>
        </p:spPr>
        <p:txBody>
          <a:bodyPr>
            <a:normAutofit/>
          </a:bodyPr>
          <a:lstStyle/>
          <a:p>
            <a:pPr algn="just"/>
            <a:r>
              <a:rPr lang="vi-VN" sz="3200" dirty="0">
                <a:latin typeface="+mj-lt"/>
              </a:rPr>
              <a:t>Các </a:t>
            </a:r>
            <a:r>
              <a:rPr lang="vi-VN" sz="3200" dirty="0" err="1">
                <a:latin typeface="+mj-lt"/>
              </a:rPr>
              <a:t>Entity</a:t>
            </a:r>
            <a:r>
              <a:rPr lang="vi-VN" sz="3200" dirty="0">
                <a:latin typeface="+mj-lt"/>
              </a:rPr>
              <a:t> được quản lý bởi đối tượng </a:t>
            </a:r>
            <a:r>
              <a:rPr lang="en-US" sz="3200" dirty="0">
                <a:latin typeface="+mj-lt"/>
              </a:rPr>
              <a:t>entity manager</a:t>
            </a:r>
          </a:p>
          <a:p>
            <a:pPr algn="just"/>
            <a:endParaRPr lang="vi-VN" sz="3200" dirty="0">
              <a:latin typeface="+mj-lt"/>
            </a:endParaRPr>
          </a:p>
          <a:p>
            <a:pPr algn="just"/>
            <a:r>
              <a:rPr lang="vi-VN" sz="3200" dirty="0">
                <a:latin typeface="+mj-lt"/>
              </a:rPr>
              <a:t>Mỗi thể hiện </a:t>
            </a:r>
            <a:r>
              <a:rPr lang="en-US" sz="3200" dirty="0" err="1">
                <a:latin typeface="+mj-lt"/>
              </a:rPr>
              <a:t>EntityManager</a:t>
            </a:r>
            <a:r>
              <a:rPr lang="vi-VN" sz="3200" dirty="0">
                <a:latin typeface="+mj-lt"/>
              </a:rPr>
              <a:t> được kết hợp với một</a:t>
            </a:r>
            <a:r>
              <a:rPr lang="en-US" sz="3200" dirty="0">
                <a:latin typeface="+mj-lt"/>
              </a:rPr>
              <a:t> </a:t>
            </a:r>
            <a:r>
              <a:rPr lang="vi-VN" sz="3200" dirty="0">
                <a:latin typeface="+mj-lt"/>
              </a:rPr>
              <a:t>“</a:t>
            </a:r>
            <a:r>
              <a:rPr lang="en-US" sz="3200" dirty="0">
                <a:latin typeface="+mj-lt"/>
              </a:rPr>
              <a:t>persistence </a:t>
            </a:r>
            <a:r>
              <a:rPr lang="vi-VN" sz="3200" dirty="0">
                <a:latin typeface="+mj-lt"/>
              </a:rPr>
              <a:t>context”</a:t>
            </a:r>
            <a:endParaRPr lang="en-US" sz="3200" dirty="0">
              <a:latin typeface="+mj-lt"/>
            </a:endParaRPr>
          </a:p>
          <a:p>
            <a:pPr algn="just"/>
            <a:endParaRPr lang="vi-VN" sz="3200" dirty="0">
              <a:latin typeface="+mj-lt"/>
            </a:endParaRPr>
          </a:p>
          <a:p>
            <a:pPr algn="just"/>
            <a:r>
              <a:rPr lang="vi-VN" sz="3200" dirty="0">
                <a:latin typeface="+mj-lt"/>
              </a:rPr>
              <a:t>Một</a:t>
            </a:r>
            <a:r>
              <a:rPr lang="en-US" sz="3200" dirty="0">
                <a:latin typeface="+mj-lt"/>
              </a:rPr>
              <a:t> </a:t>
            </a:r>
            <a:r>
              <a:rPr lang="vi-VN" sz="3200" dirty="0">
                <a:latin typeface="+mj-lt"/>
              </a:rPr>
              <a:t>“</a:t>
            </a:r>
            <a:r>
              <a:rPr lang="en-US" sz="3200" dirty="0">
                <a:latin typeface="+mj-lt"/>
              </a:rPr>
              <a:t>persistence </a:t>
            </a:r>
            <a:r>
              <a:rPr lang="vi-VN" sz="3200" dirty="0" err="1">
                <a:latin typeface="+mj-lt"/>
              </a:rPr>
              <a:t>context</a:t>
            </a:r>
            <a:r>
              <a:rPr lang="vi-VN" sz="3200" dirty="0">
                <a:latin typeface="+mj-lt"/>
              </a:rPr>
              <a:t>” xác định phạm vi theo đó các </a:t>
            </a:r>
            <a:r>
              <a:rPr lang="vi-VN" sz="3200" dirty="0" err="1">
                <a:latin typeface="+mj-lt"/>
              </a:rPr>
              <a:t>entity</a:t>
            </a:r>
            <a:r>
              <a:rPr lang="vi-VN" sz="3200" dirty="0">
                <a:latin typeface="+mj-lt"/>
              </a:rPr>
              <a:t> cụ thể được </a:t>
            </a:r>
            <a:r>
              <a:rPr lang="en-US" sz="3200" dirty="0">
                <a:latin typeface="+mj-lt"/>
              </a:rPr>
              <a:t>create, persist, </a:t>
            </a:r>
            <a:r>
              <a:rPr lang="vi-VN" sz="3200" dirty="0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remove</a:t>
            </a:r>
          </a:p>
          <a:p>
            <a:pPr marL="0" indent="0">
              <a:buNone/>
            </a:pP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597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25E30-2EA8-1BA0-8796-246989DB6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64" y="748098"/>
            <a:ext cx="8562089" cy="548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3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74BE-6686-4AED-7186-F803E03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EntityManager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7A73B-6C3D-4FAA-589F-5842B492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838200"/>
            <a:ext cx="10561984" cy="5218043"/>
          </a:xfrm>
        </p:spPr>
        <p:txBody>
          <a:bodyPr/>
          <a:lstStyle/>
          <a:p>
            <a:r>
              <a:rPr lang="en-US" dirty="0" err="1"/>
              <a:t>EntityManager</a:t>
            </a:r>
            <a:r>
              <a:rPr lang="vi-VN" dirty="0"/>
              <a:t> sử dụng quản lý trạng thái và chu kỳ sống của các </a:t>
            </a:r>
            <a:r>
              <a:rPr lang="vi-VN" dirty="0" err="1"/>
              <a:t>entity</a:t>
            </a:r>
            <a:r>
              <a:rPr lang="en-US" dirty="0"/>
              <a:t> </a:t>
            </a:r>
            <a:r>
              <a:rPr lang="vi-VN" dirty="0"/>
              <a:t>trong</a:t>
            </a:r>
            <a:r>
              <a:rPr lang="en-US" dirty="0"/>
              <a:t> </a:t>
            </a:r>
            <a:r>
              <a:rPr lang="vi-VN" dirty="0"/>
              <a:t>“</a:t>
            </a:r>
            <a:r>
              <a:rPr lang="en-US" dirty="0"/>
              <a:t>persistence </a:t>
            </a:r>
            <a:r>
              <a:rPr lang="vi-VN" dirty="0" err="1"/>
              <a:t>context</a:t>
            </a:r>
            <a:r>
              <a:rPr lang="vi-VN" dirty="0"/>
              <a:t>”</a:t>
            </a:r>
          </a:p>
          <a:p>
            <a:r>
              <a:rPr lang="vi-VN" dirty="0"/>
              <a:t>Các trạng thái của </a:t>
            </a:r>
            <a:r>
              <a:rPr lang="vi-VN" dirty="0" err="1"/>
              <a:t>Entity</a:t>
            </a:r>
            <a:r>
              <a:rPr lang="en-US" dirty="0"/>
              <a:t>:</a:t>
            </a:r>
            <a:endParaRPr lang="vi-VN" dirty="0"/>
          </a:p>
          <a:p>
            <a:pPr lvl="1"/>
            <a:r>
              <a:rPr lang="en-US" dirty="0"/>
              <a:t>1.New</a:t>
            </a:r>
            <a:endParaRPr lang="vi-VN" dirty="0"/>
          </a:p>
          <a:p>
            <a:pPr lvl="1"/>
            <a:r>
              <a:rPr lang="en-US" dirty="0"/>
              <a:t>2.Managed</a:t>
            </a:r>
            <a:endParaRPr lang="vi-VN" dirty="0"/>
          </a:p>
          <a:p>
            <a:pPr lvl="1"/>
            <a:r>
              <a:rPr lang="en-US" dirty="0"/>
              <a:t>3.Detached</a:t>
            </a:r>
            <a:endParaRPr lang="vi-VN" dirty="0"/>
          </a:p>
          <a:p>
            <a:pPr lvl="1"/>
            <a:r>
              <a:rPr lang="en-US" dirty="0"/>
              <a:t>4.Removed</a:t>
            </a:r>
          </a:p>
          <a:p>
            <a:endParaRPr lang="en-US" dirty="0"/>
          </a:p>
        </p:txBody>
      </p:sp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B5F98E05-495C-C766-F108-BE2FB11AC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665" y="1898245"/>
            <a:ext cx="7320834" cy="37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41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8B14-D421-970F-47AC-EA119A11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Tạo </a:t>
            </a:r>
            <a:r>
              <a:rPr lang="vi-VN" dirty="0" err="1">
                <a:solidFill>
                  <a:srgbClr val="FF0000"/>
                </a:solidFill>
              </a:rPr>
              <a:t>EntityManager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C5952-A72A-81E9-0F0D-F010968B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83" y="712270"/>
            <a:ext cx="9654676" cy="54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71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29D5-C71F-6222-4D4F-7E275DE5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C7D5-3BE1-5FDB-FA63-5BF42A9E5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776" y="838200"/>
            <a:ext cx="10181230" cy="5486400"/>
          </a:xfrm>
        </p:spPr>
        <p:txBody>
          <a:bodyPr>
            <a:normAutofit/>
          </a:bodyPr>
          <a:lstStyle/>
          <a:p>
            <a:r>
              <a:rPr lang="en-US" dirty="0"/>
              <a:t>JPA transactions </a:t>
            </a:r>
            <a:r>
              <a:rPr lang="vi-VN" dirty="0"/>
              <a:t>có thể quản lý bởi</a:t>
            </a:r>
            <a:r>
              <a:rPr lang="en-US" dirty="0"/>
              <a:t>: </a:t>
            </a:r>
            <a:endParaRPr lang="vi-VN" dirty="0"/>
          </a:p>
          <a:p>
            <a:pPr lvl="1"/>
            <a:r>
              <a:rPr lang="en-US" sz="2800" dirty="0"/>
              <a:t>Application</a:t>
            </a:r>
            <a:r>
              <a:rPr lang="vi-VN" sz="2800" dirty="0"/>
              <a:t> </a:t>
            </a:r>
            <a:r>
              <a:rPr lang="vi-VN" sz="2800" dirty="0" err="1"/>
              <a:t>User</a:t>
            </a:r>
            <a:endParaRPr lang="vi-VN" sz="2800" dirty="0"/>
          </a:p>
          <a:p>
            <a:pPr lvl="1"/>
            <a:r>
              <a:rPr lang="vi-VN" sz="2800" dirty="0"/>
              <a:t>F</a:t>
            </a:r>
            <a:r>
              <a:rPr lang="en-US" sz="2800" dirty="0" err="1"/>
              <a:t>ramework</a:t>
            </a:r>
            <a:r>
              <a:rPr lang="en-US" sz="2800" dirty="0"/>
              <a:t> (</a:t>
            </a:r>
            <a:r>
              <a:rPr lang="vi-VN" sz="2800" dirty="0"/>
              <a:t>..</a:t>
            </a:r>
            <a:r>
              <a:rPr lang="en-US" sz="2800" dirty="0"/>
              <a:t> Spring)</a:t>
            </a:r>
            <a:endParaRPr lang="vi-VN" sz="2800" dirty="0"/>
          </a:p>
          <a:p>
            <a:pPr lvl="1"/>
            <a:r>
              <a:rPr lang="en-US" sz="2800" dirty="0"/>
              <a:t>Java EE container</a:t>
            </a:r>
            <a:endParaRPr lang="vi-VN" sz="2800" dirty="0"/>
          </a:p>
          <a:p>
            <a:r>
              <a:rPr lang="en-US" dirty="0"/>
              <a:t>Transactions </a:t>
            </a:r>
            <a:r>
              <a:rPr lang="vi-VN" dirty="0"/>
              <a:t>có thể điều khiển theo 2 cách</a:t>
            </a:r>
            <a:r>
              <a:rPr lang="en-US" dirty="0"/>
              <a:t>:</a:t>
            </a:r>
            <a:endParaRPr lang="vi-VN" dirty="0"/>
          </a:p>
          <a:p>
            <a:pPr lvl="1"/>
            <a:r>
              <a:rPr lang="en-US" sz="2800" dirty="0"/>
              <a:t>Java Transaction API(JTA)</a:t>
            </a:r>
            <a:endParaRPr lang="vi-VN" sz="2800" dirty="0"/>
          </a:p>
          <a:p>
            <a:pPr lvl="2"/>
            <a:r>
              <a:rPr lang="en-US" sz="2800" dirty="0"/>
              <a:t>container-managed entity manager</a:t>
            </a:r>
            <a:endParaRPr lang="vi-VN" sz="2800" dirty="0"/>
          </a:p>
          <a:p>
            <a:pPr lvl="1"/>
            <a:r>
              <a:rPr lang="en-US" sz="2800" dirty="0" err="1"/>
              <a:t>EntityTransactionAPI</a:t>
            </a:r>
            <a:r>
              <a:rPr lang="en-US" sz="2800" dirty="0"/>
              <a:t> (</a:t>
            </a:r>
            <a:r>
              <a:rPr lang="en-US" sz="2800" dirty="0" err="1"/>
              <a:t>tx.begin</a:t>
            </a:r>
            <a:r>
              <a:rPr lang="en-US" sz="2800" dirty="0"/>
              <a:t>(), </a:t>
            </a:r>
            <a:r>
              <a:rPr lang="en-US" sz="2800" dirty="0" err="1"/>
              <a:t>tx.commit</a:t>
            </a:r>
            <a:r>
              <a:rPr lang="en-US" sz="2800" dirty="0"/>
              <a:t>(), </a:t>
            </a:r>
            <a:r>
              <a:rPr lang="vi-VN" sz="2800" dirty="0"/>
              <a:t>…</a:t>
            </a:r>
            <a:r>
              <a:rPr lang="en-US" sz="2800" dirty="0"/>
              <a:t>)</a:t>
            </a:r>
            <a:endParaRPr lang="vi-VN" sz="2800" dirty="0"/>
          </a:p>
          <a:p>
            <a:pPr lvl="2"/>
            <a:r>
              <a:rPr lang="en-US" sz="2800" dirty="0"/>
              <a:t>Application-managed entity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97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A5A-2A84-6C83-DA81-F4010703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Một số tác vụ trên đối tượng </a:t>
            </a:r>
            <a:r>
              <a:rPr lang="en-US" dirty="0"/>
              <a:t>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027F-87EF-BEE7-C511-1A7AE0D66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310" y="838200"/>
            <a:ext cx="10731690" cy="5071281"/>
          </a:xfrm>
        </p:spPr>
        <p:txBody>
          <a:bodyPr>
            <a:normAutofit/>
          </a:bodyPr>
          <a:lstStyle/>
          <a:p>
            <a:r>
              <a:rPr lang="en-US" dirty="0"/>
              <a:t>persist()</a:t>
            </a:r>
            <a:endParaRPr lang="vi-VN" dirty="0"/>
          </a:p>
          <a:p>
            <a:r>
              <a:rPr lang="en-US" dirty="0"/>
              <a:t>remove()</a:t>
            </a:r>
            <a:endParaRPr lang="vi-VN" dirty="0"/>
          </a:p>
          <a:p>
            <a:r>
              <a:rPr lang="en-US" dirty="0"/>
              <a:t>refresh()</a:t>
            </a:r>
            <a:r>
              <a:rPr lang="vi-VN" dirty="0"/>
              <a:t> </a:t>
            </a:r>
          </a:p>
          <a:p>
            <a:r>
              <a:rPr lang="en-US" dirty="0"/>
              <a:t>merge()</a:t>
            </a:r>
            <a:endParaRPr lang="vi-VN" dirty="0"/>
          </a:p>
          <a:p>
            <a:r>
              <a:rPr lang="en-US" dirty="0"/>
              <a:t>find()</a:t>
            </a:r>
            <a:endParaRPr lang="vi-VN" dirty="0"/>
          </a:p>
          <a:p>
            <a:r>
              <a:rPr lang="en-US" dirty="0" err="1"/>
              <a:t>createQuery</a:t>
            </a:r>
            <a:r>
              <a:rPr lang="en-US" dirty="0"/>
              <a:t>()</a:t>
            </a:r>
            <a:endParaRPr lang="vi-VN" dirty="0"/>
          </a:p>
          <a:p>
            <a:r>
              <a:rPr lang="en-US" dirty="0" err="1"/>
              <a:t>createNamedQuery</a:t>
            </a:r>
            <a:r>
              <a:rPr lang="en-US" dirty="0"/>
              <a:t>()</a:t>
            </a:r>
            <a:endParaRPr lang="vi-VN" dirty="0"/>
          </a:p>
          <a:p>
            <a:r>
              <a:rPr lang="en-US" dirty="0" err="1"/>
              <a:t>createNativeQuery</a:t>
            </a:r>
            <a:r>
              <a:rPr lang="en-US" dirty="0"/>
              <a:t>()</a:t>
            </a:r>
            <a:endParaRPr lang="vi-VN" dirty="0"/>
          </a:p>
          <a:p>
            <a:r>
              <a:rPr lang="en-US" dirty="0"/>
              <a:t>contains()</a:t>
            </a:r>
            <a:endParaRPr lang="vi-VN" dirty="0"/>
          </a:p>
          <a:p>
            <a:r>
              <a:rPr lang="en-US" dirty="0"/>
              <a:t>flush()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74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45BE-4918-6DCE-DD1F-DB74D55A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Persistence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AC91-ACDA-43DD-92F3-0DD5A4A6F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0" y="811695"/>
            <a:ext cx="10668002" cy="5486400"/>
          </a:xfrm>
        </p:spPr>
        <p:txBody>
          <a:bodyPr>
            <a:normAutofit/>
          </a:bodyPr>
          <a:lstStyle/>
          <a:p>
            <a:pPr algn="just"/>
            <a:r>
              <a:rPr lang="vi-VN" sz="3200" dirty="0">
                <a:latin typeface="Time s New Roman"/>
              </a:rPr>
              <a:t>“P</a:t>
            </a:r>
            <a:r>
              <a:rPr lang="en-US" sz="3200" dirty="0" err="1">
                <a:latin typeface="Time s New Roman"/>
              </a:rPr>
              <a:t>ersistence</a:t>
            </a:r>
            <a:r>
              <a:rPr lang="en-US" sz="3200" dirty="0">
                <a:latin typeface="Time s New Roman"/>
              </a:rPr>
              <a:t> </a:t>
            </a:r>
            <a:r>
              <a:rPr lang="vi-VN" sz="3200" dirty="0" err="1">
                <a:latin typeface="Time s New Roman"/>
              </a:rPr>
              <a:t>unit</a:t>
            </a:r>
            <a:r>
              <a:rPr lang="vi-VN" sz="3200" dirty="0">
                <a:latin typeface="Time s New Roman"/>
              </a:rPr>
              <a:t>” định nghĩa một tập các </a:t>
            </a:r>
            <a:r>
              <a:rPr lang="vi-VN" sz="3200" dirty="0" err="1">
                <a:latin typeface="Time s New Roman"/>
              </a:rPr>
              <a:t>class</a:t>
            </a:r>
            <a:r>
              <a:rPr lang="vi-VN" sz="3200" dirty="0">
                <a:latin typeface="Time s New Roman"/>
              </a:rPr>
              <a:t> </a:t>
            </a:r>
            <a:r>
              <a:rPr lang="en-US" sz="3200" dirty="0">
                <a:latin typeface="Time s New Roman"/>
              </a:rPr>
              <a:t>entity</a:t>
            </a:r>
            <a:r>
              <a:rPr lang="vi-VN" sz="3200" dirty="0">
                <a:latin typeface="Time s New Roman"/>
              </a:rPr>
              <a:t> được quản lý bởi đối tượng trong ứng dụng</a:t>
            </a:r>
            <a:r>
              <a:rPr lang="en-US" sz="3200" dirty="0">
                <a:latin typeface="Time s New Roman"/>
              </a:rPr>
              <a:t>.</a:t>
            </a:r>
          </a:p>
          <a:p>
            <a:pPr algn="just"/>
            <a:endParaRPr lang="vi-VN" sz="3200" dirty="0">
              <a:latin typeface="Time s New Roman"/>
            </a:endParaRPr>
          </a:p>
          <a:p>
            <a:pPr algn="just"/>
            <a:r>
              <a:rPr lang="vi-VN" sz="3200" dirty="0">
                <a:latin typeface="Time s New Roman"/>
              </a:rPr>
              <a:t>Mỗi</a:t>
            </a:r>
            <a:r>
              <a:rPr lang="en-US" sz="3200" dirty="0">
                <a:latin typeface="Time s New Roman"/>
              </a:rPr>
              <a:t> </a:t>
            </a:r>
            <a:r>
              <a:rPr lang="vi-VN" sz="3200" dirty="0">
                <a:latin typeface="Time s New Roman"/>
              </a:rPr>
              <a:t>“</a:t>
            </a:r>
            <a:r>
              <a:rPr lang="en-US" sz="3200" dirty="0">
                <a:latin typeface="Time s New Roman"/>
              </a:rPr>
              <a:t>persistence </a:t>
            </a:r>
            <a:r>
              <a:rPr lang="vi-VN" sz="3200" dirty="0">
                <a:latin typeface="Time s New Roman"/>
              </a:rPr>
              <a:t>unit” có thể có provider và database driver khác nhau</a:t>
            </a:r>
            <a:r>
              <a:rPr lang="en-US" sz="3200" dirty="0">
                <a:latin typeface="Time s New Roman"/>
              </a:rPr>
              <a:t>.</a:t>
            </a:r>
          </a:p>
          <a:p>
            <a:pPr algn="just"/>
            <a:endParaRPr lang="vi-VN" sz="3200" dirty="0">
              <a:latin typeface="Time s New Roman"/>
            </a:endParaRPr>
          </a:p>
          <a:p>
            <a:pPr algn="just"/>
            <a:r>
              <a:rPr lang="vi-VN" sz="3200" dirty="0">
                <a:latin typeface="Time s New Roman"/>
              </a:rPr>
              <a:t>“</a:t>
            </a:r>
            <a:r>
              <a:rPr lang="en-US" sz="3200" dirty="0">
                <a:latin typeface="Time s New Roman"/>
              </a:rPr>
              <a:t>Persistence </a:t>
            </a:r>
            <a:r>
              <a:rPr lang="vi-VN" sz="3200" dirty="0" err="1">
                <a:latin typeface="Time s New Roman"/>
              </a:rPr>
              <a:t>unit</a:t>
            </a:r>
            <a:r>
              <a:rPr lang="vi-VN" sz="3200" dirty="0">
                <a:latin typeface="Time s New Roman"/>
              </a:rPr>
              <a:t>” định nghĩa trong tập tin cấu hình “</a:t>
            </a:r>
            <a:r>
              <a:rPr lang="en-US" sz="3200" dirty="0">
                <a:highlight>
                  <a:srgbClr val="FFFF00"/>
                </a:highlight>
                <a:latin typeface="Time s New Roman"/>
              </a:rPr>
              <a:t>persistence.</a:t>
            </a:r>
            <a:r>
              <a:rPr lang="vi-VN" sz="3200" dirty="0">
                <a:highlight>
                  <a:srgbClr val="FFFF00"/>
                </a:highlight>
                <a:latin typeface="Time s New Roman"/>
              </a:rPr>
              <a:t>xml</a:t>
            </a:r>
            <a:r>
              <a:rPr lang="vi-VN" sz="3200" dirty="0">
                <a:latin typeface="Time s New Roman"/>
              </a:rPr>
              <a:t>”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đặt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trong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thư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mục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>
                <a:highlight>
                  <a:srgbClr val="FFFF00"/>
                </a:highlight>
                <a:latin typeface="Time s New Roman"/>
              </a:rPr>
              <a:t>META-INF</a:t>
            </a:r>
          </a:p>
          <a:p>
            <a:pPr algn="just"/>
            <a:endParaRPr lang="en-US" sz="3200" dirty="0">
              <a:latin typeface="Time 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0281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D954-5A54-1907-D225-5B257BFD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6278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persistence.xml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F29F-48D3-5D4C-3B11-D8F8A5AF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4" y="1014827"/>
            <a:ext cx="10969488" cy="5028164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fr-F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fr-F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persistence</a:t>
            </a:r>
            <a:r>
              <a:rPr lang="en-US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	&lt;!-- Define persistence unit --&gt;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&lt;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persistence-unit </a:t>
            </a:r>
            <a:r>
              <a:rPr lang="en-US" sz="16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i="1" dirty="0" err="1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qlsv-jpa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		&lt;!-- Define mapping classes (1) --&gt;</a:t>
            </a:r>
            <a:endParaRPr lang="en-US" sz="1600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&lt;class&gt;</a:t>
            </a:r>
            <a:r>
              <a:rPr lang="en-US" sz="1600" dirty="0" err="1">
                <a:solidFill>
                  <a:srgbClr val="3F7F7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domain.SinhVien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&lt;/class&gt;</a:t>
            </a:r>
          </a:p>
          <a:p>
            <a:pPr marL="0" indent="0" algn="l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&lt;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properties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		&lt;!-- database connection --&gt;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&lt;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property </a:t>
            </a:r>
            <a:r>
              <a:rPr lang="en-US" sz="16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"javax.persistence.jdbc.url" v</a:t>
            </a:r>
            <a:r>
              <a:rPr lang="en-US" sz="1600" i="1" dirty="0">
                <a:solidFill>
                  <a:srgbClr val="7F007F"/>
                </a:solidFill>
                <a:latin typeface="Consolas" panose="020B0609020204030204" pitchFamily="49" charset="0"/>
              </a:rPr>
              <a:t>alue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“</a:t>
            </a:r>
            <a:r>
              <a:rPr lang="en-US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url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&lt;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property </a:t>
            </a:r>
            <a:r>
              <a:rPr lang="en-US" sz="16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javax.persistence.jdbc.user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1600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“user" </a:t>
            </a:r>
            <a:r>
              <a:rPr lang="en-US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&lt;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property </a:t>
            </a:r>
            <a:r>
              <a:rPr lang="en-US" sz="16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javax.persistence.jdbc.password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1600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“pass" </a:t>
            </a:r>
            <a:r>
              <a:rPr lang="en-US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&lt;!– Packages to scan entity (2) --&gt;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</a:t>
            </a:r>
            <a:r>
              <a:rPr lang="en-US" sz="1600" dirty="0">
                <a:solidFill>
                  <a:srgbClr val="0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F7F7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property </a:t>
            </a:r>
            <a:r>
              <a:rPr lang="en-US" sz="1600" dirty="0">
                <a:solidFill>
                  <a:srgbClr val="7F007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600" i="1" dirty="0" err="1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packagesToScan</a:t>
            </a:r>
            <a:r>
              <a:rPr lang="en-US" sz="1600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en-US" sz="1600" i="1" dirty="0">
                <a:solidFill>
                  <a:srgbClr val="7F007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sz="1600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1600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600" i="1" dirty="0" err="1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dto</a:t>
            </a:r>
            <a:r>
              <a:rPr lang="en-US" sz="1600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600" i="1" dirty="0">
                <a:solidFill>
                  <a:srgbClr val="0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	&lt;/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properties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	&lt;/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persistence-unit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3F7F7F"/>
                </a:solidFill>
                <a:latin typeface="Consolas" panose="020B0609020204030204" pitchFamily="49" charset="0"/>
              </a:rPr>
              <a:t>persistence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1480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4AC4-618F-532B-13D1-CCFC47FBC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822"/>
            <a:ext cx="10515600" cy="1087674"/>
          </a:xfrm>
        </p:spPr>
        <p:txBody>
          <a:bodyPr>
            <a:normAutofit/>
          </a:bodyPr>
          <a:lstStyle/>
          <a:p>
            <a:r>
              <a:rPr lang="en-US" sz="3200" b="1" u="sng"/>
              <a:t>Casestudy:</a:t>
            </a:r>
            <a:br>
              <a:rPr lang="en-US" sz="3200" b="1"/>
            </a:br>
            <a:endParaRPr lang="en-US" sz="32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80E5AB-D035-20DD-18D0-2E436C03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79" y="3597468"/>
            <a:ext cx="4243337" cy="286331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0B66C94-8194-55B7-5294-5ECCBC810481}"/>
              </a:ext>
            </a:extLst>
          </p:cNvPr>
          <p:cNvGrpSpPr/>
          <p:nvPr/>
        </p:nvGrpSpPr>
        <p:grpSpPr>
          <a:xfrm>
            <a:off x="889016" y="1047852"/>
            <a:ext cx="6943018" cy="2212681"/>
            <a:chOff x="162336" y="391001"/>
            <a:chExt cx="6168234" cy="18071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001A63-16CA-00F2-E15D-5715B152E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336" y="1150066"/>
              <a:ext cx="1805009" cy="10085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AF9C16-A880-C6DC-CA1C-DDBAE7BDC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249" y="1110524"/>
              <a:ext cx="1698321" cy="108767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852EBC-335A-E1CA-E7F4-0ED85135A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126" y="605288"/>
              <a:ext cx="5166801" cy="38661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44FFB1-210A-5E2F-B9DC-EDAC7622587B}"/>
                </a:ext>
              </a:extLst>
            </p:cNvPr>
            <p:cNvSpPr txBox="1"/>
            <p:nvPr/>
          </p:nvSpPr>
          <p:spPr>
            <a:xfrm>
              <a:off x="1909640" y="879834"/>
              <a:ext cx="2673626" cy="386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JPA / Hibernate framework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C5AAFC-3C6E-C4B7-A680-6BB1B0E8C746}"/>
                </a:ext>
              </a:extLst>
            </p:cNvPr>
            <p:cNvSpPr txBox="1"/>
            <p:nvPr/>
          </p:nvSpPr>
          <p:spPr>
            <a:xfrm>
              <a:off x="2304557" y="391001"/>
              <a:ext cx="1531758" cy="386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ORM Mapping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2_Axis">
  <a:themeElements>
    <a:clrScheme name="2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2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2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1 Giới thiệu tổng quan cong nghe java</Template>
  <TotalTime>809</TotalTime>
  <Words>966</Words>
  <Application>Microsoft Office PowerPoint</Application>
  <PresentationFormat>Widescreen</PresentationFormat>
  <Paragraphs>131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Consolas</vt:lpstr>
      <vt:lpstr>Courier New</vt:lpstr>
      <vt:lpstr>Helvetica</vt:lpstr>
      <vt:lpstr>Time s New Roman</vt:lpstr>
      <vt:lpstr>Times New Roman</vt:lpstr>
      <vt:lpstr>Wingdings</vt:lpstr>
      <vt:lpstr>2_Axis</vt:lpstr>
      <vt:lpstr>Chương 6: JPA</vt:lpstr>
      <vt:lpstr>TỔNG QUAN</vt:lpstr>
      <vt:lpstr>Các vấn đề không được giải quyết</vt:lpstr>
      <vt:lpstr>ORM (Object-relational mapping)</vt:lpstr>
      <vt:lpstr>JPA</vt:lpstr>
      <vt:lpstr>Kiến trúc JPA</vt:lpstr>
      <vt:lpstr>Mối liên hệ các lớp JPA</vt:lpstr>
      <vt:lpstr>Entity class</vt:lpstr>
      <vt:lpstr>Persistent Fields and Properties</vt:lpstr>
      <vt:lpstr>Primary key</vt:lpstr>
      <vt:lpstr>Identifier Generation</vt:lpstr>
      <vt:lpstr>Khai báo không dùng mặc định</vt:lpstr>
      <vt:lpstr>QUẢN LÝ ENTITY</vt:lpstr>
      <vt:lpstr>PowerPoint Presentation</vt:lpstr>
      <vt:lpstr>EntityManager</vt:lpstr>
      <vt:lpstr>Tạo EntityManager</vt:lpstr>
      <vt:lpstr>Transaction</vt:lpstr>
      <vt:lpstr>Một số tác vụ trên đối tượng Entity</vt:lpstr>
      <vt:lpstr>Persistence Unit</vt:lpstr>
      <vt:lpstr>persistence.xml</vt:lpstr>
      <vt:lpstr>Casestudy: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JPA (Jakarta Persistence API)</dc:title>
  <dc:creator>TTMT</dc:creator>
  <cp:lastModifiedBy>Administrator</cp:lastModifiedBy>
  <cp:revision>37</cp:revision>
  <dcterms:created xsi:type="dcterms:W3CDTF">2024-03-30T02:07:24Z</dcterms:created>
  <dcterms:modified xsi:type="dcterms:W3CDTF">2024-11-23T01:21:09Z</dcterms:modified>
</cp:coreProperties>
</file>