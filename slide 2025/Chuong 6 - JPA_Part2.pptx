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2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246"/>
            </a:lvl1pPr>
            <a:lvl2pPr marL="237390" indent="0" algn="ctr">
              <a:buNone/>
              <a:defRPr sz="1038"/>
            </a:lvl2pPr>
            <a:lvl3pPr marL="474779" indent="0" algn="ctr">
              <a:buNone/>
              <a:defRPr sz="935"/>
            </a:lvl3pPr>
            <a:lvl4pPr marL="712169" indent="0" algn="ctr">
              <a:buNone/>
              <a:defRPr sz="831"/>
            </a:lvl4pPr>
            <a:lvl5pPr marL="949559" indent="0" algn="ctr">
              <a:buNone/>
              <a:defRPr sz="831"/>
            </a:lvl5pPr>
            <a:lvl6pPr marL="1186948" indent="0" algn="ctr">
              <a:buNone/>
              <a:defRPr sz="831"/>
            </a:lvl6pPr>
            <a:lvl7pPr marL="1424338" indent="0" algn="ctr">
              <a:buNone/>
              <a:defRPr sz="831"/>
            </a:lvl7pPr>
            <a:lvl8pPr marL="1661728" indent="0" algn="ctr">
              <a:buNone/>
              <a:defRPr sz="831"/>
            </a:lvl8pPr>
            <a:lvl9pPr marL="1899117" indent="0" algn="ctr">
              <a:buNone/>
              <a:defRPr sz="8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2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246">
                <a:solidFill>
                  <a:schemeClr val="tx1"/>
                </a:solidFill>
              </a:defRPr>
            </a:lvl1pPr>
            <a:lvl2pPr marL="237390" indent="0">
              <a:buNone/>
              <a:defRPr sz="1038">
                <a:solidFill>
                  <a:schemeClr val="tx1">
                    <a:tint val="75000"/>
                  </a:schemeClr>
                </a:solidFill>
              </a:defRPr>
            </a:lvl2pPr>
            <a:lvl3pPr marL="474779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3pPr>
            <a:lvl4pPr marL="71216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4pPr>
            <a:lvl5pPr marL="949559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5pPr>
            <a:lvl6pPr marL="118694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6pPr>
            <a:lvl7pPr marL="142433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7pPr>
            <a:lvl8pPr marL="1661728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8pPr>
            <a:lvl9pPr marL="1899117" indent="0">
              <a:buNone/>
              <a:defRPr sz="8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3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9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246" b="1"/>
            </a:lvl1pPr>
            <a:lvl2pPr marL="237390" indent="0">
              <a:buNone/>
              <a:defRPr sz="1038" b="1"/>
            </a:lvl2pPr>
            <a:lvl3pPr marL="474779" indent="0">
              <a:buNone/>
              <a:defRPr sz="935" b="1"/>
            </a:lvl3pPr>
            <a:lvl4pPr marL="712169" indent="0">
              <a:buNone/>
              <a:defRPr sz="831" b="1"/>
            </a:lvl4pPr>
            <a:lvl5pPr marL="949559" indent="0">
              <a:buNone/>
              <a:defRPr sz="831" b="1"/>
            </a:lvl5pPr>
            <a:lvl6pPr marL="1186948" indent="0">
              <a:buNone/>
              <a:defRPr sz="831" b="1"/>
            </a:lvl6pPr>
            <a:lvl7pPr marL="1424338" indent="0">
              <a:buNone/>
              <a:defRPr sz="831" b="1"/>
            </a:lvl7pPr>
            <a:lvl8pPr marL="1661728" indent="0">
              <a:buNone/>
              <a:defRPr sz="831" b="1"/>
            </a:lvl8pPr>
            <a:lvl9pPr marL="1899117" indent="0">
              <a:buNone/>
              <a:defRPr sz="8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6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246" b="1"/>
            </a:lvl1pPr>
            <a:lvl2pPr marL="237390" indent="0">
              <a:buNone/>
              <a:defRPr sz="1038" b="1"/>
            </a:lvl2pPr>
            <a:lvl3pPr marL="474779" indent="0">
              <a:buNone/>
              <a:defRPr sz="935" b="1"/>
            </a:lvl3pPr>
            <a:lvl4pPr marL="712169" indent="0">
              <a:buNone/>
              <a:defRPr sz="831" b="1"/>
            </a:lvl4pPr>
            <a:lvl5pPr marL="949559" indent="0">
              <a:buNone/>
              <a:defRPr sz="831" b="1"/>
            </a:lvl5pPr>
            <a:lvl6pPr marL="1186948" indent="0">
              <a:buNone/>
              <a:defRPr sz="831" b="1"/>
            </a:lvl6pPr>
            <a:lvl7pPr marL="1424338" indent="0">
              <a:buNone/>
              <a:defRPr sz="831" b="1"/>
            </a:lvl7pPr>
            <a:lvl8pPr marL="1661728" indent="0">
              <a:buNone/>
              <a:defRPr sz="831" b="1"/>
            </a:lvl8pPr>
            <a:lvl9pPr marL="1899117" indent="0">
              <a:buNone/>
              <a:defRPr sz="8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6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1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4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1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1662"/>
            </a:lvl1pPr>
            <a:lvl2pPr>
              <a:defRPr sz="1454"/>
            </a:lvl2pPr>
            <a:lvl3pPr>
              <a:defRPr sz="1246"/>
            </a:lvl3pPr>
            <a:lvl4pPr>
              <a:defRPr sz="1038"/>
            </a:lvl4pPr>
            <a:lvl5pPr>
              <a:defRPr sz="1038"/>
            </a:lvl5pPr>
            <a:lvl6pPr>
              <a:defRPr sz="1038"/>
            </a:lvl6pPr>
            <a:lvl7pPr>
              <a:defRPr sz="1038"/>
            </a:lvl7pPr>
            <a:lvl8pPr>
              <a:defRPr sz="1038"/>
            </a:lvl8pPr>
            <a:lvl9pPr>
              <a:defRPr sz="10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831"/>
            </a:lvl1pPr>
            <a:lvl2pPr marL="237390" indent="0">
              <a:buNone/>
              <a:defRPr sz="727"/>
            </a:lvl2pPr>
            <a:lvl3pPr marL="474779" indent="0">
              <a:buNone/>
              <a:defRPr sz="623"/>
            </a:lvl3pPr>
            <a:lvl4pPr marL="712169" indent="0">
              <a:buNone/>
              <a:defRPr sz="519"/>
            </a:lvl4pPr>
            <a:lvl5pPr marL="949559" indent="0">
              <a:buNone/>
              <a:defRPr sz="519"/>
            </a:lvl5pPr>
            <a:lvl6pPr marL="1186948" indent="0">
              <a:buNone/>
              <a:defRPr sz="519"/>
            </a:lvl6pPr>
            <a:lvl7pPr marL="1424338" indent="0">
              <a:buNone/>
              <a:defRPr sz="519"/>
            </a:lvl7pPr>
            <a:lvl8pPr marL="1661728" indent="0">
              <a:buNone/>
              <a:defRPr sz="519"/>
            </a:lvl8pPr>
            <a:lvl9pPr marL="1899117" indent="0">
              <a:buNone/>
              <a:defRPr sz="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7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1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 anchor="t"/>
          <a:lstStyle>
            <a:lvl1pPr marL="0" indent="0">
              <a:buNone/>
              <a:defRPr sz="1662"/>
            </a:lvl1pPr>
            <a:lvl2pPr marL="237390" indent="0">
              <a:buNone/>
              <a:defRPr sz="1454"/>
            </a:lvl2pPr>
            <a:lvl3pPr marL="474779" indent="0">
              <a:buNone/>
              <a:defRPr sz="1246"/>
            </a:lvl3pPr>
            <a:lvl4pPr marL="712169" indent="0">
              <a:buNone/>
              <a:defRPr sz="1038"/>
            </a:lvl4pPr>
            <a:lvl5pPr marL="949559" indent="0">
              <a:buNone/>
              <a:defRPr sz="1038"/>
            </a:lvl5pPr>
            <a:lvl6pPr marL="1186948" indent="0">
              <a:buNone/>
              <a:defRPr sz="1038"/>
            </a:lvl6pPr>
            <a:lvl7pPr marL="1424338" indent="0">
              <a:buNone/>
              <a:defRPr sz="1038"/>
            </a:lvl7pPr>
            <a:lvl8pPr marL="1661728" indent="0">
              <a:buNone/>
              <a:defRPr sz="1038"/>
            </a:lvl8pPr>
            <a:lvl9pPr marL="1899117" indent="0">
              <a:buNone/>
              <a:defRPr sz="1038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831"/>
            </a:lvl1pPr>
            <a:lvl2pPr marL="237390" indent="0">
              <a:buNone/>
              <a:defRPr sz="727"/>
            </a:lvl2pPr>
            <a:lvl3pPr marL="474779" indent="0">
              <a:buNone/>
              <a:defRPr sz="623"/>
            </a:lvl3pPr>
            <a:lvl4pPr marL="712169" indent="0">
              <a:buNone/>
              <a:defRPr sz="519"/>
            </a:lvl4pPr>
            <a:lvl5pPr marL="949559" indent="0">
              <a:buNone/>
              <a:defRPr sz="519"/>
            </a:lvl5pPr>
            <a:lvl6pPr marL="1186948" indent="0">
              <a:buNone/>
              <a:defRPr sz="519"/>
            </a:lvl6pPr>
            <a:lvl7pPr marL="1424338" indent="0">
              <a:buNone/>
              <a:defRPr sz="519"/>
            </a:lvl7pPr>
            <a:lvl8pPr marL="1661728" indent="0">
              <a:buNone/>
              <a:defRPr sz="519"/>
            </a:lvl8pPr>
            <a:lvl9pPr marL="1899117" indent="0">
              <a:buNone/>
              <a:defRPr sz="5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3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9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9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D64CC-2124-DD17-4457-283FBD4B1F02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447800"/>
            <a:ext cx="9144000" cy="1600200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9CF2BD"/>
              </a:gs>
            </a:gsLst>
            <a:lin ang="2700000" scaled="1"/>
          </a:gradFill>
          <a:ln>
            <a:noFill/>
          </a:ln>
          <a:effectLst/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72641BC3-56BD-7E5A-1586-5E40C823A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257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6C0CA723-3284-DC26-5D25-135CA5FB1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486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327D7F1B-EBB6-69DA-2EF7-715736052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257800"/>
            <a:ext cx="8382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B3EA98CD-B254-3797-5CA4-9BB8BDBF2D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4648200"/>
            <a:ext cx="1143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80035725-1933-3159-9444-9A1F541D04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" y="4648200"/>
            <a:ext cx="1524000" cy="609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E9B20ED8-A8FB-F6C4-5D9E-BCBD4E9F4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257800"/>
            <a:ext cx="3048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77845026-E300-48AD-C65F-39B49861D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562600"/>
            <a:ext cx="3048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5E5F806C-123E-F6F4-7D2D-AC6215663C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5257800"/>
            <a:ext cx="45720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7B4640F6-2026-2C1A-1915-DBD3D4A1F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257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B26E338-6476-12C1-81AF-E84CC217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715000"/>
            <a:ext cx="6096000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24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2400" b="0">
                <a:latin typeface="Arial" charset="0"/>
              </a:rPr>
              <a:t>Khoa Công nghệ Thông tin</a:t>
            </a:r>
          </a:p>
        </p:txBody>
      </p:sp>
      <p:pic>
        <p:nvPicPr>
          <p:cNvPr id="13" name="Picture 15">
            <a:extLst>
              <a:ext uri="{FF2B5EF4-FFF2-40B4-BE49-F238E27FC236}">
                <a16:creationId xmlns:a16="http://schemas.microsoft.com/office/drawing/2014/main" id="{D77AA3BA-E218-8E2D-F597-7ACA58D0D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5486400"/>
            <a:ext cx="2185987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352800"/>
            <a:ext cx="6400800" cy="1905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443038"/>
            <a:ext cx="6400800" cy="1600200"/>
          </a:xfrm>
        </p:spPr>
        <p:txBody>
          <a:bodyPr anchor="ctr"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20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773AEE6-9C6F-7BBA-8109-C45E8EAEF9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BC18E67-EDC0-F2BA-4611-742F77BD07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3F90F6-E807-46BB-8E6F-8A59D193A69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501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31BA62-25D1-A26B-D444-C34C918B5B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2F66B6-B3EB-5425-FBF8-03B1FD90FFE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A27437-DE01-40D8-A5B2-99B5903CFF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2349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026BC1-E80D-8A2F-DAAA-F9035523C7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1CA3B86-C335-1ED1-D718-E57B0897E5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9CE16-6D7B-4F17-8FE9-B0404D7D661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205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844157-235C-6014-2F6A-E4D7A358D7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60433-024E-F7E6-A21C-783CB40D3F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E006F0-23F1-4F01-97F8-A711EAF1AA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062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1C05FC-7B80-1EE9-364F-5C5E5DA6E4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E1AD55-2720-41F7-B9C3-C198C63A8E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6E0B2-6AA0-477A-BBB4-2E6FF70549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17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D21A32B-62C8-936B-E5A7-0C9AD7F9AD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4E55B74-1CAA-FEAD-25E5-85DD8B55DF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2BDB35-EDC6-4754-9438-EAE2FC58575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975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8A5AF8D-EC8D-B0C0-A859-7B3F7785C3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59B47D6-5AEF-8523-4E98-351D97D45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F97018-C2C4-4B41-97FA-1D6E405ED70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535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94886B-A5BC-AF58-35E6-6476AE0ABB8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90E02D4-D32F-89C8-C94D-F615C3B425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20065-383B-4664-BB1E-8E48DC953B2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429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367135-A346-4A61-4AE9-554D84A434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4F0AE72-1BF6-075B-2ED6-39633B88B4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300BB9-5572-4040-9940-0518CEEDEBF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53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34925"/>
            <a:ext cx="2286000" cy="6289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4925"/>
            <a:ext cx="6705600" cy="6289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256238-C8ED-3C59-9971-155E145EEA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3CDD2C1-0F22-523E-7D41-F72EAE5716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BC72BA-C3CF-4223-8AE1-A4610300415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12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5"/>
            <a:ext cx="9144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0" y="838200"/>
            <a:ext cx="4495800" cy="5486400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838200"/>
            <a:ext cx="44958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F11B9E-33E9-6564-DD9A-8C80227DF0F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E22FAA4-16DF-4624-EBAA-9227B02B1B1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876C2-C1E4-4FE7-83E3-084DAB33EA2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6199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925"/>
            <a:ext cx="9144000" cy="650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0" y="838200"/>
            <a:ext cx="9144000" cy="5486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EAADC-7E76-5F78-DF53-69601A97C1E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BE83120-AD35-A09C-60F3-FC902BAE73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876C2-C1E4-4FE7-83E3-084DAB33EA2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32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D2AB1-964C-479E-9006-98505FE94B4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DE7A-2D05-4045-8D61-4B16FB7DB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4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74779" rtl="0" eaLnBrk="1" latinLnBrk="0" hangingPunct="1">
        <a:lnSpc>
          <a:spcPct val="90000"/>
        </a:lnSpc>
        <a:spcBef>
          <a:spcPct val="0"/>
        </a:spcBef>
        <a:buNone/>
        <a:defRPr sz="22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695" indent="-118695" algn="l" defTabSz="474779" rtl="0" eaLnBrk="1" latinLnBrk="0" hangingPunct="1">
        <a:lnSpc>
          <a:spcPct val="90000"/>
        </a:lnSpc>
        <a:spcBef>
          <a:spcPts val="519"/>
        </a:spcBef>
        <a:buFont typeface="Arial" panose="020B0604020202020204" pitchFamily="34" charset="0"/>
        <a:buChar char="•"/>
        <a:defRPr sz="1454" kern="1200">
          <a:solidFill>
            <a:schemeClr val="tx1"/>
          </a:solidFill>
          <a:latin typeface="+mn-lt"/>
          <a:ea typeface="+mn-ea"/>
          <a:cs typeface="+mn-cs"/>
        </a:defRPr>
      </a:lvl1pPr>
      <a:lvl2pPr marL="356085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59347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1038" kern="1200">
          <a:solidFill>
            <a:schemeClr val="tx1"/>
          </a:solidFill>
          <a:latin typeface="+mn-lt"/>
          <a:ea typeface="+mn-ea"/>
          <a:cs typeface="+mn-cs"/>
        </a:defRPr>
      </a:lvl3pPr>
      <a:lvl4pPr marL="83086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4pPr>
      <a:lvl5pPr marL="1068254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5pPr>
      <a:lvl6pPr marL="130564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3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7pPr>
      <a:lvl8pPr marL="1780423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8pPr>
      <a:lvl9pPr marL="2017812" indent="-118695" algn="l" defTabSz="474779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1pPr>
      <a:lvl2pPr marL="237390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2pPr>
      <a:lvl3pPr marL="47477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3pPr>
      <a:lvl4pPr marL="71216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4pPr>
      <a:lvl5pPr marL="949559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5pPr>
      <a:lvl6pPr marL="118694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6pPr>
      <a:lvl7pPr marL="142433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7pPr>
      <a:lvl8pPr marL="1661728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8pPr>
      <a:lvl9pPr marL="1899117" algn="l" defTabSz="474779" rtl="0" eaLnBrk="1" latinLnBrk="0" hangingPunct="1">
        <a:defRPr sz="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7E97EF80-C4FB-6389-BD3B-FCC758D88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400800"/>
            <a:ext cx="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Line 3">
            <a:extLst>
              <a:ext uri="{FF2B5EF4-FFF2-40B4-BE49-F238E27FC236}">
                <a16:creationId xmlns:a16="http://schemas.microsoft.com/office/drawing/2014/main" id="{CEA258A7-808F-268A-25CE-78BE33F22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6629400"/>
            <a:ext cx="60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7FEFE42-A25C-FC30-BD48-3463E950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925"/>
            <a:ext cx="9144000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1D4E5A-8F10-8A65-C951-D22B3A440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286" name="Rectangle 6">
            <a:extLst>
              <a:ext uri="{FF2B5EF4-FFF2-40B4-BE49-F238E27FC236}">
                <a16:creationId xmlns:a16="http://schemas.microsoft.com/office/drawing/2014/main" id="{FE10EBC5-F115-5985-5628-A0E53037EF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400800"/>
            <a:ext cx="52578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225287" name="Rectangle 7">
            <a:extLst>
              <a:ext uri="{FF2B5EF4-FFF2-40B4-BE49-F238E27FC236}">
                <a16:creationId xmlns:a16="http://schemas.microsoft.com/office/drawing/2014/main" id="{8B0785A9-6DB9-ADE6-CED8-A42DFC0AE1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38900"/>
            <a:ext cx="438150" cy="342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fld id="{05F876C2-C1E4-4FE7-83E3-084DAB33EA2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70F92A89-F6CB-107F-FCB6-08EDA6FF4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6400800"/>
            <a:ext cx="2667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0FEAAB88-CA15-BA8E-6F69-C13C1B7A4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" name="Line 10">
            <a:extLst>
              <a:ext uri="{FF2B5EF4-FFF2-40B4-BE49-F238E27FC236}">
                <a16:creationId xmlns:a16="http://schemas.microsoft.com/office/drawing/2014/main" id="{DCB34201-F015-7C93-C4A8-521636FCFE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6248400"/>
            <a:ext cx="3048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5" name="Line 11">
            <a:extLst>
              <a:ext uri="{FF2B5EF4-FFF2-40B4-BE49-F238E27FC236}">
                <a16:creationId xmlns:a16="http://schemas.microsoft.com/office/drawing/2014/main" id="{72ADC741-D4A8-0AF5-0213-EFE86133CAC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2400" y="6248400"/>
            <a:ext cx="381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6" name="Line 12">
            <a:extLst>
              <a:ext uri="{FF2B5EF4-FFF2-40B4-BE49-F238E27FC236}">
                <a16:creationId xmlns:a16="http://schemas.microsoft.com/office/drawing/2014/main" id="{935BB0E6-F706-6802-41D9-7298F8CEF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400800"/>
            <a:ext cx="1524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9F4C4DBA-D8AD-A437-288D-8ECB74F08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553200"/>
            <a:ext cx="3276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8" name="Line 14">
            <a:extLst>
              <a:ext uri="{FF2B5EF4-FFF2-40B4-BE49-F238E27FC236}">
                <a16:creationId xmlns:a16="http://schemas.microsoft.com/office/drawing/2014/main" id="{C93FEBEB-32B5-5933-BC4C-4CEA418F75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6400800"/>
            <a:ext cx="2286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9" name="Line 15">
            <a:extLst>
              <a:ext uri="{FF2B5EF4-FFF2-40B4-BE49-F238E27FC236}">
                <a16:creationId xmlns:a16="http://schemas.microsoft.com/office/drawing/2014/main" id="{4C820666-53AD-1FF5-B66A-3DB6AF77BA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6400800"/>
            <a:ext cx="16764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0" name="Text Box 16">
            <a:extLst>
              <a:ext uri="{FF2B5EF4-FFF2-40B4-BE49-F238E27FC236}">
                <a16:creationId xmlns:a16="http://schemas.microsoft.com/office/drawing/2014/main" id="{261E2AC5-3DA0-2574-68A6-DAA42E27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6400800"/>
            <a:ext cx="259715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itchFamily="34" charset="0"/>
                <a:cs typeface="Times New Roman" pitchFamily="18" charset="0"/>
              </a:defRPr>
            </a:lvl9pPr>
          </a:lstStyle>
          <a:p>
            <a:pPr>
              <a:defRPr/>
            </a:pPr>
            <a:r>
              <a:rPr lang="en-US" sz="1200" b="0">
                <a:latin typeface="Arial" charset="0"/>
              </a:rPr>
              <a:t>Trường Đại học Công nghệ Sài gòn</a:t>
            </a:r>
          </a:p>
          <a:p>
            <a:pPr>
              <a:defRPr/>
            </a:pPr>
            <a:r>
              <a:rPr lang="en-US" sz="1200" b="0">
                <a:latin typeface="Arial" charset="0"/>
              </a:rPr>
              <a:t>Khoa Công nghệ Thông tin</a:t>
            </a:r>
          </a:p>
        </p:txBody>
      </p:sp>
      <p:pic>
        <p:nvPicPr>
          <p:cNvPr id="1041" name="Picture 17">
            <a:extLst>
              <a:ext uri="{FF2B5EF4-FFF2-40B4-BE49-F238E27FC236}">
                <a16:creationId xmlns:a16="http://schemas.microsoft.com/office/drawing/2014/main" id="{9D51E846-9513-4B86-616B-B85E4B33D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467475"/>
            <a:ext cx="58578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800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2pPr>
      <a:lvl3pPr marL="9715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1445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</a:defRPr>
      </a:lvl4pPr>
      <a:lvl5pPr marL="16002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roseindia.net/jpa/eclipsejpaexamples/setParameter-named-parameter.shtml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roseindia.net/jpa/eclipsejpaexamples/locate.shtml" TargetMode="External"/><Relationship Id="rId3" Type="http://schemas.openxmlformats.org/officeDocument/2006/relationships/hyperlink" Target="http://roseindia.net/jpa/eclipsejpaexamples/sub-string.shtml" TargetMode="External"/><Relationship Id="rId7" Type="http://schemas.openxmlformats.org/officeDocument/2006/relationships/hyperlink" Target="http://roseindia.net/jpa/eclipsejpaexamples/length.shtml" TargetMode="External"/><Relationship Id="rId2" Type="http://schemas.openxmlformats.org/officeDocument/2006/relationships/hyperlink" Target="http://roseindia.net/jpa/eclipsejpaexamples/concat.s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roseindia.net/jpa/eclipsejpaexamples/upper.shtml" TargetMode="External"/><Relationship Id="rId11" Type="http://schemas.openxmlformats.org/officeDocument/2006/relationships/hyperlink" Target="http://roseindia.net/jpa/eclipsejpaexamples/mod.shtml" TargetMode="External"/><Relationship Id="rId5" Type="http://schemas.openxmlformats.org/officeDocument/2006/relationships/hyperlink" Target="http://roseindia.net/jpa/eclipsejpaexamples/lower.shtml" TargetMode="External"/><Relationship Id="rId10" Type="http://schemas.openxmlformats.org/officeDocument/2006/relationships/hyperlink" Target="http://roseindia.net/jpa/eclipsejpaexamples/sqrt.shtml" TargetMode="External"/><Relationship Id="rId4" Type="http://schemas.openxmlformats.org/officeDocument/2006/relationships/hyperlink" Target="http://roseindia.net/jpa/eclipsejpaexamples/trim.shtml" TargetMode="External"/><Relationship Id="rId9" Type="http://schemas.openxmlformats.org/officeDocument/2006/relationships/hyperlink" Target="http://roseindia.net/jpa/eclipsejpaexamples/abs.s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2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B2CE9085-AB12-F53F-9A00-282F1DC78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76400" y="3395003"/>
            <a:ext cx="6400800" cy="1752600"/>
          </a:xfrm>
        </p:spPr>
        <p:txBody>
          <a:bodyPr/>
          <a:lstStyle/>
          <a:p>
            <a:r>
              <a:rPr lang="en-US" altLang="en-US" sz="2000" b="1" u="sng"/>
              <a:t>J</a:t>
            </a:r>
            <a:r>
              <a:rPr lang="en-US" altLang="en-US" sz="2000"/>
              <a:t>ava </a:t>
            </a:r>
            <a:r>
              <a:rPr lang="en-US" altLang="en-US" sz="2000" b="1" u="sng"/>
              <a:t>P</a:t>
            </a:r>
            <a:r>
              <a:rPr lang="en-US" altLang="en-US" sz="2000"/>
              <a:t>ersistence </a:t>
            </a:r>
            <a:r>
              <a:rPr lang="en-US" altLang="en-US" sz="2000" b="1" u="sng"/>
              <a:t>Q</a:t>
            </a:r>
            <a:r>
              <a:rPr lang="en-US" altLang="en-US" sz="2000"/>
              <a:t>uery </a:t>
            </a:r>
            <a:r>
              <a:rPr lang="en-US" altLang="en-US" sz="2000" b="1" u="sng"/>
              <a:t>L</a:t>
            </a:r>
            <a:r>
              <a:rPr lang="en-US" altLang="en-US" sz="2000"/>
              <a:t>anguage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9DBBC9BA-49BF-C5BA-1D67-6509187593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JPA – JPQL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D3D7E1D-9BF3-89F8-F06C-A7D615BF0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JPA setFirstResult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FD1E72D-6FE3-298C-F3E2-BA09EA8631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Truy vấn 3 Student</a:t>
            </a:r>
          </a:p>
          <a:p>
            <a:pPr lvl="1"/>
            <a:r>
              <a:rPr lang="en-US" altLang="en-US"/>
              <a:t>Query query=em.createQuery("SELECT st FROM Student st");</a:t>
            </a:r>
          </a:p>
          <a:p>
            <a:pPr lvl="1"/>
            <a:r>
              <a:rPr lang="en-US" altLang="en-US"/>
              <a:t>query.setFirstResult(2);//start 0</a:t>
            </a:r>
          </a:p>
          <a:p>
            <a:pPr lvl="1"/>
            <a:r>
              <a:rPr lang="en-US" altLang="en-US"/>
              <a:t>List stuList=query.getResultList();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460E15-0EE9-E1F7-10AC-34597ACAA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setMaxResult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F1F4E53-1707-A653-D32C-36F8140E0C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Số record max trả về</a:t>
            </a:r>
          </a:p>
          <a:p>
            <a:pPr lvl="1"/>
            <a:r>
              <a:rPr lang="en-US" altLang="en-US"/>
              <a:t>Query query=em.createQuery("SELECT st FROM Student st WHERE st.sroll &gt; ?1");</a:t>
            </a:r>
          </a:p>
          <a:p>
            <a:pPr lvl="1"/>
            <a:r>
              <a:rPr lang="en-US" altLang="en-US"/>
              <a:t>query.setParameter(1, 100);</a:t>
            </a:r>
          </a:p>
          <a:p>
            <a:pPr lvl="1"/>
            <a:r>
              <a:rPr lang="en-US" altLang="en-US" b="1"/>
              <a:t>query.setMaxResults(3);</a:t>
            </a:r>
            <a:endParaRPr lang="en-US" altLang="en-US"/>
          </a:p>
          <a:p>
            <a:pPr lvl="1"/>
            <a:r>
              <a:rPr lang="en-US" altLang="en-US"/>
              <a:t>List stuList=query.getResultList();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921F295-9D58-992A-1C4E-D966D5A7C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hlinkClick r:id="rId2"/>
              </a:rPr>
              <a:t>JPA </a:t>
            </a:r>
            <a:r>
              <a:rPr lang="en-US" altLang="en-US" sz="4000" b="1" dirty="0" err="1">
                <a:hlinkClick r:id="rId2"/>
              </a:rPr>
              <a:t>setParameter</a:t>
            </a:r>
            <a:r>
              <a:rPr lang="en-US" altLang="en-US" sz="4000" b="1" dirty="0">
                <a:hlinkClick r:id="rId2"/>
              </a:rPr>
              <a:t> ()</a:t>
            </a:r>
            <a:endParaRPr lang="en-US" altLang="en-US" sz="40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49F7DD8-305F-54DE-F8D2-08FDE4EF68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82296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Có 2 </a:t>
            </a:r>
            <a:r>
              <a:rPr lang="en-US" altLang="en-US" sz="2800" dirty="0" err="1"/>
              <a:t>dạng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tham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sô</a:t>
            </a:r>
            <a:r>
              <a:rPr lang="en-US" altLang="en-US" sz="2800" dirty="0"/>
              <a:t>́ </a:t>
            </a:r>
            <a:r>
              <a:rPr lang="en-US" altLang="en-US" sz="2800" dirty="0" err="1"/>
              <a:t>truyền</a:t>
            </a:r>
            <a:endParaRPr lang="en-US" altLang="en-US" sz="2800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Named </a:t>
            </a:r>
            <a:r>
              <a:rPr lang="en-US" altLang="en-US" sz="2400" dirty="0" err="1"/>
              <a:t>Parameters:</a:t>
            </a:r>
            <a:r>
              <a:rPr lang="en-US" altLang="en-US" sz="2400" b="1" dirty="0" err="1"/>
              <a:t>setParameter</a:t>
            </a:r>
            <a:r>
              <a:rPr lang="en-US" altLang="en-US" sz="2400" b="1" dirty="0"/>
              <a:t>(String </a:t>
            </a:r>
            <a:r>
              <a:rPr lang="en-US" altLang="en-US" sz="2400" b="1" dirty="0" err="1"/>
              <a:t>namedParamter</a:t>
            </a:r>
            <a:r>
              <a:rPr lang="en-US" altLang="en-US" sz="2400" b="1" dirty="0"/>
              <a:t>, Object </a:t>
            </a:r>
            <a:r>
              <a:rPr lang="en-US" altLang="en-US" sz="2400" b="1" dirty="0" err="1"/>
              <a:t>val</a:t>
            </a:r>
            <a:r>
              <a:rPr lang="en-US" altLang="en-US" sz="2400" b="1" dirty="0"/>
              <a:t>)</a:t>
            </a:r>
            <a:r>
              <a:rPr lang="en-US" altLang="en-US" sz="2400" dirty="0"/>
              <a:t> </a:t>
            </a:r>
          </a:p>
          <a:p>
            <a:pPr lvl="3">
              <a:lnSpc>
                <a:spcPct val="80000"/>
              </a:lnSpc>
            </a:pPr>
            <a:r>
              <a:rPr lang="en-US" altLang="en-US" sz="1800" b="1" dirty="0"/>
              <a:t>Query query=</a:t>
            </a:r>
            <a:r>
              <a:rPr lang="en-US" altLang="en-US" sz="1800" b="1" dirty="0" err="1"/>
              <a:t>em.createQuery</a:t>
            </a:r>
            <a:r>
              <a:rPr lang="en-US" altLang="en-US" sz="1800" b="1" dirty="0"/>
              <a:t>("SELECT </a:t>
            </a:r>
            <a:r>
              <a:rPr lang="en-US" altLang="en-US" sz="1800" b="1" dirty="0" err="1"/>
              <a:t>st</a:t>
            </a:r>
            <a:r>
              <a:rPr lang="en-US" altLang="en-US" sz="1800" b="1" dirty="0"/>
              <a:t> FROM Student </a:t>
            </a:r>
            <a:r>
              <a:rPr lang="en-US" altLang="en-US" sz="1800" b="1" dirty="0" err="1"/>
              <a:t>st</a:t>
            </a:r>
            <a:r>
              <a:rPr lang="en-US" altLang="en-US" sz="1800" b="1" dirty="0"/>
              <a:t> WHERE </a:t>
            </a:r>
            <a:r>
              <a:rPr lang="en-US" altLang="en-US" sz="1800" b="1" dirty="0" err="1"/>
              <a:t>st.sroll</a:t>
            </a:r>
            <a:r>
              <a:rPr lang="en-US" altLang="en-US" sz="1800" b="1" dirty="0"/>
              <a:t> &gt; :</a:t>
            </a:r>
            <a:r>
              <a:rPr lang="en-US" altLang="en-US" sz="1800" b="1" dirty="0">
                <a:solidFill>
                  <a:srgbClr val="FF0000"/>
                </a:solidFill>
              </a:rPr>
              <a:t>roll</a:t>
            </a:r>
            <a:r>
              <a:rPr lang="en-US" altLang="en-US" sz="1800" b="1" dirty="0"/>
              <a:t>");</a:t>
            </a:r>
          </a:p>
          <a:p>
            <a:pPr lvl="3">
              <a:lnSpc>
                <a:spcPct val="80000"/>
              </a:lnSpc>
            </a:pPr>
            <a:r>
              <a:rPr lang="en-US" altLang="en-US" sz="1800" b="1" dirty="0" err="1"/>
              <a:t>query.setParameter</a:t>
            </a:r>
            <a:r>
              <a:rPr lang="en-US" altLang="en-US" sz="1800" b="1" dirty="0"/>
              <a:t>("</a:t>
            </a:r>
            <a:r>
              <a:rPr lang="en-US" altLang="en-US" sz="1800" b="1" dirty="0">
                <a:solidFill>
                  <a:srgbClr val="FF0000"/>
                </a:solidFill>
              </a:rPr>
              <a:t>roll</a:t>
            </a:r>
            <a:r>
              <a:rPr lang="en-US" altLang="en-US" sz="1800" b="1" dirty="0"/>
              <a:t>", 100);</a:t>
            </a:r>
          </a:p>
          <a:p>
            <a:pPr lvl="3">
              <a:lnSpc>
                <a:spcPct val="80000"/>
              </a:lnSpc>
            </a:pPr>
            <a:r>
              <a:rPr lang="en-US" altLang="en-US" sz="1800" b="1" dirty="0"/>
              <a:t>List results = </a:t>
            </a:r>
            <a:r>
              <a:rPr lang="en-US" altLang="en-US" sz="1800" b="1" dirty="0" err="1"/>
              <a:t>query.getResultList</a:t>
            </a:r>
            <a:r>
              <a:rPr lang="en-US" altLang="en-US" sz="1800" b="1" dirty="0"/>
              <a:t>();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Numbered </a:t>
            </a:r>
            <a:r>
              <a:rPr lang="en-US" altLang="en-US" sz="2400" dirty="0" err="1"/>
              <a:t>Parameters:</a:t>
            </a:r>
            <a:r>
              <a:rPr lang="en-US" altLang="en-US" sz="2400" b="1" dirty="0" err="1"/>
              <a:t>setParameter</a:t>
            </a:r>
            <a:r>
              <a:rPr lang="en-US" altLang="en-US" sz="2400" b="1" dirty="0"/>
              <a:t>(int </a:t>
            </a:r>
            <a:r>
              <a:rPr lang="en-US" altLang="en-US" sz="2400" b="1" dirty="0" err="1"/>
              <a:t>numberedParamter</a:t>
            </a:r>
            <a:r>
              <a:rPr lang="en-US" altLang="en-US" sz="2400" b="1" dirty="0"/>
              <a:t>, Object </a:t>
            </a:r>
            <a:r>
              <a:rPr lang="en-US" altLang="en-US" sz="2400" b="1" dirty="0" err="1"/>
              <a:t>val</a:t>
            </a:r>
            <a:r>
              <a:rPr lang="en-US" altLang="en-US" sz="2400" b="1" dirty="0"/>
              <a:t>)</a:t>
            </a:r>
            <a:r>
              <a:rPr lang="en-US" altLang="en-US" sz="2400" dirty="0"/>
              <a:t> 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/>
              <a:t>Query query=</a:t>
            </a:r>
            <a:r>
              <a:rPr lang="en-US" altLang="en-US" sz="2000" dirty="0" err="1"/>
              <a:t>em.createQuery</a:t>
            </a:r>
            <a:r>
              <a:rPr lang="en-US" altLang="en-US" sz="2000" dirty="0"/>
              <a:t>("SELECT </a:t>
            </a:r>
            <a:r>
              <a:rPr lang="en-US" altLang="en-US" sz="2000" dirty="0" err="1"/>
              <a:t>st</a:t>
            </a:r>
            <a:r>
              <a:rPr lang="en-US" altLang="en-US" sz="2000" dirty="0"/>
              <a:t> FROM Student </a:t>
            </a:r>
            <a:r>
              <a:rPr lang="en-US" altLang="en-US" sz="2000" dirty="0" err="1"/>
              <a:t>st</a:t>
            </a:r>
            <a:r>
              <a:rPr lang="en-US" altLang="en-US" sz="2000" dirty="0"/>
              <a:t> WHERE </a:t>
            </a:r>
            <a:r>
              <a:rPr lang="en-US" altLang="en-US" sz="2000" dirty="0" err="1"/>
              <a:t>st.sroll</a:t>
            </a:r>
            <a:r>
              <a:rPr lang="en-US" altLang="en-US" sz="2000" dirty="0"/>
              <a:t> &gt; ?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");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 err="1"/>
              <a:t>query.setParameter</a:t>
            </a:r>
            <a:r>
              <a:rPr lang="en-US" altLang="en-US" sz="2000" dirty="0"/>
              <a:t>(</a:t>
            </a:r>
            <a:r>
              <a:rPr lang="en-US" altLang="en-US" sz="2000" dirty="0">
                <a:solidFill>
                  <a:srgbClr val="FF0000"/>
                </a:solidFill>
              </a:rPr>
              <a:t>1</a:t>
            </a:r>
            <a:r>
              <a:rPr lang="en-US" altLang="en-US" sz="2000" dirty="0"/>
              <a:t>, 100);</a:t>
            </a:r>
          </a:p>
          <a:p>
            <a:pPr lvl="2">
              <a:lnSpc>
                <a:spcPct val="80000"/>
              </a:lnSpc>
            </a:pPr>
            <a:r>
              <a:rPr lang="en-US" altLang="en-US" sz="2000" dirty="0"/>
              <a:t>List </a:t>
            </a:r>
            <a:r>
              <a:rPr lang="en-US" altLang="en-US" sz="2000" dirty="0" err="1"/>
              <a:t>stuList</a:t>
            </a:r>
            <a:r>
              <a:rPr lang="en-US" altLang="en-US" sz="2000" dirty="0"/>
              <a:t>=</a:t>
            </a:r>
            <a:r>
              <a:rPr lang="en-US" altLang="en-US" sz="2000" dirty="0" err="1"/>
              <a:t>query.getResultList</a:t>
            </a:r>
            <a:r>
              <a:rPr lang="en-US" altLang="en-US" sz="2000" dirty="0"/>
              <a:t>();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80000"/>
              </a:lnSpc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020AE23-A6A1-3C09-B0F5-E8F8D2881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48BBAA2-3485-586D-7712-4D71C0A7B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getResultList: trả về danh sách kết quả từ câu lệnh truy vấn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Query query = em.createQuery("SELECT st FROM Student st WHERE st.sroll &gt; ?1");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query.setParameter(1, 101);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List results = query.getResultList();</a:t>
            </a:r>
            <a:br>
              <a:rPr lang="en-US" altLang="en-US" sz="2000"/>
            </a:b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 b="1"/>
              <a:t>getSingleResult(): Trả về một record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000"/>
              <a:t>Query query = em.createQuery("SELECT st FROM Student st WHERE st.sroll = :roll");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query.setParameter("roll", 101);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/>
              <a:t>Student st = (Student) query.getSingleResult();</a:t>
            </a:r>
            <a:br>
              <a:rPr lang="en-US" altLang="en-US" sz="2000"/>
            </a:b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781717-B86B-ABFA-1101-CCA862A50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executeUpdate()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335D680-6F43-07A8-4FC1-0974556036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 err="1"/>
              <a:t>Sư</a:t>
            </a:r>
            <a:r>
              <a:rPr lang="en-US" altLang="en-US" b="1" dirty="0"/>
              <a:t>̉ </a:t>
            </a:r>
            <a:r>
              <a:rPr lang="en-US" altLang="en-US" b="1" dirty="0" err="1"/>
              <a:t>dụng</a:t>
            </a:r>
            <a:r>
              <a:rPr lang="en-US" altLang="en-US" b="1" dirty="0"/>
              <a:t> </a:t>
            </a:r>
            <a:r>
              <a:rPr lang="en-US" altLang="en-US" b="1" dirty="0" err="1"/>
              <a:t>cho</a:t>
            </a:r>
            <a:r>
              <a:rPr lang="en-US" altLang="en-US" b="1" dirty="0"/>
              <a:t> </a:t>
            </a:r>
            <a:r>
              <a:rPr lang="en-US" altLang="en-US" b="1" dirty="0" err="1"/>
              <a:t>câu</a:t>
            </a:r>
            <a:r>
              <a:rPr lang="en-US" altLang="en-US" b="1" dirty="0"/>
              <a:t> </a:t>
            </a:r>
            <a:r>
              <a:rPr lang="en-US" altLang="en-US" b="1" dirty="0" err="1"/>
              <a:t>lệnh</a:t>
            </a:r>
            <a:r>
              <a:rPr lang="en-US" altLang="en-US" b="1" dirty="0"/>
              <a:t> update/delete</a:t>
            </a:r>
          </a:p>
          <a:p>
            <a:pPr lvl="1"/>
            <a:r>
              <a:rPr lang="en-US" altLang="en-US" dirty="0"/>
              <a:t>Query </a:t>
            </a:r>
            <a:r>
              <a:rPr lang="en-US" altLang="en-US" dirty="0" err="1"/>
              <a:t>query</a:t>
            </a:r>
            <a:r>
              <a:rPr lang="en-US" altLang="en-US" dirty="0"/>
              <a:t> = </a:t>
            </a:r>
            <a:r>
              <a:rPr lang="en-US" altLang="en-US" dirty="0" err="1"/>
              <a:t>em.createQuery</a:t>
            </a:r>
            <a:r>
              <a:rPr lang="en-US" altLang="en-US" dirty="0"/>
              <a:t>("DELETE FROM Student </a:t>
            </a:r>
            <a:r>
              <a:rPr lang="en-US" altLang="en-US" dirty="0" err="1"/>
              <a:t>st</a:t>
            </a:r>
            <a:r>
              <a:rPr lang="en-US" altLang="en-US" dirty="0"/>
              <a:t> WHERE </a:t>
            </a:r>
            <a:r>
              <a:rPr lang="en-US" altLang="en-US" dirty="0" err="1"/>
              <a:t>st.sroll</a:t>
            </a:r>
            <a:r>
              <a:rPr lang="en-US" altLang="en-US" dirty="0"/>
              <a:t>= ?1");</a:t>
            </a:r>
          </a:p>
          <a:p>
            <a:pPr lvl="1"/>
            <a:r>
              <a:rPr lang="en-US" altLang="en-US" dirty="0" err="1"/>
              <a:t>query.setParameter</a:t>
            </a:r>
            <a:r>
              <a:rPr lang="en-US" altLang="en-US" dirty="0"/>
              <a:t>(1, 104);</a:t>
            </a:r>
          </a:p>
          <a:p>
            <a:pPr lvl="1"/>
            <a:r>
              <a:rPr lang="en-US" altLang="en-US" b="1" dirty="0"/>
              <a:t>int </a:t>
            </a:r>
            <a:r>
              <a:rPr lang="en-US" altLang="en-US" b="1" dirty="0" err="1"/>
              <a:t>n_record</a:t>
            </a:r>
            <a:r>
              <a:rPr lang="en-US" altLang="en-US" b="1" dirty="0"/>
              <a:t> = </a:t>
            </a:r>
            <a:r>
              <a:rPr lang="en-US" altLang="en-US" b="1" dirty="0" err="1"/>
              <a:t>query.executeUpdate</a:t>
            </a:r>
            <a:r>
              <a:rPr lang="en-US" altLang="en-US" b="1" dirty="0"/>
              <a:t>();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1B5A432-D550-0399-1B00-11F6B8238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JPA Native Queries</a:t>
            </a:r>
            <a:r>
              <a:rPr lang="en-US" altLang="en-US"/>
              <a:t>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A319A9E-2ECE-396D-3C72-C6622A23F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838200"/>
            <a:ext cx="8915400" cy="5486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b="1" dirty="0"/>
              <a:t>Native Queries</a:t>
            </a:r>
            <a:r>
              <a:rPr lang="en-US" altLang="en-US" sz="2400" dirty="0"/>
              <a:t> :</a:t>
            </a:r>
            <a:r>
              <a:rPr lang="en-US" altLang="en-US" sz="2400" dirty="0" err="1"/>
              <a:t>Sư</a:t>
            </a:r>
            <a:r>
              <a:rPr lang="en-US" altLang="en-US" sz="2400" dirty="0"/>
              <a:t>̉ </a:t>
            </a:r>
            <a:r>
              <a:rPr lang="en-US" altLang="en-US" sz="2400" dirty="0" err="1"/>
              <a:t>dụng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câu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lệnh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truy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vấn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thường</a:t>
            </a:r>
            <a:endParaRPr lang="en-US" altLang="en-US" sz="2400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Query query=</a:t>
            </a:r>
            <a:r>
              <a:rPr lang="en-US" altLang="en-US" sz="2400" dirty="0" err="1"/>
              <a:t>em.createNativeQuery</a:t>
            </a:r>
            <a:r>
              <a:rPr lang="en-US" altLang="en-US" sz="2400" dirty="0"/>
              <a:t>("SELECT </a:t>
            </a:r>
            <a:r>
              <a:rPr lang="en-US" altLang="en-US" sz="2400" dirty="0" err="1"/>
              <a:t>sname</a:t>
            </a:r>
            <a:r>
              <a:rPr lang="en-US" altLang="en-US" sz="2400" dirty="0"/>
              <a:t> FROM Student");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List </a:t>
            </a:r>
            <a:r>
              <a:rPr lang="en-US" altLang="en-US" sz="2400" dirty="0" err="1"/>
              <a:t>stList</a:t>
            </a:r>
            <a:r>
              <a:rPr lang="en-US" altLang="en-US" sz="2400" dirty="0"/>
              <a:t>=</a:t>
            </a:r>
            <a:r>
              <a:rPr lang="en-US" altLang="en-US" sz="2400" dirty="0" err="1"/>
              <a:t>query.getResultList</a:t>
            </a:r>
            <a:r>
              <a:rPr lang="en-US" altLang="en-US" sz="2400" dirty="0"/>
              <a:t>();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Name Queries: </a:t>
            </a:r>
            <a:r>
              <a:rPr lang="en-US" altLang="en-US" sz="2400" dirty="0" err="1"/>
              <a:t>Đặt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tên</a:t>
            </a:r>
            <a:r>
              <a:rPr lang="en-US" altLang="en-US" sz="2400" dirty="0"/>
              <a:t> queries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@NamedQuery(name="</a:t>
            </a:r>
            <a:r>
              <a:rPr lang="en-US" altLang="en-US" sz="2400" dirty="0">
                <a:solidFill>
                  <a:srgbClr val="FF0000"/>
                </a:solidFill>
              </a:rPr>
              <a:t>studentRecords</a:t>
            </a:r>
            <a:r>
              <a:rPr lang="en-US" altLang="en-US" sz="2400" dirty="0"/>
              <a:t>“ , 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query="SELECT </a:t>
            </a:r>
            <a:r>
              <a:rPr lang="en-US" altLang="en-US" sz="2400" dirty="0" err="1"/>
              <a:t>st</a:t>
            </a:r>
            <a:r>
              <a:rPr lang="en-US" altLang="en-US" sz="2400" dirty="0"/>
              <a:t> FROM Student </a:t>
            </a:r>
            <a:r>
              <a:rPr lang="en-US" altLang="en-US" sz="2400" dirty="0" err="1"/>
              <a:t>st</a:t>
            </a:r>
            <a:r>
              <a:rPr lang="en-US" altLang="en-US" sz="2400" dirty="0"/>
              <a:t> WHERE </a:t>
            </a:r>
            <a:r>
              <a:rPr lang="en-US" altLang="en-US" sz="2400" dirty="0" err="1"/>
              <a:t>st.sname</a:t>
            </a:r>
            <a:r>
              <a:rPr lang="en-US" altLang="en-US" sz="2400" dirty="0"/>
              <a:t>= ?1 OR </a:t>
            </a:r>
            <a:r>
              <a:rPr lang="en-US" altLang="en-US" sz="2400" dirty="0" err="1"/>
              <a:t>st.scourse</a:t>
            </a:r>
            <a:r>
              <a:rPr lang="en-US" altLang="en-US" sz="2400" dirty="0"/>
              <a:t>= ?2")</a:t>
            </a:r>
            <a:br>
              <a:rPr lang="en-US" altLang="en-US" sz="2400" dirty="0"/>
            </a:br>
            <a:endParaRPr lang="en-US" altLang="en-US" sz="2400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Query query=</a:t>
            </a:r>
            <a:r>
              <a:rPr lang="en-US" altLang="en-US" sz="2400" dirty="0" err="1"/>
              <a:t>em.createNamedQuery</a:t>
            </a:r>
            <a:r>
              <a:rPr lang="en-US" altLang="en-US" sz="2400" dirty="0"/>
              <a:t>("</a:t>
            </a:r>
            <a:r>
              <a:rPr lang="en-US" altLang="en-US" sz="2400" dirty="0" err="1">
                <a:solidFill>
                  <a:srgbClr val="FF0000"/>
                </a:solidFill>
              </a:rPr>
              <a:t>studentRecords</a:t>
            </a:r>
            <a:r>
              <a:rPr lang="en-US" altLang="en-US" sz="2400" dirty="0"/>
              <a:t>");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err="1"/>
              <a:t>query.setParameter</a:t>
            </a:r>
            <a:r>
              <a:rPr lang="en-US" altLang="en-US" sz="2400" dirty="0"/>
              <a:t>(1, "</a:t>
            </a:r>
            <a:r>
              <a:rPr lang="en-US" altLang="en-US" sz="2400" dirty="0" err="1"/>
              <a:t>vinod</a:t>
            </a:r>
            <a:r>
              <a:rPr lang="en-US" altLang="en-US" sz="2400" dirty="0"/>
              <a:t>");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 err="1"/>
              <a:t>query.setParameter</a:t>
            </a:r>
            <a:r>
              <a:rPr lang="en-US" altLang="en-US" sz="2400" dirty="0"/>
              <a:t>(2, "PHD");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List </a:t>
            </a:r>
            <a:r>
              <a:rPr lang="en-US" altLang="en-US" sz="2400" dirty="0" err="1"/>
              <a:t>stList</a:t>
            </a:r>
            <a:r>
              <a:rPr lang="en-US" altLang="en-US" sz="2400" dirty="0"/>
              <a:t>=</a:t>
            </a:r>
            <a:r>
              <a:rPr lang="en-US" altLang="en-US" sz="2400" dirty="0" err="1"/>
              <a:t>query.getResultList</a:t>
            </a:r>
            <a:r>
              <a:rPr lang="en-US" altLang="en-US" sz="2400" dirty="0"/>
              <a:t>();</a:t>
            </a:r>
            <a:br>
              <a:rPr lang="en-US" altLang="en-US" sz="2400" dirty="0"/>
            </a:br>
            <a:endParaRPr lang="en-US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8A86137-01A9-B919-E922-412D5CCAF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Khai báo NamedQueries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A422F36-BF81-3CD4-D0E8-25436D0D3D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@NamedQueries(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{@NamedQuery(name="</a:t>
            </a:r>
            <a:r>
              <a:rPr lang="en-US" altLang="en-US" sz="2800" dirty="0">
                <a:solidFill>
                  <a:srgbClr val="FF0000"/>
                </a:solidFill>
              </a:rPr>
              <a:t>allStudentRecords</a:t>
            </a:r>
            <a:r>
              <a:rPr lang="en-US" altLang="en-US" sz="2800" dirty="0"/>
              <a:t>",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		query="SELECT </a:t>
            </a:r>
            <a:r>
              <a:rPr lang="en-US" altLang="en-US" sz="2800" dirty="0" err="1"/>
              <a:t>st</a:t>
            </a:r>
            <a:r>
              <a:rPr lang="en-US" altLang="en-US" sz="2800" dirty="0"/>
              <a:t> FROM Student </a:t>
            </a:r>
            <a:r>
              <a:rPr lang="en-US" altLang="en-US" sz="2800" dirty="0" err="1"/>
              <a:t>st</a:t>
            </a:r>
            <a:r>
              <a:rPr lang="en-US" altLang="en-US" sz="2800" dirty="0"/>
              <a:t> WHERE </a:t>
            </a:r>
            <a:r>
              <a:rPr lang="en-US" altLang="en-US" sz="2800" dirty="0" err="1"/>
              <a:t>st.sroll</a:t>
            </a:r>
            <a:r>
              <a:rPr lang="en-US" altLang="en-US" sz="2800" dirty="0"/>
              <a:t> &gt; ?1"),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@NamedQuery(name="</a:t>
            </a:r>
            <a:r>
              <a:rPr lang="en-US" altLang="en-US" sz="2800" dirty="0">
                <a:solidFill>
                  <a:srgbClr val="FF0000"/>
                </a:solidFill>
              </a:rPr>
              <a:t>updateStudentRecords</a:t>
            </a:r>
            <a:r>
              <a:rPr lang="en-US" altLang="en-US" sz="2800" dirty="0"/>
              <a:t>", 	query="UPDATE Student </a:t>
            </a:r>
            <a:r>
              <a:rPr lang="en-US" altLang="en-US" sz="2800" dirty="0" err="1"/>
              <a:t>st</a:t>
            </a:r>
            <a:r>
              <a:rPr lang="en-US" altLang="en-US" sz="2800" dirty="0"/>
              <a:t> SET </a:t>
            </a:r>
            <a:r>
              <a:rPr lang="en-US" altLang="en-US" sz="2800" dirty="0" err="1"/>
              <a:t>st.sname</a:t>
            </a:r>
            <a:r>
              <a:rPr lang="en-US" altLang="en-US" sz="2800" dirty="0"/>
              <a:t>= ?1 WHERE </a:t>
            </a:r>
            <a:r>
              <a:rPr lang="en-US" altLang="en-US" sz="2800" dirty="0" err="1"/>
              <a:t>st.sname</a:t>
            </a:r>
            <a:r>
              <a:rPr lang="en-US" altLang="en-US" sz="2800" dirty="0"/>
              <a:t>= ?2")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dirty="0"/>
              <a:t>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C97D943-5629-2831-442C-D90D1EFEE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Order, </a:t>
            </a:r>
            <a:r>
              <a:rPr lang="en-US" altLang="en-US" b="1" dirty="0"/>
              <a:t>GROUP BY</a:t>
            </a:r>
            <a:r>
              <a:rPr lang="en-US" altLang="en-US" dirty="0"/>
              <a:t>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9F8E5D2-BFC7-83FE-C5F1-B1D201DB5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85800"/>
            <a:ext cx="8839200" cy="5181600"/>
          </a:xfrm>
        </p:spPr>
        <p:txBody>
          <a:bodyPr/>
          <a:lstStyle/>
          <a:p>
            <a:r>
              <a:rPr lang="en-US" altLang="en-US" sz="2600" dirty="0"/>
              <a:t>Query query=</a:t>
            </a:r>
            <a:r>
              <a:rPr lang="en-US" altLang="en-US" sz="2600" dirty="0" err="1"/>
              <a:t>em.createQuery</a:t>
            </a:r>
            <a:r>
              <a:rPr lang="en-US" altLang="en-US" sz="2600" dirty="0"/>
              <a:t>("SELECT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FROM Student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FF0000"/>
                </a:solidFill>
              </a:rPr>
              <a:t>order</a:t>
            </a:r>
            <a:r>
              <a:rPr lang="en-US" altLang="en-US" sz="2600" dirty="0"/>
              <a:t> by </a:t>
            </a:r>
            <a:r>
              <a:rPr lang="en-US" altLang="en-US" sz="2600" dirty="0" err="1"/>
              <a:t>st.sname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FF0000"/>
                </a:solidFill>
              </a:rPr>
              <a:t>desc</a:t>
            </a:r>
            <a:r>
              <a:rPr lang="en-US" altLang="en-US" sz="2600" dirty="0"/>
              <a:t>"); </a:t>
            </a:r>
          </a:p>
          <a:p>
            <a:r>
              <a:rPr lang="en-US" altLang="en-US" sz="2600" dirty="0"/>
              <a:t>Query query=</a:t>
            </a:r>
            <a:r>
              <a:rPr lang="en-US" altLang="en-US" sz="2600" dirty="0" err="1"/>
              <a:t>em.createQuery</a:t>
            </a:r>
            <a:r>
              <a:rPr lang="en-US" altLang="en-US" sz="2600" dirty="0"/>
              <a:t>("SELECT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FROM Student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</a:t>
            </a:r>
            <a:r>
              <a:rPr lang="en-US" altLang="en-US" sz="2600" dirty="0">
                <a:solidFill>
                  <a:srgbClr val="FF0000"/>
                </a:solidFill>
              </a:rPr>
              <a:t>group by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st.sname</a:t>
            </a:r>
            <a:r>
              <a:rPr lang="en-US" altLang="en-US" sz="2600" dirty="0"/>
              <a:t>"); </a:t>
            </a:r>
          </a:p>
          <a:p>
            <a:r>
              <a:rPr lang="en-US" altLang="en-US" sz="2600" dirty="0"/>
              <a:t>Sub Query</a:t>
            </a:r>
          </a:p>
          <a:p>
            <a:pPr lvl="1"/>
            <a:r>
              <a:rPr lang="en-US" altLang="en-US" sz="2600" dirty="0"/>
              <a:t>Query query=</a:t>
            </a:r>
            <a:r>
              <a:rPr lang="en-US" altLang="en-US" sz="2600" dirty="0" err="1"/>
              <a:t>em.createQuery</a:t>
            </a:r>
            <a:r>
              <a:rPr lang="en-US" altLang="en-US" sz="2600" dirty="0"/>
              <a:t>("SELECT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FROM Student </a:t>
            </a:r>
            <a:r>
              <a:rPr lang="en-US" altLang="en-US" sz="2600" dirty="0" err="1"/>
              <a:t>st</a:t>
            </a:r>
            <a:r>
              <a:rPr lang="en-US" altLang="en-US" sz="2600" dirty="0"/>
              <a:t> WHERE </a:t>
            </a:r>
            <a:r>
              <a:rPr lang="en-US" altLang="en-US" sz="2600" dirty="0" err="1">
                <a:solidFill>
                  <a:srgbClr val="FF0000"/>
                </a:solidFill>
              </a:rPr>
              <a:t>st.sroll</a:t>
            </a:r>
            <a:r>
              <a:rPr lang="en-US" altLang="en-US" sz="2600" dirty="0">
                <a:solidFill>
                  <a:srgbClr val="FF0000"/>
                </a:solidFill>
              </a:rPr>
              <a:t>=(SELECT </a:t>
            </a:r>
            <a:r>
              <a:rPr lang="en-US" altLang="en-US" sz="2600" dirty="0" err="1">
                <a:solidFill>
                  <a:srgbClr val="FF0000"/>
                </a:solidFill>
              </a:rPr>
              <a:t>st.sroll</a:t>
            </a:r>
            <a:r>
              <a:rPr lang="en-US" altLang="en-US" sz="2600" dirty="0">
                <a:solidFill>
                  <a:srgbClr val="FF0000"/>
                </a:solidFill>
              </a:rPr>
              <a:t> FROM Student </a:t>
            </a:r>
            <a:r>
              <a:rPr lang="en-US" altLang="en-US" sz="2600" dirty="0" err="1">
                <a:solidFill>
                  <a:srgbClr val="FF0000"/>
                </a:solidFill>
              </a:rPr>
              <a:t>st</a:t>
            </a:r>
            <a:r>
              <a:rPr lang="en-US" altLang="en-US" sz="2600" dirty="0">
                <a:solidFill>
                  <a:srgbClr val="FF0000"/>
                </a:solidFill>
              </a:rPr>
              <a:t> WHERE </a:t>
            </a:r>
            <a:r>
              <a:rPr lang="en-US" altLang="en-US" sz="2600" dirty="0" err="1">
                <a:solidFill>
                  <a:srgbClr val="FF0000"/>
                </a:solidFill>
              </a:rPr>
              <a:t>st.sroll</a:t>
            </a:r>
            <a:r>
              <a:rPr lang="en-US" altLang="en-US" sz="2600" dirty="0">
                <a:solidFill>
                  <a:srgbClr val="FF0000"/>
                </a:solidFill>
              </a:rPr>
              <a:t>&gt;100 AND </a:t>
            </a:r>
            <a:r>
              <a:rPr lang="en-US" altLang="en-US" sz="2600" dirty="0" err="1">
                <a:solidFill>
                  <a:srgbClr val="FF0000"/>
                </a:solidFill>
              </a:rPr>
              <a:t>st.sroll</a:t>
            </a:r>
            <a:r>
              <a:rPr lang="en-US" altLang="en-US" sz="2600" dirty="0">
                <a:solidFill>
                  <a:srgbClr val="FF0000"/>
                </a:solidFill>
              </a:rPr>
              <a:t>&lt;102)");</a:t>
            </a:r>
            <a:r>
              <a:rPr lang="en-US" altLang="en-US" sz="2600" dirty="0"/>
              <a:t> </a:t>
            </a:r>
          </a:p>
          <a:p>
            <a:pPr lvl="1"/>
            <a:endParaRPr lang="en-US" altLang="en-US" sz="2600" dirty="0"/>
          </a:p>
          <a:p>
            <a:endParaRPr lang="en-US" altLang="en-US" sz="2600" dirty="0"/>
          </a:p>
          <a:p>
            <a:endParaRPr lang="en-US" altLang="en-US" sz="2600" dirty="0"/>
          </a:p>
          <a:p>
            <a:endParaRPr lang="en-US" alt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D9A5EFF-AC97-C116-D136-306B46364E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10C59AE-7AF7-0000-E679-D3E72CA7B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6106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Avg()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Query query=</a:t>
            </a:r>
            <a:r>
              <a:rPr lang="en-US" altLang="en-US" dirty="0" err="1"/>
              <a:t>em.createQuery</a:t>
            </a:r>
            <a:r>
              <a:rPr lang="en-US" altLang="en-US" dirty="0"/>
              <a:t>("SELECT p FROM Product p WHERE </a:t>
            </a:r>
            <a:r>
              <a:rPr lang="en-US" altLang="en-US" dirty="0" err="1"/>
              <a:t>p.price</a:t>
            </a:r>
            <a:r>
              <a:rPr lang="en-US" altLang="en-US" dirty="0"/>
              <a:t> &gt; (SELECT </a:t>
            </a:r>
            <a:r>
              <a:rPr lang="en-US" altLang="en-US" dirty="0">
                <a:solidFill>
                  <a:srgbClr val="FF0000"/>
                </a:solidFill>
              </a:rPr>
              <a:t>AVG</a:t>
            </a:r>
            <a:r>
              <a:rPr lang="en-US" altLang="en-US" dirty="0"/>
              <a:t>(</a:t>
            </a:r>
            <a:r>
              <a:rPr lang="en-US" altLang="en-US" dirty="0" err="1"/>
              <a:t>p.price</a:t>
            </a:r>
            <a:r>
              <a:rPr lang="en-US" altLang="en-US" dirty="0"/>
              <a:t>) FROM p)");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Sum()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Query query=</a:t>
            </a:r>
            <a:r>
              <a:rPr lang="en-US" altLang="en-US" dirty="0" err="1"/>
              <a:t>em.createQuery</a:t>
            </a:r>
            <a:r>
              <a:rPr lang="en-US" altLang="en-US" dirty="0"/>
              <a:t>("SELECT </a:t>
            </a:r>
            <a:r>
              <a:rPr lang="en-US" altLang="en-US" dirty="0">
                <a:solidFill>
                  <a:srgbClr val="FF0000"/>
                </a:solidFill>
              </a:rPr>
              <a:t>SUM</a:t>
            </a:r>
            <a:r>
              <a:rPr lang="en-US" altLang="en-US" dirty="0"/>
              <a:t>(</a:t>
            </a:r>
            <a:r>
              <a:rPr lang="en-US" altLang="en-US" dirty="0" err="1"/>
              <a:t>p.price</a:t>
            </a:r>
            <a:r>
              <a:rPr lang="en-US" altLang="en-US" dirty="0"/>
              <a:t>) FROM Product p");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Min()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Query query=</a:t>
            </a:r>
            <a:r>
              <a:rPr lang="en-US" altLang="en-US" dirty="0" err="1"/>
              <a:t>em.createQuery</a:t>
            </a:r>
            <a:r>
              <a:rPr lang="en-US" altLang="en-US" dirty="0"/>
              <a:t>("SELECT p FROM Product p WHERE </a:t>
            </a:r>
            <a:r>
              <a:rPr lang="en-US" altLang="en-US" dirty="0" err="1"/>
              <a:t>p.price</a:t>
            </a:r>
            <a:r>
              <a:rPr lang="en-US" altLang="en-US" dirty="0"/>
              <a:t>=(SELECT </a:t>
            </a:r>
            <a:r>
              <a:rPr lang="en-US" altLang="en-US" dirty="0">
                <a:solidFill>
                  <a:srgbClr val="FF0000"/>
                </a:solidFill>
              </a:rPr>
              <a:t>MIN</a:t>
            </a:r>
            <a:r>
              <a:rPr lang="en-US" altLang="en-US" dirty="0"/>
              <a:t>(</a:t>
            </a:r>
            <a:r>
              <a:rPr lang="en-US" altLang="en-US" dirty="0" err="1"/>
              <a:t>p.price</a:t>
            </a:r>
            <a:r>
              <a:rPr lang="en-US" altLang="en-US" dirty="0"/>
              <a:t>) FROM p)");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Max()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Query query=</a:t>
            </a:r>
            <a:r>
              <a:rPr lang="en-US" altLang="en-US" dirty="0" err="1"/>
              <a:t>em.createQuery</a:t>
            </a:r>
            <a:r>
              <a:rPr lang="en-US" altLang="en-US" dirty="0"/>
              <a:t>("SELECT p FROM Product p WHERE </a:t>
            </a:r>
            <a:r>
              <a:rPr lang="en-US" altLang="en-US" dirty="0" err="1"/>
              <a:t>p.price</a:t>
            </a:r>
            <a:r>
              <a:rPr lang="en-US" altLang="en-US" dirty="0"/>
              <a:t> &lt; (SELECT </a:t>
            </a:r>
            <a:r>
              <a:rPr lang="en-US" altLang="en-US" dirty="0">
                <a:solidFill>
                  <a:srgbClr val="FF0000"/>
                </a:solidFill>
              </a:rPr>
              <a:t>MAX</a:t>
            </a:r>
            <a:r>
              <a:rPr lang="en-US" altLang="en-US" dirty="0"/>
              <a:t>(</a:t>
            </a:r>
            <a:r>
              <a:rPr lang="en-US" altLang="en-US" dirty="0" err="1"/>
              <a:t>p.price</a:t>
            </a:r>
            <a:r>
              <a:rPr lang="en-US" altLang="en-US" dirty="0"/>
              <a:t>) FROM p)"); 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Count()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Query query=</a:t>
            </a:r>
            <a:r>
              <a:rPr lang="en-US" altLang="en-US" dirty="0" err="1"/>
              <a:t>em.createQuery</a:t>
            </a:r>
            <a:r>
              <a:rPr lang="en-US" altLang="en-US" dirty="0"/>
              <a:t>("SELECT COUNT(</a:t>
            </a:r>
            <a:r>
              <a:rPr lang="en-US" altLang="en-US" dirty="0" err="1"/>
              <a:t>p.itemName</a:t>
            </a:r>
            <a:r>
              <a:rPr lang="en-US" altLang="en-US" dirty="0"/>
              <a:t>) FROM Product p");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35D3BC9-4304-19F4-A314-8D1D65B87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JPQL Functions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061FBA3-61D2-55EF-0E2F-FCC6B2152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698090"/>
            <a:ext cx="8839200" cy="5486400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altLang="en-US" sz="1800" b="1" dirty="0" err="1">
                <a:hlinkClick r:id="rId2"/>
              </a:rPr>
              <a:t>Concat</a:t>
            </a:r>
            <a:r>
              <a:rPr lang="en-US" altLang="en-US" sz="1800" b="1" dirty="0">
                <a:hlinkClick r:id="rId2"/>
              </a:rPr>
              <a:t>()</a:t>
            </a:r>
            <a:endParaRPr lang="en-US" altLang="en-US" sz="1800" b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query=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("UPDATE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SET 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=CONCAT(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,' </a:t>
            </a:r>
            <a:r>
              <a:rPr lang="en-US" altLang="en-US" sz="1800" dirty="0" err="1"/>
              <a:t>kumar</a:t>
            </a:r>
            <a:r>
              <a:rPr lang="en-US" altLang="en-US" sz="1800" dirty="0"/>
              <a:t>')");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 err="1">
                <a:hlinkClick r:id="rId3"/>
              </a:rPr>
              <a:t>SubString</a:t>
            </a:r>
            <a:r>
              <a:rPr lang="en-US" altLang="en-US" sz="1800" b="1" dirty="0">
                <a:hlinkClick r:id="rId3"/>
              </a:rPr>
              <a:t>()</a:t>
            </a:r>
            <a:endParaRPr lang="en-US" altLang="en-US" sz="1800" b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query=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("UPDATE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SET 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=SUBSTRING('</a:t>
            </a:r>
            <a:r>
              <a:rPr lang="en-US" altLang="en-US" sz="1800" dirty="0" err="1"/>
              <a:t>vinod</a:t>
            </a:r>
            <a:r>
              <a:rPr lang="en-US" altLang="en-US" sz="1800" dirty="0"/>
              <a:t> kumar',1,5) WHERE 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='</a:t>
            </a:r>
            <a:r>
              <a:rPr lang="en-US" altLang="en-US" sz="1800" dirty="0" err="1"/>
              <a:t>vinod</a:t>
            </a:r>
            <a:r>
              <a:rPr lang="en-US" altLang="en-US" sz="1800" dirty="0"/>
              <a:t> </a:t>
            </a:r>
            <a:r>
              <a:rPr lang="en-US" altLang="en-US" sz="1800" dirty="0" err="1"/>
              <a:t>kumar</a:t>
            </a:r>
            <a:r>
              <a:rPr lang="en-US" altLang="en-US" sz="1800" dirty="0"/>
              <a:t>'");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>
                <a:hlinkClick r:id="rId4"/>
              </a:rPr>
              <a:t>Trim()</a:t>
            </a:r>
            <a:r>
              <a:rPr lang="en-US" altLang="en-US" sz="1800" dirty="0"/>
              <a:t>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</a:t>
            </a:r>
            <a:r>
              <a:rPr lang="en-US" altLang="en-US" sz="1800" dirty="0" err="1"/>
              <a:t>trimQuery</a:t>
            </a:r>
            <a:r>
              <a:rPr lang="en-US" altLang="en-US" sz="1800" dirty="0"/>
              <a:t>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("UPDATE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SET 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=TRIM(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)");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>
                <a:hlinkClick r:id="rId5"/>
              </a:rPr>
              <a:t>Lower()</a:t>
            </a:r>
            <a:r>
              <a:rPr lang="en-US" altLang="en-US" sz="1800" dirty="0"/>
              <a:t>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</a:t>
            </a:r>
            <a:r>
              <a:rPr lang="en-US" altLang="en-US" sz="1800" dirty="0" err="1"/>
              <a:t>trimQuery</a:t>
            </a:r>
            <a:r>
              <a:rPr lang="en-US" altLang="en-US" sz="1800" dirty="0"/>
              <a:t>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("UPDATE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SET 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=LOWER(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)");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>
                <a:hlinkClick r:id="rId6"/>
              </a:rPr>
              <a:t>Upper()</a:t>
            </a:r>
            <a:r>
              <a:rPr lang="en-US" altLang="en-US" sz="1800" dirty="0"/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 err="1">
                <a:hlinkClick r:id="rId7"/>
              </a:rPr>
              <a:t>Lenght</a:t>
            </a:r>
            <a:r>
              <a:rPr lang="en-US" altLang="en-US" sz="1800" b="1" dirty="0">
                <a:hlinkClick r:id="rId7"/>
              </a:rPr>
              <a:t>()</a:t>
            </a:r>
            <a:endParaRPr lang="en-US" altLang="en-US" sz="1800" b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query=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("SELECT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FROM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WHERE LENGTH(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)=5");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>
                <a:hlinkClick r:id="rId8"/>
              </a:rPr>
              <a:t>Locate()</a:t>
            </a:r>
            <a:r>
              <a:rPr lang="en-US" altLang="en-US" sz="1800" dirty="0"/>
              <a:t> 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sz="1800" dirty="0"/>
              <a:t>Query query=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("SELECT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FROM Student </a:t>
            </a:r>
            <a:r>
              <a:rPr lang="en-US" altLang="en-US" sz="1800" dirty="0" err="1"/>
              <a:t>st</a:t>
            </a:r>
            <a:r>
              <a:rPr lang="en-US" altLang="en-US" sz="1800" dirty="0"/>
              <a:t> WHERE LOCATE('</a:t>
            </a:r>
            <a:r>
              <a:rPr lang="en-US" altLang="en-US" sz="1800" dirty="0" err="1"/>
              <a:t>i</a:t>
            </a:r>
            <a:r>
              <a:rPr lang="en-US" altLang="en-US" sz="1800" dirty="0"/>
              <a:t>',</a:t>
            </a:r>
            <a:r>
              <a:rPr lang="en-US" altLang="en-US" sz="1800" dirty="0" err="1"/>
              <a:t>st.sname</a:t>
            </a:r>
            <a:r>
              <a:rPr lang="en-US" altLang="en-US" sz="1800" dirty="0"/>
              <a:t>)=2");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800" b="1" dirty="0">
                <a:hlinkClick r:id="rId9"/>
              </a:rPr>
              <a:t>Abs()</a:t>
            </a:r>
            <a:r>
              <a:rPr lang="en-US" altLang="en-US" sz="1800" dirty="0"/>
              <a:t> ,</a:t>
            </a:r>
            <a:r>
              <a:rPr lang="en-US" altLang="en-US" sz="1800" b="1" dirty="0">
                <a:hlinkClick r:id="rId10"/>
              </a:rPr>
              <a:t>Sqrt()</a:t>
            </a:r>
            <a:r>
              <a:rPr lang="en-US" altLang="en-US" sz="1800" b="1" dirty="0"/>
              <a:t>, </a:t>
            </a:r>
            <a:r>
              <a:rPr lang="en-US" altLang="en-US" sz="1800" b="1" dirty="0">
                <a:hlinkClick r:id="rId11"/>
              </a:rPr>
              <a:t>Mod()</a:t>
            </a:r>
            <a:r>
              <a:rPr lang="en-US" altLang="en-US" sz="1800" dirty="0"/>
              <a:t> </a:t>
            </a:r>
          </a:p>
          <a:p>
            <a:pPr marL="990600" lvl="1" indent="-533400">
              <a:lnSpc>
                <a:spcPct val="80000"/>
              </a:lnSpc>
            </a:pPr>
            <a:r>
              <a:rPr lang="en-US" altLang="en-US" sz="1800" dirty="0"/>
              <a:t>Query query=</a:t>
            </a:r>
            <a:r>
              <a:rPr lang="en-US" altLang="en-US" sz="1800" dirty="0" err="1"/>
              <a:t>em.createQuery</a:t>
            </a:r>
            <a:r>
              <a:rPr lang="en-US" altLang="en-US" sz="1800" dirty="0"/>
              <a:t>("SELECT p FROM Product p WHERE MOD(p.price,10) = 0");</a:t>
            </a:r>
            <a:br>
              <a:rPr lang="en-US" altLang="en-US" sz="1800" dirty="0"/>
            </a:br>
            <a:endParaRPr lang="en-US" altLang="en-US" sz="1800" dirty="0"/>
          </a:p>
          <a:p>
            <a:pPr marL="609600" indent="-609600">
              <a:lnSpc>
                <a:spcPct val="80000"/>
              </a:lnSpc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22BB1CC-5F46-C5C0-530D-8E606880B6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535BDB-1174-C581-629F-7D4D04057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JPA - </a:t>
            </a:r>
            <a:r>
              <a:rPr lang="en-US" err="1"/>
              <a:t>OneToMany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8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CE2B05-9A09-7456-9434-5DEA2BEF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35880"/>
            <a:ext cx="9144000" cy="588559"/>
          </a:xfrm>
        </p:spPr>
        <p:txBody>
          <a:bodyPr>
            <a:noAutofit/>
          </a:bodyPr>
          <a:lstStyle/>
          <a:p>
            <a:pPr algn="ctr"/>
            <a:r>
              <a:rPr lang="en-US" sz="3200" b="1" err="1"/>
              <a:t>OneToMany</a:t>
            </a:r>
            <a:r>
              <a:rPr lang="en-US" sz="3200" b="1"/>
              <a:t> Relationship Mapping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49F31C-E0B1-8511-90D0-7554F36AC0E5}"/>
              </a:ext>
            </a:extLst>
          </p:cNvPr>
          <p:cNvGrpSpPr/>
          <p:nvPr/>
        </p:nvGrpSpPr>
        <p:grpSpPr>
          <a:xfrm>
            <a:off x="762000" y="30441"/>
            <a:ext cx="6143327" cy="6370359"/>
            <a:chOff x="476250" y="639919"/>
            <a:chExt cx="5943600" cy="8867300"/>
          </a:xfrm>
        </p:grpSpPr>
        <p:pic>
          <p:nvPicPr>
            <p:cNvPr id="2053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AA07818B-2548-B927-A7A0-9D6CCBB706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3975" y="1424624"/>
              <a:ext cx="3629025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B36B34BE-9ABD-EDF8-106C-6E9274296B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250" y="2653349"/>
            <a:ext cx="5943600" cy="942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6000757" imgH="952630" progId="Visio.Drawing.15">
                    <p:embed/>
                  </p:oleObj>
                </mc:Choice>
                <mc:Fallback>
                  <p:oleObj name="Visio" r:id="rId3" imgW="6000757" imgH="952630" progId="Visio.Drawing.15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B36B34BE-9ABD-EDF8-106C-6E9274296B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250" y="2653349"/>
                          <a:ext cx="5943600" cy="942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0" name="Picture 6">
              <a:extLst>
                <a:ext uri="{FF2B5EF4-FFF2-40B4-BE49-F238E27FC236}">
                  <a16:creationId xmlns:a16="http://schemas.microsoft.com/office/drawing/2014/main" id="{D7B11841-7C82-2846-AFE0-0B17CF7087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50" y="4053524"/>
              <a:ext cx="4724400" cy="2095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49" name="Picture 5">
              <a:extLst>
                <a:ext uri="{FF2B5EF4-FFF2-40B4-BE49-F238E27FC236}">
                  <a16:creationId xmlns:a16="http://schemas.microsoft.com/office/drawing/2014/main" id="{A7B7D1F5-8ADE-D97F-10ED-3DA20419EA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50" y="6278244"/>
              <a:ext cx="4724400" cy="322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3C88A2E-A649-17FD-6D11-4E58680181D7}"/>
                </a:ext>
              </a:extLst>
            </p:cNvPr>
            <p:cNvCxnSpPr/>
            <p:nvPr/>
          </p:nvCxnSpPr>
          <p:spPr>
            <a:xfrm flipV="1">
              <a:off x="2714625" y="2547939"/>
              <a:ext cx="1152525" cy="322897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B018DE-5B78-727C-BEF1-0E6D0B0BB3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52625" y="6101398"/>
              <a:ext cx="885825" cy="140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D462D34D-E186-1AE1-6070-4DAB442CC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" y="639919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7ACCD5CD-9138-4E2C-24B7-D581690CA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450" y="868520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358B4C83-B3FB-4DF3-EA5D-33EB93BEE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" y="3640294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591AC115-4E91-C7AA-9203-A73D85D53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" y="3868894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1A01AB3A-0069-6ABA-D92F-3753FEC8C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" y="6192995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69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8FDB91-A201-B2D8-BE4F-B21E54B7A4E9}"/>
              </a:ext>
            </a:extLst>
          </p:cNvPr>
          <p:cNvGrpSpPr/>
          <p:nvPr/>
        </p:nvGrpSpPr>
        <p:grpSpPr>
          <a:xfrm>
            <a:off x="914400" y="838200"/>
            <a:ext cx="6400800" cy="5077672"/>
            <a:chOff x="0" y="43970"/>
            <a:chExt cx="5943600" cy="8184570"/>
          </a:xfrm>
        </p:grpSpPr>
        <p:pic>
          <p:nvPicPr>
            <p:cNvPr id="3076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98063F4-2751-7753-5569-684AEA698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" y="617041"/>
              <a:ext cx="4038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63064331-5ABE-B471-0883-ABCB3739A3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057400"/>
            <a:ext cx="5943600" cy="942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6000757" imgH="952630" progId="Visio.Drawing.15">
                    <p:embed/>
                  </p:oleObj>
                </mc:Choice>
                <mc:Fallback>
                  <p:oleObj name="Visio" r:id="rId3" imgW="6000757" imgH="952630" progId="Visio.Drawing.15">
                    <p:embed/>
                    <p:pic>
                      <p:nvPicPr>
                        <p:cNvPr id="2" name="Object 1">
                          <a:extLst>
                            <a:ext uri="{FF2B5EF4-FFF2-40B4-BE49-F238E27FC236}">
                              <a16:creationId xmlns:a16="http://schemas.microsoft.com/office/drawing/2014/main" id="{63064331-5ABE-B471-0883-ABCB3739A3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057400"/>
                          <a:ext cx="5943600" cy="942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074" name="Picture 2" descr="A computer code with black text&#10;&#10;Description automatically generated">
              <a:extLst>
                <a:ext uri="{FF2B5EF4-FFF2-40B4-BE49-F238E27FC236}">
                  <a16:creationId xmlns:a16="http://schemas.microsoft.com/office/drawing/2014/main" id="{00E8E688-6AA5-B281-16BD-4D5C553E8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457575"/>
              <a:ext cx="5562600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3" name="Picture 3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ED8A8B2E-DC34-2D29-E393-5D0BFCECA8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5841735"/>
              <a:ext cx="5305424" cy="15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B27EB76-2B0D-5480-91EB-423D1B145447}"/>
                </a:ext>
              </a:extLst>
            </p:cNvPr>
            <p:cNvCxnSpPr/>
            <p:nvPr/>
          </p:nvCxnSpPr>
          <p:spPr>
            <a:xfrm flipV="1">
              <a:off x="2605087" y="1709142"/>
              <a:ext cx="733425" cy="34290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54977E10-22A5-76DB-FEBC-96213546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3970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D62985BA-0DF7-EC23-B9C5-849562FB7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6336"/>
              <a:ext cx="703327" cy="261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633039" eaLnBrk="0" hangingPunct="0"/>
              <a:r>
                <a:rPr lang="en-US" altLang="en-US" sz="762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  </a:t>
              </a:r>
              <a:endParaRPr lang="en-US" altLang="en-US" sz="12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C61E29C2-B8CB-436B-A57E-8278CD26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4170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B9D8FDC4-1B93-F09B-A53B-87C8B2365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44346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1F1D6558-289A-9412-AE6D-76CB180B5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644671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5567322F-0BC4-6B7A-8923-5C891B726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7826824"/>
              <a:ext cx="4305035" cy="401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633039" eaLnBrk="0" hangingPunct="0"/>
              <a:r>
                <a:rPr lang="en-US" altLang="en-US" sz="831" dirty="0">
                  <a:solidFill>
                    <a:srgbClr val="646464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@OneToMany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 (cascade = </a:t>
              </a:r>
              <a:r>
                <a:rPr lang="en-US" altLang="en-US" sz="831" dirty="0" err="1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CascadeType.</a:t>
              </a:r>
              <a:r>
                <a:rPr lang="en-US" altLang="en-US" sz="831" b="1" i="1" dirty="0" err="1">
                  <a:solidFill>
                    <a:srgbClr val="0000C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MERGE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, fetch = </a:t>
              </a:r>
              <a:r>
                <a:rPr lang="en-US" altLang="en-US" sz="831" dirty="0" err="1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FetchType.</a:t>
              </a:r>
              <a:r>
                <a:rPr lang="en-US" altLang="en-US" sz="831" b="1" i="1" dirty="0" err="1">
                  <a:solidFill>
                    <a:srgbClr val="0000C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LAZY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) ???</a:t>
              </a:r>
              <a:endParaRPr lang="en-US" altLang="en-US" sz="415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  <a:cs typeface="+mn-cs"/>
              </a:endParaRPr>
            </a:p>
            <a:p>
              <a:pPr defTabSz="633039" eaLnBrk="0" hangingPunct="0"/>
              <a:r>
                <a:rPr lang="en-US" altLang="en-US" sz="831" dirty="0">
                  <a:solidFill>
                    <a:srgbClr val="646464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@JoinColumn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(name = </a:t>
              </a:r>
              <a:r>
                <a:rPr lang="en-US" altLang="en-US" sz="831" dirty="0">
                  <a:solidFill>
                    <a:srgbClr val="2A00FF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"</a:t>
              </a:r>
              <a:r>
                <a:rPr lang="en-US" altLang="en-US" sz="831" dirty="0" err="1">
                  <a:solidFill>
                    <a:srgbClr val="2A00FF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lopid</a:t>
              </a:r>
              <a:r>
                <a:rPr lang="en-US" altLang="en-US" sz="831" dirty="0">
                  <a:solidFill>
                    <a:srgbClr val="2A00FF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"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, nullable = </a:t>
              </a:r>
              <a:r>
                <a:rPr lang="en-US" altLang="en-US" sz="831" b="1" dirty="0">
                  <a:solidFill>
                    <a:srgbClr val="7F0055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false</a:t>
              </a:r>
              <a:r>
                <a:rPr lang="en-US" altLang="en-US" sz="831" dirty="0">
                  <a:solidFill>
                    <a:srgbClr val="000000"/>
                  </a:solidFill>
                  <a:highlight>
                    <a:srgbClr val="FFFF00"/>
                  </a:highlight>
                  <a:latin typeface="Calibri" panose="020F0502020204030204" pitchFamily="34" charset="0"/>
                  <a:ea typeface="Calibri" panose="020F0502020204030204" pitchFamily="34" charset="0"/>
                  <a:cs typeface="Consolas" panose="020B0609020204030204" pitchFamily="49" charset="0"/>
                </a:rPr>
                <a:t>) ???</a:t>
              </a:r>
              <a:endParaRPr lang="en-US" altLang="en-US" sz="1246" dirty="0">
                <a:solidFill>
                  <a:prstClr val="black"/>
                </a:solidFill>
                <a:highlight>
                  <a:srgbClr val="FFFF00"/>
                </a:highlight>
                <a:cs typeface="+mn-cs"/>
              </a:endParaRPr>
            </a:p>
          </p:txBody>
        </p:sp>
      </p:grpSp>
      <p:sp>
        <p:nvSpPr>
          <p:cNvPr id="8" name="Title 3">
            <a:extLst>
              <a:ext uri="{FF2B5EF4-FFF2-40B4-BE49-F238E27FC236}">
                <a16:creationId xmlns:a16="http://schemas.microsoft.com/office/drawing/2014/main" id="{28620F3A-D18F-AA97-D740-F0735D220794}"/>
              </a:ext>
            </a:extLst>
          </p:cNvPr>
          <p:cNvSpPr txBox="1">
            <a:spLocks/>
          </p:cNvSpPr>
          <p:nvPr/>
        </p:nvSpPr>
        <p:spPr>
          <a:xfrm>
            <a:off x="0" y="79627"/>
            <a:ext cx="9144000" cy="588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7477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8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3200" b="1" dirty="0" err="1"/>
              <a:t>OneToMany</a:t>
            </a:r>
            <a:r>
              <a:rPr lang="en-US" sz="3200" b="1" dirty="0"/>
              <a:t> Relationship Mapping</a:t>
            </a:r>
          </a:p>
        </p:txBody>
      </p:sp>
    </p:spTree>
    <p:extLst>
      <p:ext uri="{BB962C8B-B14F-4D97-AF65-F5344CB8AC3E}">
        <p14:creationId xmlns:p14="http://schemas.microsoft.com/office/powerpoint/2010/main" val="326109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AC9EAA1-CBB2-BB80-F517-40DC1BFDF621}"/>
              </a:ext>
            </a:extLst>
          </p:cNvPr>
          <p:cNvGrpSpPr/>
          <p:nvPr/>
        </p:nvGrpSpPr>
        <p:grpSpPr>
          <a:xfrm>
            <a:off x="1507783" y="457200"/>
            <a:ext cx="5867400" cy="5947608"/>
            <a:chOff x="-93617" y="43970"/>
            <a:chExt cx="5943600" cy="6537805"/>
          </a:xfrm>
        </p:grpSpPr>
        <p:pic>
          <p:nvPicPr>
            <p:cNvPr id="2052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DA9FBEE-0960-2D77-92F7-62FE8D5D4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" y="704850"/>
              <a:ext cx="4038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4ACBC720-D427-7BC2-0F95-DE8A018E70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08000"/>
                </p:ext>
              </p:extLst>
            </p:nvPr>
          </p:nvGraphicFramePr>
          <p:xfrm>
            <a:off x="-93617" y="2126921"/>
            <a:ext cx="5943600" cy="942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6000757" imgH="952630" progId="Visio.Drawing.15">
                    <p:embed/>
                  </p:oleObj>
                </mc:Choice>
                <mc:Fallback>
                  <p:oleObj name="Visio" r:id="rId3" imgW="6000757" imgH="952630" progId="Visio.Drawing.15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4ACBC720-D427-7BC2-0F95-DE8A018E70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3617" y="2126921"/>
                          <a:ext cx="5943600" cy="9429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0" name="Picture 1" descr="A computer code with black text&#10;&#10;Description automatically generated">
              <a:extLst>
                <a:ext uri="{FF2B5EF4-FFF2-40B4-BE49-F238E27FC236}">
                  <a16:creationId xmlns:a16="http://schemas.microsoft.com/office/drawing/2014/main" id="{B252DC10-1C12-F14C-7E11-938B902E51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276600"/>
              <a:ext cx="4505325" cy="1962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49" name="Picture 2" descr="A black text on a white background&#10;&#10;Description automatically generated">
              <a:extLst>
                <a:ext uri="{FF2B5EF4-FFF2-40B4-BE49-F238E27FC236}">
                  <a16:creationId xmlns:a16="http://schemas.microsoft.com/office/drawing/2014/main" id="{57EFCC37-FBF0-56EC-C650-D3669F963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00" y="5429250"/>
              <a:ext cx="4610100" cy="1152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2B2C61D-8CEE-C8AF-A76B-05576D0DAFEE}"/>
                </a:ext>
              </a:extLst>
            </p:cNvPr>
            <p:cNvCxnSpPr/>
            <p:nvPr/>
          </p:nvCxnSpPr>
          <p:spPr>
            <a:xfrm flipV="1">
              <a:off x="2159000" y="1825625"/>
              <a:ext cx="1095375" cy="306705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A0D34F1-3CB6-903B-BA65-F3362099E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3970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27CE4EA2-B37A-DADB-5F6D-86C442D32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6336"/>
              <a:ext cx="638495" cy="261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633039" eaLnBrk="0" hangingPunct="0"/>
              <a:r>
                <a:rPr lang="en-US" altLang="en-US" sz="762">
                  <a:solidFill>
                    <a:prstClr val="black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</a:t>
              </a:r>
              <a:endParaRPr lang="en-US" altLang="en-US" sz="1246">
                <a:solidFill>
                  <a:prstClr val="black"/>
                </a:solidFill>
                <a:cs typeface="+mn-cs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F3A5FCD0-4F59-495D-F6CF-B780AF4FC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4170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440343FE-81B8-48D4-9346-FCF80711F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44345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072871A3-AF33-9861-A139-7568A5738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463696"/>
              <a:ext cx="184760" cy="369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3305" tIns="31652" rIns="63305" bIns="31652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316520" fontAlgn="auto">
                <a:spcBef>
                  <a:spcPts val="0"/>
                </a:spcBef>
                <a:spcAft>
                  <a:spcPts val="0"/>
                </a:spcAft>
              </a:pPr>
              <a:endParaRPr lang="en-US" sz="1246">
                <a:solidFill>
                  <a:prstClr val="black"/>
                </a:solidFill>
                <a:latin typeface="Calibri" panose="020F0502020204030204"/>
                <a:cs typeface="+mn-cs"/>
              </a:endParaRPr>
            </a:p>
          </p:txBody>
        </p:sp>
      </p:grpSp>
      <p:sp>
        <p:nvSpPr>
          <p:cNvPr id="5" name="Title 3">
            <a:extLst>
              <a:ext uri="{FF2B5EF4-FFF2-40B4-BE49-F238E27FC236}">
                <a16:creationId xmlns:a16="http://schemas.microsoft.com/office/drawing/2014/main" id="{21B60BFB-9CDD-D201-8040-53D9DCD0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78"/>
            <a:ext cx="9144000" cy="588559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/>
              <a:t>OneToMany</a:t>
            </a:r>
            <a:r>
              <a:rPr lang="en-US" sz="3200" b="1" dirty="0"/>
              <a:t> Relationship Mapping</a:t>
            </a:r>
          </a:p>
        </p:txBody>
      </p:sp>
    </p:spTree>
    <p:extLst>
      <p:ext uri="{BB962C8B-B14F-4D97-AF65-F5344CB8AC3E}">
        <p14:creationId xmlns:p14="http://schemas.microsoft.com/office/powerpoint/2010/main" val="306767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35BDB-1174-C581-629F-7D4D04057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/>
              <a:t>JPA - </a:t>
            </a:r>
            <a:r>
              <a:rPr lang="en-US" sz="6000" err="1"/>
              <a:t>OneToOne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402010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38C7-9992-6C69-352B-DDAF317A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err="1"/>
              <a:t>OneToOne</a:t>
            </a:r>
            <a:r>
              <a:rPr lang="en-US" sz="4000" b="1"/>
              <a:t> Relationship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43F74-1B24-8110-E9D4-49739E72B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800"/>
              <a:t>3 </a:t>
            </a:r>
            <a:r>
              <a:rPr lang="en-US" sz="2800" err="1"/>
              <a:t>cách</a:t>
            </a:r>
            <a:r>
              <a:rPr lang="en-US" sz="2800"/>
              <a:t> </a:t>
            </a:r>
            <a:r>
              <a:rPr lang="en-US" sz="2800" err="1"/>
              <a:t>tiếp</a:t>
            </a:r>
            <a:r>
              <a:rPr lang="en-US" sz="2800"/>
              <a:t> </a:t>
            </a:r>
            <a:r>
              <a:rPr lang="en-US" sz="2800" err="1"/>
              <a:t>cận</a:t>
            </a:r>
            <a:r>
              <a:rPr lang="en-US" sz="2800"/>
              <a:t>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err="1">
                <a:solidFill>
                  <a:srgbClr val="FF0000"/>
                </a:solidFill>
              </a:rPr>
              <a:t>Dùng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 b="1" i="0">
                <a:solidFill>
                  <a:srgbClr val="FF0000"/>
                </a:solidFill>
                <a:effectLst/>
                <a:latin typeface="Raleway" panose="020B0604020202020204" pitchFamily="2" charset="0"/>
              </a:rPr>
              <a:t>Foreign Key</a:t>
            </a:r>
            <a:endParaRPr lang="en-US" sz="2800">
              <a:solidFill>
                <a:srgbClr val="FF0000"/>
              </a:solidFill>
            </a:endParaRP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err="1"/>
              <a:t>Dùng</a:t>
            </a:r>
            <a:r>
              <a:rPr lang="en-US" sz="2800"/>
              <a:t> </a:t>
            </a:r>
            <a:r>
              <a:rPr lang="en-US" sz="2800" b="1" i="0">
                <a:solidFill>
                  <a:srgbClr val="000000"/>
                </a:solidFill>
                <a:effectLst/>
                <a:latin typeface="Raleway" pitchFamily="2" charset="0"/>
              </a:rPr>
              <a:t>Shared Primary Key</a:t>
            </a:r>
            <a:endParaRPr lang="en-US" sz="2800"/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en-US" sz="2800" err="1"/>
              <a:t>Dùng</a:t>
            </a:r>
            <a:r>
              <a:rPr lang="en-US" sz="2800"/>
              <a:t> </a:t>
            </a:r>
            <a:r>
              <a:rPr lang="en-US" sz="2800" b="1" i="0">
                <a:solidFill>
                  <a:srgbClr val="000000"/>
                </a:solidFill>
                <a:effectLst/>
                <a:latin typeface="Raleway" pitchFamily="2" charset="0"/>
              </a:rPr>
              <a:t>Join Table</a:t>
            </a:r>
          </a:p>
        </p:txBody>
      </p:sp>
    </p:spTree>
    <p:extLst>
      <p:ext uri="{BB962C8B-B14F-4D97-AF65-F5344CB8AC3E}">
        <p14:creationId xmlns:p14="http://schemas.microsoft.com/office/powerpoint/2010/main" val="4052166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B37C-D976-B0CC-DB79-996DA7F4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46731"/>
            <a:ext cx="8210550" cy="464909"/>
          </a:xfrm>
        </p:spPr>
        <p:txBody>
          <a:bodyPr>
            <a:normAutofit fontScale="90000"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Dùng </a:t>
            </a:r>
            <a:r>
              <a:rPr lang="en-US" sz="2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63ACC3-9688-19FE-071C-7B26EB3A0BC9}"/>
              </a:ext>
            </a:extLst>
          </p:cNvPr>
          <p:cNvGrpSpPr/>
          <p:nvPr/>
        </p:nvGrpSpPr>
        <p:grpSpPr>
          <a:xfrm>
            <a:off x="520400" y="685800"/>
            <a:ext cx="8103200" cy="4177229"/>
            <a:chOff x="250689" y="957090"/>
            <a:chExt cx="8103200" cy="4177229"/>
          </a:xfrm>
        </p:grpSpPr>
        <p:pic>
          <p:nvPicPr>
            <p:cNvPr id="15362" name="Picture 2" descr="An ER Diagram mapping Users to Addresses via an address_id foreign key">
              <a:extLst>
                <a:ext uri="{FF2B5EF4-FFF2-40B4-BE49-F238E27FC236}">
                  <a16:creationId xmlns:a16="http://schemas.microsoft.com/office/drawing/2014/main" id="{B4D32C9E-94E0-B58D-7004-95FCD5C3AA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4126" y="957090"/>
              <a:ext cx="3771900" cy="123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A screenshot of a computer code&#10;&#10;Description automatically generated">
              <a:extLst>
                <a:ext uri="{FF2B5EF4-FFF2-40B4-BE49-F238E27FC236}">
                  <a16:creationId xmlns:a16="http://schemas.microsoft.com/office/drawing/2014/main" id="{6E8621D0-24F6-D5C2-2143-512579EEA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689" y="2667000"/>
              <a:ext cx="4239217" cy="2467319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" name="Picture 6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2036FF52-EDB0-6045-6759-8CF5DDBA7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2809895"/>
              <a:ext cx="3324689" cy="2324424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AEA92BB-442B-E2BE-085C-E5F91431D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0" y="1828800"/>
              <a:ext cx="83820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7186DCA-96E5-8D56-9808-321238D97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8053" y="1449840"/>
              <a:ext cx="993547" cy="28935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FABCF1D-ABBC-391D-9E3D-CCEDE9540E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7400" y="4495800"/>
              <a:ext cx="4953000" cy="1405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7216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B37C-D976-B0CC-DB79-996DA7F4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29" y="175253"/>
            <a:ext cx="8210550" cy="464909"/>
          </a:xfrm>
        </p:spPr>
        <p:txBody>
          <a:bodyPr>
            <a:normAutofit fontScale="90000"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Dùng Shared Primary</a:t>
            </a:r>
            <a:r>
              <a:rPr lang="en-US" sz="28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47D19A-B09D-10AC-13D5-B5FA7833E45D}"/>
              </a:ext>
            </a:extLst>
          </p:cNvPr>
          <p:cNvGrpSpPr/>
          <p:nvPr/>
        </p:nvGrpSpPr>
        <p:grpSpPr>
          <a:xfrm>
            <a:off x="609600" y="609600"/>
            <a:ext cx="6558533" cy="4131993"/>
            <a:chOff x="652196" y="611640"/>
            <a:chExt cx="6558533" cy="4131993"/>
          </a:xfrm>
        </p:grpSpPr>
        <p:pic>
          <p:nvPicPr>
            <p:cNvPr id="16386" name="Picture 2">
              <a:extLst>
                <a:ext uri="{FF2B5EF4-FFF2-40B4-BE49-F238E27FC236}">
                  <a16:creationId xmlns:a16="http://schemas.microsoft.com/office/drawing/2014/main" id="{8CD96753-8C99-5116-F5E5-F9FA43327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6988" y="611640"/>
              <a:ext cx="3686175" cy="123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7C5D2233-318A-BA0D-462F-1024BCDED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196" y="2114366"/>
              <a:ext cx="3829584" cy="262926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8" name="Picture 7" descr="A screenshot of a computer code&#10;&#10;Description automatically generated">
              <a:extLst>
                <a:ext uri="{FF2B5EF4-FFF2-40B4-BE49-F238E27FC236}">
                  <a16:creationId xmlns:a16="http://schemas.microsoft.com/office/drawing/2014/main" id="{7DFA4D58-C0BF-D3C8-F7BD-D7A4649BC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9200" y="2114366"/>
              <a:ext cx="2181529" cy="262926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8B8098C-9797-F83C-EDF2-69CB62E93A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7800" y="1076549"/>
              <a:ext cx="1600200" cy="28858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4D90DA3-92F8-2E15-0D82-655065530F94}"/>
                </a:ext>
              </a:extLst>
            </p:cNvPr>
            <p:cNvSpPr/>
            <p:nvPr/>
          </p:nvSpPr>
          <p:spPr>
            <a:xfrm>
              <a:off x="2506980" y="3985260"/>
              <a:ext cx="3749040" cy="526187"/>
            </a:xfrm>
            <a:custGeom>
              <a:avLst/>
              <a:gdLst>
                <a:gd name="connsiteX0" fmla="*/ 3749040 w 3749040"/>
                <a:gd name="connsiteY0" fmla="*/ 266700 h 526187"/>
                <a:gd name="connsiteX1" fmla="*/ 1501140 w 3749040"/>
                <a:gd name="connsiteY1" fmla="*/ 518160 h 526187"/>
                <a:gd name="connsiteX2" fmla="*/ 0 w 3749040"/>
                <a:gd name="connsiteY2" fmla="*/ 0 h 52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526187">
                  <a:moveTo>
                    <a:pt x="3749040" y="266700"/>
                  </a:moveTo>
                  <a:cubicBezTo>
                    <a:pt x="2937510" y="414655"/>
                    <a:pt x="2125980" y="562610"/>
                    <a:pt x="1501140" y="518160"/>
                  </a:cubicBezTo>
                  <a:cubicBezTo>
                    <a:pt x="876300" y="473710"/>
                    <a:pt x="438150" y="236855"/>
                    <a:pt x="0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F859AE6-2287-A92A-1191-11FB7C6F46B5}"/>
                </a:ext>
              </a:extLst>
            </p:cNvPr>
            <p:cNvSpPr/>
            <p:nvPr/>
          </p:nvSpPr>
          <p:spPr>
            <a:xfrm>
              <a:off x="914401" y="3977260"/>
              <a:ext cx="1447800" cy="14152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8B3207-6762-5B69-3905-F6994ED82707}"/>
                </a:ext>
              </a:extLst>
            </p:cNvPr>
            <p:cNvSpPr/>
            <p:nvPr/>
          </p:nvSpPr>
          <p:spPr>
            <a:xfrm>
              <a:off x="5257800" y="3820874"/>
              <a:ext cx="609600" cy="141526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446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B37C-D976-B0CC-DB79-996DA7F4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29" y="175253"/>
            <a:ext cx="8210550" cy="464909"/>
          </a:xfrm>
        </p:spPr>
        <p:txBody>
          <a:bodyPr>
            <a:normAutofit fontScale="90000"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Dùng Join Table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A43D675-8188-33EB-040B-86534679C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879" y="640162"/>
            <a:ext cx="57340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75FEE46-B63E-D8D9-6311-7022DC401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35" y="2081341"/>
            <a:ext cx="5048955" cy="30865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BF536E43-24D1-6061-0C22-D4723C91F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455" y="2381421"/>
            <a:ext cx="3296110" cy="24863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C4194E-D4EC-F145-233B-45D00A5980A5}"/>
              </a:ext>
            </a:extLst>
          </p:cNvPr>
          <p:cNvCxnSpPr/>
          <p:nvPr/>
        </p:nvCxnSpPr>
        <p:spPr>
          <a:xfrm flipV="1">
            <a:off x="2057400" y="990600"/>
            <a:ext cx="1524000" cy="2819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F62BBC-2836-6327-99A2-EE5DC6CC8DB7}"/>
              </a:ext>
            </a:extLst>
          </p:cNvPr>
          <p:cNvCxnSpPr/>
          <p:nvPr/>
        </p:nvCxnSpPr>
        <p:spPr>
          <a:xfrm flipV="1">
            <a:off x="2590800" y="1219200"/>
            <a:ext cx="1219200" cy="2895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5BC09B-BF61-54D7-D4AD-D85FA7767ACD}"/>
              </a:ext>
            </a:extLst>
          </p:cNvPr>
          <p:cNvCxnSpPr/>
          <p:nvPr/>
        </p:nvCxnSpPr>
        <p:spPr>
          <a:xfrm flipH="1" flipV="1">
            <a:off x="2057400" y="1143000"/>
            <a:ext cx="2667000" cy="2971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62F8B2-2317-D573-0059-CBA5E16CD691}"/>
              </a:ext>
            </a:extLst>
          </p:cNvPr>
          <p:cNvCxnSpPr/>
          <p:nvPr/>
        </p:nvCxnSpPr>
        <p:spPr>
          <a:xfrm flipV="1">
            <a:off x="2667000" y="1447800"/>
            <a:ext cx="1676400" cy="2971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D4EC82-F9EA-D398-3738-0276CA25706D}"/>
              </a:ext>
            </a:extLst>
          </p:cNvPr>
          <p:cNvCxnSpPr/>
          <p:nvPr/>
        </p:nvCxnSpPr>
        <p:spPr>
          <a:xfrm flipV="1">
            <a:off x="4876800" y="1143000"/>
            <a:ext cx="914400" cy="327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8101496-A47F-F5B1-70CB-49B4F4637C3A}"/>
              </a:ext>
            </a:extLst>
          </p:cNvPr>
          <p:cNvSpPr/>
          <p:nvPr/>
        </p:nvSpPr>
        <p:spPr>
          <a:xfrm>
            <a:off x="2438400" y="4267200"/>
            <a:ext cx="5334000" cy="712865"/>
          </a:xfrm>
          <a:custGeom>
            <a:avLst/>
            <a:gdLst>
              <a:gd name="connsiteX0" fmla="*/ 4714875 w 4714875"/>
              <a:gd name="connsiteY0" fmla="*/ 0 h 598565"/>
              <a:gd name="connsiteX1" fmla="*/ 1019175 w 4714875"/>
              <a:gd name="connsiteY1" fmla="*/ 581025 h 598565"/>
              <a:gd name="connsiteX2" fmla="*/ 0 w 4714875"/>
              <a:gd name="connsiteY2" fmla="*/ 390525 h 59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4875" h="598565">
                <a:moveTo>
                  <a:pt x="4714875" y="0"/>
                </a:moveTo>
                <a:cubicBezTo>
                  <a:pt x="3259931" y="257969"/>
                  <a:pt x="1804987" y="515938"/>
                  <a:pt x="1019175" y="581025"/>
                </a:cubicBezTo>
                <a:cubicBezTo>
                  <a:pt x="233363" y="646112"/>
                  <a:pt x="116681" y="518318"/>
                  <a:pt x="0" y="390525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5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Axis">
  <a:themeElements>
    <a:clrScheme name="2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2_Axi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FF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2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967</Words>
  <Application>Microsoft Office PowerPoint</Application>
  <PresentationFormat>On-screen Show (4:3)</PresentationFormat>
  <Paragraphs>104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Raleway</vt:lpstr>
      <vt:lpstr>Times New Roman</vt:lpstr>
      <vt:lpstr>Wingdings</vt:lpstr>
      <vt:lpstr>Office Theme</vt:lpstr>
      <vt:lpstr>2_Axis</vt:lpstr>
      <vt:lpstr>Visio</vt:lpstr>
      <vt:lpstr>JPA – JPQL</vt:lpstr>
      <vt:lpstr>JPA setFirstResult</vt:lpstr>
      <vt:lpstr>setMaxResult</vt:lpstr>
      <vt:lpstr>JPA setParameter ()</vt:lpstr>
      <vt:lpstr>PowerPoint Presentation</vt:lpstr>
      <vt:lpstr>executeUpdate()</vt:lpstr>
      <vt:lpstr>JPA Native Queries </vt:lpstr>
      <vt:lpstr>Khai báo NamedQueries</vt:lpstr>
      <vt:lpstr>Order, GROUP BY </vt:lpstr>
      <vt:lpstr>Aggregates</vt:lpstr>
      <vt:lpstr>JPQL Functions</vt:lpstr>
      <vt:lpstr>JPA - OneToMany</vt:lpstr>
      <vt:lpstr>OneToMany Relationship Mapping</vt:lpstr>
      <vt:lpstr>PowerPoint Presentation</vt:lpstr>
      <vt:lpstr>OneToMany Relationship Mapping</vt:lpstr>
      <vt:lpstr>JPA - OneToOne</vt:lpstr>
      <vt:lpstr>OneToOne Relationship Mapping</vt:lpstr>
      <vt:lpstr>Dùng Foreign Key</vt:lpstr>
      <vt:lpstr>Dùng Shared Primary Key</vt:lpstr>
      <vt:lpstr>Dùng Join Table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ThS.BS. Đỗ Thu Hằng</cp:lastModifiedBy>
  <cp:revision>28</cp:revision>
  <dcterms:created xsi:type="dcterms:W3CDTF">2010-12-04T07:46:01Z</dcterms:created>
  <dcterms:modified xsi:type="dcterms:W3CDTF">2025-02-02T04:22:18Z</dcterms:modified>
</cp:coreProperties>
</file>